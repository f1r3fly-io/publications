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notes, one argument. The through-line is that the unit of computation keeps expanding, and each expansion is forced by an impossibility proved one level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rings from the centre out. The return arrow — an individual is a scientist — arrives at the end of the deck, once error correction has given it a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means "of the same kind", not "the same object" — the returning scientist sits at a higher stratum, where the grading vector is a sequence of vectors, one per stratum.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49640" y="960120"/>
            <a:ext cx="3017520" cy="2807208"/>
          </a:xfrm>
          <a:prstGeom prst="rect">
            <a:avLst/>
          </a:prstGeom>
        </p:spPr>
      </p:pic>
      <p:sp>
        <p:nvSpPr>
          <p:cNvPr id="3" name="Text 0"/>
          <p:cNvSpPr/>
          <p:nvPr/>
        </p:nvSpPr>
        <p:spPr>
          <a:xfrm>
            <a:off x="566928" y="1234440"/>
            <a:ext cx="7680960" cy="658368"/>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ECOLOGY AS</a:t>
            </a:r>
            <a:endParaRPr lang="en-US" sz="4200" dirty="0"/>
          </a:p>
        </p:txBody>
      </p:sp>
      <p:sp>
        <p:nvSpPr>
          <p:cNvPr id="4" name="Text 1"/>
          <p:cNvSpPr/>
          <p:nvPr/>
        </p:nvSpPr>
        <p:spPr>
          <a:xfrm>
            <a:off x="566928" y="1847088"/>
            <a:ext cx="7680960" cy="658368"/>
          </a:xfrm>
          <a:prstGeom prst="rect">
            <a:avLst/>
          </a:prstGeom>
          <a:noFill/>
          <a:ln/>
        </p:spPr>
        <p:txBody>
          <a:bodyPr wrap="square" lIns="0" tIns="0" rIns="0" bIns="0" rtlCol="0" anchor="ctr"/>
          <a:lstStyle/>
          <a:p>
            <a:pPr indent="0" marL="0">
              <a:buNone/>
            </a:pPr>
            <a:r>
              <a:rPr lang="en-US" sz="4200" b="1" dirty="0">
                <a:solidFill>
                  <a:srgbClr val="00B0F0"/>
                </a:solidFill>
                <a:latin typeface="Arial" pitchFamily="34" charset="0"/>
                <a:ea typeface="Arial" pitchFamily="34" charset="-122"/>
                <a:cs typeface="Arial" pitchFamily="34" charset="-120"/>
              </a:rPr>
              <a:t>COGNITIVE ARCHITECTURE</a:t>
            </a:r>
            <a:endParaRPr lang="en-US" sz="4200" dirty="0"/>
          </a:p>
        </p:txBody>
      </p:sp>
      <p:sp>
        <p:nvSpPr>
          <p:cNvPr id="5" name="Shape 2"/>
          <p:cNvSpPr/>
          <p:nvPr/>
        </p:nvSpPr>
        <p:spPr>
          <a:xfrm>
            <a:off x="566928" y="2688336"/>
            <a:ext cx="2926080" cy="22860"/>
          </a:xfrm>
          <a:prstGeom prst="rect">
            <a:avLst/>
          </a:prstGeom>
          <a:solidFill>
            <a:srgbClr val="00729C"/>
          </a:solidFill>
          <a:ln w="12700">
            <a:solidFill>
              <a:srgbClr val="00729C"/>
            </a:solidFill>
            <a:prstDash val="solid"/>
          </a:ln>
        </p:spPr>
      </p:sp>
      <p:sp>
        <p:nvSpPr>
          <p:cNvPr id="6" name="Text 3"/>
          <p:cNvSpPr/>
          <p:nvPr/>
        </p:nvSpPr>
        <p:spPr>
          <a:xfrm>
            <a:off x="566928" y="2999232"/>
            <a:ext cx="7680960" cy="731520"/>
          </a:xfrm>
          <a:prstGeom prst="rect">
            <a:avLst/>
          </a:prstGeom>
          <a:noFill/>
          <a:ln/>
        </p:spPr>
        <p:txBody>
          <a:bodyPr wrap="square" lIns="0" tIns="0" rIns="0" bIns="0" rtlCol="0" anchor="t"/>
          <a:lstStyle/>
          <a:p>
            <a:pPr indent="0" marL="0">
              <a:lnSpc>
                <a:spcPct val="120000"/>
              </a:lnSpc>
              <a:buNone/>
            </a:pPr>
            <a:r>
              <a:rPr lang="en-US" sz="1400" dirty="0">
                <a:solidFill>
                  <a:srgbClr val="BFBFBF"/>
                </a:solidFill>
                <a:latin typeface="Arial" pitchFamily="34" charset="0"/>
                <a:ea typeface="Arial" pitchFamily="34" charset="-122"/>
                <a:cs typeface="Arial" pitchFamily="34" charset="-120"/>
              </a:rPr>
              <a:t>Learning as cost-accounted computation in a reflective higher-order calculus —</a:t>
            </a:r>
            <a:endParaRPr lang="en-US" sz="1400" dirty="0"/>
          </a:p>
          <a:p>
            <a:pPr indent="0" marL="0">
              <a:lnSpc>
                <a:spcPct val="120000"/>
              </a:lnSpc>
              <a:buNone/>
            </a:pPr>
            <a:r>
              <a:rPr lang="en-US" sz="1400" dirty="0">
                <a:solidFill>
                  <a:srgbClr val="BFBFBF"/>
                </a:solidFill>
                <a:latin typeface="Arial" pitchFamily="34" charset="0"/>
                <a:ea typeface="Arial" pitchFamily="34" charset="-122"/>
                <a:cs typeface="Arial" pitchFamily="34" charset="-120"/>
              </a:rPr>
              <a:t>and what happens to the unit of computation when a single learner is not enough.</a:t>
            </a:r>
            <a:endParaRPr lang="en-US" sz="1400" dirty="0"/>
          </a:p>
        </p:txBody>
      </p:sp>
      <p:sp>
        <p:nvSpPr>
          <p:cNvPr id="7" name="Text 4"/>
          <p:cNvSpPr/>
          <p:nvPr/>
        </p:nvSpPr>
        <p:spPr>
          <a:xfrm>
            <a:off x="566928" y="3950208"/>
            <a:ext cx="7680960" cy="292608"/>
          </a:xfrm>
          <a:prstGeom prst="rect">
            <a:avLst/>
          </a:prstGeom>
          <a:noFill/>
          <a:ln/>
        </p:spPr>
        <p:txBody>
          <a:bodyPr wrap="square" lIns="0" tIns="0" rIns="0" bIns="0" rtlCol="0" anchor="ctr"/>
          <a:lstStyle/>
          <a:p>
            <a:pPr indent="0" marL="0">
              <a:buNone/>
            </a:pPr>
            <a:r>
              <a:rPr lang="en-US" sz="1200" dirty="0">
                <a:solidFill>
                  <a:srgbClr val="F7E478"/>
                </a:solidFill>
                <a:latin typeface="Arial" pitchFamily="34" charset="0"/>
                <a:ea typeface="Arial" pitchFamily="34" charset="-122"/>
                <a:cs typeface="Arial" pitchFamily="34" charset="-120"/>
              </a:rPr>
              <a:t>The mortal scientist  ·  learning to play  ·  composing learners  ·  engines and individuals</a:t>
            </a:r>
            <a:endParaRPr lang="en-US" sz="1200" dirty="0"/>
          </a:p>
        </p:txBody>
      </p:sp>
      <p:sp>
        <p:nvSpPr>
          <p:cNvPr id="8" name="Text 5"/>
          <p:cNvSpPr/>
          <p:nvPr/>
        </p:nvSpPr>
        <p:spPr>
          <a:xfrm>
            <a:off x="566928" y="5074920"/>
            <a:ext cx="8229600" cy="274320"/>
          </a:xfrm>
          <a:prstGeom prst="rect">
            <a:avLst/>
          </a:prstGeom>
          <a:noFill/>
          <a:ln/>
        </p:spPr>
        <p:txBody>
          <a:bodyPr wrap="square" lIns="0" tIns="0" rIns="0" bIns="0" rtlCol="0" anchor="ctr"/>
          <a:lstStyle/>
          <a:p>
            <a:pPr indent="0" marL="0">
              <a:buNone/>
            </a:pPr>
            <a:r>
              <a:rPr lang="en-US" sz="1050" spc="60" kern="0" dirty="0">
                <a:solidFill>
                  <a:srgbClr val="8C8C8C"/>
                </a:solidFill>
                <a:latin typeface="Arial" pitchFamily="34" charset="0"/>
                <a:ea typeface="Arial" pitchFamily="34" charset="-122"/>
                <a:cs typeface="Arial" pitchFamily="34" charset="-120"/>
              </a:rPr>
              <a:t>Lucius Gregory Meredith   |   CEO, F1R3FLY.IO  ·  CHIEF SCIENCE OFFICER, F1R3FLY INDUSTRIES</a:t>
            </a:r>
            <a:endParaRPr lang="en-US" sz="1050" dirty="0"/>
          </a:p>
        </p:txBody>
      </p:sp>
      <p:pic>
        <p:nvPicPr>
          <p:cNvPr id="9" name="Image 1" descr="preencoded.png">    </p:cNvPr>
          <p:cNvPicPr>
            <a:picLocks noChangeAspect="1"/>
          </p:cNvPicPr>
          <p:nvPr/>
        </p:nvPicPr>
        <p:blipFill>
          <a:blip r:embed="rId2"/>
          <a:stretch>
            <a:fillRect/>
          </a:stretch>
        </p:blipFill>
        <p:spPr>
          <a:xfrm>
            <a:off x="566928" y="6281928"/>
            <a:ext cx="791870" cy="182880"/>
          </a:xfrm>
          <a:prstGeom prst="rect">
            <a:avLst/>
          </a:prstGeom>
        </p:spPr>
      </p:pic>
      <p:sp>
        <p:nvSpPr>
          <p:cNvPr id="10" name="Text 6"/>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SUMMARY DECK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SPINE</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THE UNIT OF COMPUTATION KEEPS MOVING</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Four notes, four units. At each level a result says the unit cannot get where it needs to go, and the operator that escapes is supplied only by the level above.</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Same sort, same rewrite rule, one conservation law. The unit expands; the calculus does not.</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SPINE</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1399032" y="2249424"/>
            <a:ext cx="3328416" cy="3328416"/>
          </a:xfrm>
          <a:prstGeom prst="ellipse">
            <a:avLst/>
          </a:prstGeom>
          <a:solidFill>
            <a:srgbClr val="0A0A0A"/>
          </a:solidFill>
          <a:ln w="11430">
            <a:solidFill>
              <a:srgbClr val="00729C"/>
            </a:solidFill>
            <a:prstDash val="dash"/>
          </a:ln>
        </p:spPr>
      </p:sp>
      <p:sp>
        <p:nvSpPr>
          <p:cNvPr id="10" name="Shape 7"/>
          <p:cNvSpPr/>
          <p:nvPr/>
        </p:nvSpPr>
        <p:spPr>
          <a:xfrm>
            <a:off x="1801368" y="2651760"/>
            <a:ext cx="2523744" cy="2523744"/>
          </a:xfrm>
          <a:prstGeom prst="ellipse">
            <a:avLst/>
          </a:prstGeom>
          <a:solidFill>
            <a:srgbClr val="101010"/>
          </a:solidFill>
          <a:ln w="11430">
            <a:solidFill>
              <a:srgbClr val="00729C"/>
            </a:solidFill>
            <a:prstDash val="dash"/>
          </a:ln>
        </p:spPr>
      </p:sp>
      <p:sp>
        <p:nvSpPr>
          <p:cNvPr id="11" name="Shape 8"/>
          <p:cNvSpPr/>
          <p:nvPr/>
        </p:nvSpPr>
        <p:spPr>
          <a:xfrm>
            <a:off x="2203704" y="3054096"/>
            <a:ext cx="1719072" cy="1719072"/>
          </a:xfrm>
          <a:prstGeom prst="ellipse">
            <a:avLst/>
          </a:prstGeom>
          <a:solidFill>
            <a:srgbClr val="151515"/>
          </a:solidFill>
          <a:ln w="11430">
            <a:solidFill>
              <a:srgbClr val="00729C"/>
            </a:solidFill>
            <a:prstDash val="dash"/>
          </a:ln>
        </p:spPr>
      </p:sp>
      <p:sp>
        <p:nvSpPr>
          <p:cNvPr id="12" name="Shape 9"/>
          <p:cNvSpPr/>
          <p:nvPr/>
        </p:nvSpPr>
        <p:spPr>
          <a:xfrm>
            <a:off x="2606040" y="3456432"/>
            <a:ext cx="914400" cy="914400"/>
          </a:xfrm>
          <a:prstGeom prst="ellipse">
            <a:avLst/>
          </a:prstGeom>
          <a:solidFill>
            <a:srgbClr val="11242C"/>
          </a:solidFill>
          <a:ln w="11430">
            <a:solidFill>
              <a:srgbClr val="00B0F0"/>
            </a:solidFill>
            <a:prstDash val="dash"/>
          </a:ln>
        </p:spPr>
      </p:sp>
      <p:sp>
        <p:nvSpPr>
          <p:cNvPr id="13" name="Text 10"/>
          <p:cNvSpPr/>
          <p:nvPr/>
        </p:nvSpPr>
        <p:spPr>
          <a:xfrm>
            <a:off x="1783080" y="2432304"/>
            <a:ext cx="2560320"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Individual</a:t>
            </a:r>
            <a:endParaRPr lang="en-US" sz="1150" dirty="0"/>
          </a:p>
        </p:txBody>
      </p:sp>
      <p:sp>
        <p:nvSpPr>
          <p:cNvPr id="14" name="Text 11"/>
          <p:cNvSpPr/>
          <p:nvPr/>
        </p:nvSpPr>
        <p:spPr>
          <a:xfrm>
            <a:off x="1783080" y="2834640"/>
            <a:ext cx="2560320"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Learner</a:t>
            </a:r>
            <a:endParaRPr lang="en-US" sz="1150" dirty="0"/>
          </a:p>
        </p:txBody>
      </p:sp>
      <p:sp>
        <p:nvSpPr>
          <p:cNvPr id="15" name="Text 12"/>
          <p:cNvSpPr/>
          <p:nvPr/>
        </p:nvSpPr>
        <p:spPr>
          <a:xfrm>
            <a:off x="1783080" y="3236976"/>
            <a:ext cx="2560320"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Lineage</a:t>
            </a:r>
            <a:endParaRPr lang="en-US" sz="1150" dirty="0"/>
          </a:p>
        </p:txBody>
      </p:sp>
      <p:sp>
        <p:nvSpPr>
          <p:cNvPr id="16" name="Text 13"/>
          <p:cNvSpPr/>
          <p:nvPr/>
        </p:nvSpPr>
        <p:spPr>
          <a:xfrm>
            <a:off x="1783080" y="3785616"/>
            <a:ext cx="2560320" cy="256032"/>
          </a:xfrm>
          <a:prstGeom prst="rect">
            <a:avLst/>
          </a:prstGeom>
          <a:noFill/>
          <a:ln/>
        </p:spPr>
        <p:txBody>
          <a:bodyPr wrap="square" lIns="0" tIns="0" rIns="0" bIns="0" rtlCol="0" anchor="ctr"/>
          <a:lstStyle/>
          <a:p>
            <a:pPr algn="ctr" indent="0" marL="0">
              <a:buNone/>
            </a:pPr>
            <a:r>
              <a:rPr lang="en-US" sz="1150" b="1" dirty="0">
                <a:solidFill>
                  <a:srgbClr val="00B0F0"/>
                </a:solidFill>
                <a:latin typeface="Arial" pitchFamily="34" charset="0"/>
                <a:ea typeface="Arial" pitchFamily="34" charset="-122"/>
                <a:cs typeface="Arial" pitchFamily="34" charset="-120"/>
              </a:rPr>
              <a:t>Scientist</a:t>
            </a:r>
            <a:endParaRPr lang="en-US" sz="1150" dirty="0"/>
          </a:p>
        </p:txBody>
      </p:sp>
      <p:sp>
        <p:nvSpPr>
          <p:cNvPr id="17" name="Shape 14"/>
          <p:cNvSpPr/>
          <p:nvPr/>
        </p:nvSpPr>
        <p:spPr>
          <a:xfrm>
            <a:off x="5577840" y="1965960"/>
            <a:ext cx="6046927" cy="3584448"/>
          </a:xfrm>
          <a:prstGeom prst="rect">
            <a:avLst/>
          </a:prstGeom>
          <a:solidFill>
            <a:srgbClr val="0B0B0B"/>
          </a:solidFill>
          <a:ln w="9525">
            <a:solidFill>
              <a:srgbClr val="00729C"/>
            </a:solidFill>
            <a:prstDash val="solid"/>
          </a:ln>
        </p:spPr>
      </p:sp>
      <p:sp>
        <p:nvSpPr>
          <p:cNvPr id="18" name="Text 15"/>
          <p:cNvSpPr/>
          <p:nvPr/>
        </p:nvSpPr>
        <p:spPr>
          <a:xfrm>
            <a:off x="5833872" y="2121408"/>
            <a:ext cx="5534863" cy="237744"/>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EACH LEVEL IS CONFINED BY A RESULT PROVED AT THAT LEVEL</a:t>
            </a:r>
            <a:endParaRPr lang="en-US" sz="950" dirty="0"/>
          </a:p>
        </p:txBody>
      </p:sp>
      <p:sp>
        <p:nvSpPr>
          <p:cNvPr id="19" name="Text 16"/>
          <p:cNvSpPr/>
          <p:nvPr/>
        </p:nvSpPr>
        <p:spPr>
          <a:xfrm>
            <a:off x="5833872" y="2578608"/>
            <a:ext cx="187452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Mortal scientist</a:t>
            </a:r>
            <a:endParaRPr lang="en-US" sz="1200" dirty="0"/>
          </a:p>
        </p:txBody>
      </p:sp>
      <p:sp>
        <p:nvSpPr>
          <p:cNvPr id="20" name="Text 17"/>
          <p:cNvSpPr/>
          <p:nvPr/>
        </p:nvSpPr>
        <p:spPr>
          <a:xfrm>
            <a:off x="7754112" y="2578608"/>
            <a:ext cx="1783080" cy="274320"/>
          </a:xfrm>
          <a:prstGeom prst="rect">
            <a:avLst/>
          </a:prstGeom>
          <a:noFill/>
          <a:ln/>
        </p:spPr>
        <p:txBody>
          <a:bodyPr wrap="square" lIns="0" tIns="0" rIns="0" bIns="0" rtlCol="0" anchor="t"/>
          <a:lstStyle/>
          <a:p>
            <a:pPr indent="0" marL="0">
              <a:buNone/>
            </a:pPr>
            <a:r>
              <a:rPr lang="en-US" sz="1050" dirty="0">
                <a:solidFill>
                  <a:srgbClr val="00B0F0"/>
                </a:solidFill>
                <a:latin typeface="Arial" pitchFamily="34" charset="0"/>
                <a:ea typeface="Arial" pitchFamily="34" charset="-122"/>
                <a:cs typeface="Arial" pitchFamily="34" charset="-120"/>
              </a:rPr>
              <a:t>confined below 2⁻ⁿ</a:t>
            </a:r>
            <a:endParaRPr lang="en-US" sz="1050" dirty="0"/>
          </a:p>
        </p:txBody>
      </p:sp>
      <p:sp>
        <p:nvSpPr>
          <p:cNvPr id="21" name="Text 18"/>
          <p:cNvSpPr/>
          <p:nvPr/>
        </p:nvSpPr>
        <p:spPr>
          <a:xfrm>
            <a:off x="9564624" y="2578608"/>
            <a:ext cx="1804111" cy="274320"/>
          </a:xfrm>
          <a:prstGeom prst="rect">
            <a:avLst/>
          </a:prstGeom>
          <a:noFill/>
          <a:ln/>
        </p:spPr>
        <p:txBody>
          <a:bodyPr wrap="square" lIns="0" tIns="0" rIns="0" bIns="0" rtlCol="0" anchor="t"/>
          <a:lstStyle/>
          <a:p>
            <a:pPr indent="0" marL="0">
              <a:buNone/>
            </a:pPr>
            <a:r>
              <a:rPr lang="en-US" sz="1050" dirty="0">
                <a:solidFill>
                  <a:srgbClr val="BFBFBF"/>
                </a:solidFill>
                <a:latin typeface="Arial" pitchFamily="34" charset="0"/>
                <a:ea typeface="Arial" pitchFamily="34" charset="-122"/>
                <a:cs typeface="Arial" pitchFamily="34" charset="-120"/>
              </a:rPr>
              <a:t>escapes by crossover</a:t>
            </a:r>
            <a:endParaRPr lang="en-US" sz="1050" dirty="0"/>
          </a:p>
        </p:txBody>
      </p:sp>
      <p:sp>
        <p:nvSpPr>
          <p:cNvPr id="22" name="Text 19"/>
          <p:cNvSpPr/>
          <p:nvPr/>
        </p:nvSpPr>
        <p:spPr>
          <a:xfrm>
            <a:off x="5833872" y="3328416"/>
            <a:ext cx="187452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Lineage</a:t>
            </a:r>
            <a:endParaRPr lang="en-US" sz="1200" dirty="0"/>
          </a:p>
        </p:txBody>
      </p:sp>
      <p:sp>
        <p:nvSpPr>
          <p:cNvPr id="23" name="Text 20"/>
          <p:cNvSpPr/>
          <p:nvPr/>
        </p:nvSpPr>
        <p:spPr>
          <a:xfrm>
            <a:off x="7754112" y="3328416"/>
            <a:ext cx="1783080" cy="274320"/>
          </a:xfrm>
          <a:prstGeom prst="rect">
            <a:avLst/>
          </a:prstGeom>
          <a:noFill/>
          <a:ln/>
        </p:spPr>
        <p:txBody>
          <a:bodyPr wrap="square" lIns="0" tIns="0" rIns="0" bIns="0" rtlCol="0" anchor="t"/>
          <a:lstStyle/>
          <a:p>
            <a:pPr indent="0" marL="0">
              <a:buNone/>
            </a:pPr>
            <a:r>
              <a:rPr lang="en-US" sz="1050" dirty="0">
                <a:solidFill>
                  <a:srgbClr val="00B0F0"/>
                </a:solidFill>
                <a:latin typeface="Arial" pitchFamily="34" charset="0"/>
                <a:ea typeface="Arial" pitchFamily="34" charset="-122"/>
                <a:cs typeface="Arial" pitchFamily="34" charset="-120"/>
              </a:rPr>
              <a:t>one root only</a:t>
            </a:r>
            <a:endParaRPr lang="en-US" sz="1050" dirty="0"/>
          </a:p>
        </p:txBody>
      </p:sp>
      <p:sp>
        <p:nvSpPr>
          <p:cNvPr id="24" name="Text 21"/>
          <p:cNvSpPr/>
          <p:nvPr/>
        </p:nvSpPr>
        <p:spPr>
          <a:xfrm>
            <a:off x="9564624" y="3328416"/>
            <a:ext cx="1804111" cy="274320"/>
          </a:xfrm>
          <a:prstGeom prst="rect">
            <a:avLst/>
          </a:prstGeom>
          <a:noFill/>
          <a:ln/>
        </p:spPr>
        <p:txBody>
          <a:bodyPr wrap="square" lIns="0" tIns="0" rIns="0" bIns="0" rtlCol="0" anchor="t"/>
          <a:lstStyle/>
          <a:p>
            <a:pPr indent="0" marL="0">
              <a:buNone/>
            </a:pPr>
            <a:r>
              <a:rPr lang="en-US" sz="1050" dirty="0">
                <a:solidFill>
                  <a:srgbClr val="BFBFBF"/>
                </a:solidFill>
                <a:latin typeface="Arial" pitchFamily="34" charset="0"/>
                <a:ea typeface="Arial" pitchFamily="34" charset="-122"/>
                <a:cs typeface="Arial" pitchFamily="34" charset="-120"/>
              </a:rPr>
              <a:t>escapes by parallel composition</a:t>
            </a:r>
            <a:endParaRPr lang="en-US" sz="1050" dirty="0"/>
          </a:p>
        </p:txBody>
      </p:sp>
      <p:sp>
        <p:nvSpPr>
          <p:cNvPr id="25" name="Text 22"/>
          <p:cNvSpPr/>
          <p:nvPr/>
        </p:nvSpPr>
        <p:spPr>
          <a:xfrm>
            <a:off x="5833872" y="4078224"/>
            <a:ext cx="187452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Learner</a:t>
            </a:r>
            <a:endParaRPr lang="en-US" sz="1200" dirty="0"/>
          </a:p>
        </p:txBody>
      </p:sp>
      <p:sp>
        <p:nvSpPr>
          <p:cNvPr id="26" name="Text 23"/>
          <p:cNvSpPr/>
          <p:nvPr/>
        </p:nvSpPr>
        <p:spPr>
          <a:xfrm>
            <a:off x="7754112" y="4078224"/>
            <a:ext cx="1783080" cy="274320"/>
          </a:xfrm>
          <a:prstGeom prst="rect">
            <a:avLst/>
          </a:prstGeom>
          <a:noFill/>
          <a:ln/>
        </p:spPr>
        <p:txBody>
          <a:bodyPr wrap="square" lIns="0" tIns="0" rIns="0" bIns="0" rtlCol="0" anchor="t"/>
          <a:lstStyle/>
          <a:p>
            <a:pPr indent="0" marL="0">
              <a:buNone/>
            </a:pPr>
            <a:r>
              <a:rPr lang="en-US" sz="1050" dirty="0">
                <a:solidFill>
                  <a:srgbClr val="00B0F0"/>
                </a:solidFill>
                <a:latin typeface="Arial" pitchFamily="34" charset="0"/>
                <a:ea typeface="Arial" pitchFamily="34" charset="-122"/>
                <a:cs typeface="Arial" pitchFamily="34" charset="-120"/>
              </a:rPr>
              <a:t>no scale structure</a:t>
            </a:r>
            <a:endParaRPr lang="en-US" sz="1050" dirty="0"/>
          </a:p>
        </p:txBody>
      </p:sp>
      <p:sp>
        <p:nvSpPr>
          <p:cNvPr id="27" name="Text 24"/>
          <p:cNvSpPr/>
          <p:nvPr/>
        </p:nvSpPr>
        <p:spPr>
          <a:xfrm>
            <a:off x="9564624" y="4078224"/>
            <a:ext cx="1804111" cy="274320"/>
          </a:xfrm>
          <a:prstGeom prst="rect">
            <a:avLst/>
          </a:prstGeom>
          <a:noFill/>
          <a:ln/>
        </p:spPr>
        <p:txBody>
          <a:bodyPr wrap="square" lIns="0" tIns="0" rIns="0" bIns="0" rtlCol="0" anchor="t"/>
          <a:lstStyle/>
          <a:p>
            <a:pPr indent="0" marL="0">
              <a:buNone/>
            </a:pPr>
            <a:r>
              <a:rPr lang="en-US" sz="1050" dirty="0">
                <a:solidFill>
                  <a:srgbClr val="BFBFBF"/>
                </a:solidFill>
                <a:latin typeface="Arial" pitchFamily="34" charset="0"/>
                <a:ea typeface="Arial" pitchFamily="34" charset="-122"/>
                <a:cs typeface="Arial" pitchFamily="34" charset="-120"/>
              </a:rPr>
              <a:t>escapes by engines, then merger</a:t>
            </a:r>
            <a:endParaRPr lang="en-US" sz="1050" dirty="0"/>
          </a:p>
        </p:txBody>
      </p:sp>
      <p:sp>
        <p:nvSpPr>
          <p:cNvPr id="28" name="Text 25"/>
          <p:cNvSpPr/>
          <p:nvPr/>
        </p:nvSpPr>
        <p:spPr>
          <a:xfrm>
            <a:off x="5833872" y="4828032"/>
            <a:ext cx="187452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Individual</a:t>
            </a:r>
            <a:endParaRPr lang="en-US" sz="1200" dirty="0"/>
          </a:p>
        </p:txBody>
      </p:sp>
      <p:sp>
        <p:nvSpPr>
          <p:cNvPr id="29" name="Text 26"/>
          <p:cNvSpPr/>
          <p:nvPr/>
        </p:nvSpPr>
        <p:spPr>
          <a:xfrm>
            <a:off x="7754112" y="4828032"/>
            <a:ext cx="1783080" cy="274320"/>
          </a:xfrm>
          <a:prstGeom prst="rect">
            <a:avLst/>
          </a:prstGeom>
          <a:noFill/>
          <a:ln/>
        </p:spPr>
        <p:txBody>
          <a:bodyPr wrap="square" lIns="0" tIns="0" rIns="0" bIns="0" rtlCol="0" anchor="t"/>
          <a:lstStyle/>
          <a:p>
            <a:pPr indent="0" marL="0">
              <a:buNone/>
            </a:pPr>
            <a:r>
              <a:rPr lang="en-US" sz="1050" dirty="0">
                <a:solidFill>
                  <a:srgbClr val="00B0F0"/>
                </a:solidFill>
                <a:latin typeface="Arial" pitchFamily="34" charset="0"/>
                <a:ea typeface="Arial" pitchFamily="34" charset="-122"/>
                <a:cs typeface="Arial" pitchFamily="34" charset="-120"/>
              </a:rPr>
              <a:t>bounded by r*</a:t>
            </a:r>
            <a:endParaRPr lang="en-US" sz="1050" dirty="0"/>
          </a:p>
        </p:txBody>
      </p:sp>
      <p:sp>
        <p:nvSpPr>
          <p:cNvPr id="30" name="Text 27"/>
          <p:cNvSpPr/>
          <p:nvPr/>
        </p:nvSpPr>
        <p:spPr>
          <a:xfrm>
            <a:off x="9564624" y="4828032"/>
            <a:ext cx="1804111" cy="274320"/>
          </a:xfrm>
          <a:prstGeom prst="rect">
            <a:avLst/>
          </a:prstGeom>
          <a:noFill/>
          <a:ln/>
        </p:spPr>
        <p:txBody>
          <a:bodyPr wrap="square" lIns="0" tIns="0" rIns="0" bIns="0" rtlCol="0" anchor="t"/>
          <a:lstStyle/>
          <a:p>
            <a:pPr indent="0" marL="0">
              <a:buNone/>
            </a:pPr>
            <a:r>
              <a:rPr lang="en-US" sz="1050" dirty="0">
                <a:solidFill>
                  <a:srgbClr val="BFBFBF"/>
                </a:solidFill>
                <a:latin typeface="Arial" pitchFamily="34" charset="0"/>
                <a:ea typeface="Arial" pitchFamily="34" charset="-122"/>
                <a:cs typeface="Arial" pitchFamily="34" charset="-120"/>
              </a:rPr>
              <a:t>escapes by becoming a scientist</a:t>
            </a:r>
            <a:endParaRPr lang="en-US" sz="1050" dirty="0"/>
          </a:p>
        </p:txBody>
      </p:sp>
      <p:sp>
        <p:nvSpPr>
          <p:cNvPr id="31" name="Text 28"/>
          <p:cNvSpPr/>
          <p:nvPr/>
        </p:nvSpPr>
        <p:spPr>
          <a:xfrm>
            <a:off x="5833872" y="4956048"/>
            <a:ext cx="5534863" cy="457200"/>
          </a:xfrm>
          <a:prstGeom prst="rect">
            <a:avLst/>
          </a:prstGeom>
          <a:noFill/>
          <a:ln/>
        </p:spPr>
        <p:txBody>
          <a:bodyPr wrap="square" lIns="0" tIns="0" rIns="0" bIns="0" rtlCol="0" anchor="t"/>
          <a:lstStyle/>
          <a:p>
            <a:pPr indent="0" marL="0">
              <a:lnSpc>
                <a:spcPct val="114000"/>
              </a:lnSpc>
              <a:buNone/>
            </a:pPr>
            <a:r>
              <a:rPr lang="en-US" sz="1050" i="1" dirty="0">
                <a:solidFill>
                  <a:srgbClr val="8C8C8C"/>
                </a:solidFill>
                <a:latin typeface="Arial" pitchFamily="34" charset="0"/>
                <a:ea typeface="Arial" pitchFamily="34" charset="-122"/>
                <a:cs typeface="Arial" pitchFamily="34" charset="-120"/>
              </a:rPr>
              <a:t>The rings are dashed on purpose. Perfect closure is death: a computation that cannot be reached cannot harvest and cannot assay.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PROBLEM</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WHAT DOES IT TAKE FOR A COMPUTATION TO DO SCIENCE?</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Not fitting a function to a supplied dataset. There is no dataset — the learner must go and get its observations, getting them costs, and getting them changes the source.</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Three of the four answers turn out not to be choices. The first note is largely the discovery that we had none left.</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1920240"/>
            <a:ext cx="2641016" cy="3566160"/>
          </a:xfrm>
          <a:prstGeom prst="rect">
            <a:avLst/>
          </a:prstGeom>
          <a:solidFill>
            <a:srgbClr val="0B0B0B"/>
          </a:solidFill>
          <a:ln w="9525">
            <a:solidFill>
              <a:srgbClr val="00729C"/>
            </a:solidFill>
            <a:prstDash val="solid"/>
          </a:ln>
        </p:spPr>
      </p:sp>
      <p:sp>
        <p:nvSpPr>
          <p:cNvPr id="10" name="Text 7"/>
          <p:cNvSpPr/>
          <p:nvPr/>
        </p:nvSpPr>
        <p:spPr>
          <a:xfrm>
            <a:off x="786384" y="2066544"/>
            <a:ext cx="2202104"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R1</a:t>
            </a:r>
            <a:endParaRPr lang="en-US" sz="2600" dirty="0"/>
          </a:p>
        </p:txBody>
      </p:sp>
      <p:sp>
        <p:nvSpPr>
          <p:cNvPr id="11" name="Text 8"/>
          <p:cNvSpPr/>
          <p:nvPr/>
        </p:nvSpPr>
        <p:spPr>
          <a:xfrm>
            <a:off x="786384" y="2578608"/>
            <a:ext cx="2202104" cy="402336"/>
          </a:xfrm>
          <a:prstGeom prst="rect">
            <a:avLst/>
          </a:prstGeom>
          <a:noFill/>
          <a:ln/>
        </p:spPr>
        <p:txBody>
          <a:bodyPr wrap="square" lIns="0" tIns="0" rIns="0" bIns="0" rtlCol="0" anchor="t"/>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An environment</a:t>
            </a:r>
            <a:endParaRPr lang="en-US" sz="1300" dirty="0"/>
          </a:p>
        </p:txBody>
      </p:sp>
      <p:sp>
        <p:nvSpPr>
          <p:cNvPr id="12" name="Text 9"/>
          <p:cNvSpPr/>
          <p:nvPr/>
        </p:nvSpPr>
        <p:spPr>
          <a:xfrm>
            <a:off x="786384" y="3090672"/>
            <a:ext cx="2202104" cy="22311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…and a ceiling on what can be known of it. Without a ceiling there is no saying whether a learner is doing well.</a:t>
            </a:r>
            <a:endParaRPr lang="en-US" sz="1050" dirty="0"/>
          </a:p>
        </p:txBody>
      </p:sp>
      <p:sp>
        <p:nvSpPr>
          <p:cNvPr id="13" name="Shape 10"/>
          <p:cNvSpPr/>
          <p:nvPr/>
        </p:nvSpPr>
        <p:spPr>
          <a:xfrm>
            <a:off x="3372536" y="1920240"/>
            <a:ext cx="2641016" cy="3566160"/>
          </a:xfrm>
          <a:prstGeom prst="rect">
            <a:avLst/>
          </a:prstGeom>
          <a:solidFill>
            <a:srgbClr val="0B0B0B"/>
          </a:solidFill>
          <a:ln w="9525">
            <a:solidFill>
              <a:srgbClr val="00729C"/>
            </a:solidFill>
            <a:prstDash val="solid"/>
          </a:ln>
        </p:spPr>
      </p:sp>
      <p:sp>
        <p:nvSpPr>
          <p:cNvPr id="14" name="Text 11"/>
          <p:cNvSpPr/>
          <p:nvPr/>
        </p:nvSpPr>
        <p:spPr>
          <a:xfrm>
            <a:off x="3591992" y="2066544"/>
            <a:ext cx="2202104"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R2</a:t>
            </a:r>
            <a:endParaRPr lang="en-US" sz="2600" dirty="0"/>
          </a:p>
        </p:txBody>
      </p:sp>
      <p:sp>
        <p:nvSpPr>
          <p:cNvPr id="15" name="Text 12"/>
          <p:cNvSpPr/>
          <p:nvPr/>
        </p:nvSpPr>
        <p:spPr>
          <a:xfrm>
            <a:off x="3591992" y="2578608"/>
            <a:ext cx="2202104" cy="402336"/>
          </a:xfrm>
          <a:prstGeom prst="rect">
            <a:avLst/>
          </a:prstGeom>
          <a:noFill/>
          <a:ln/>
        </p:spPr>
        <p:txBody>
          <a:bodyPr wrap="square" lIns="0" tIns="0" rIns="0" bIns="0" rtlCol="0" anchor="t"/>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A hypothesis language</a:t>
            </a:r>
            <a:endParaRPr lang="en-US" sz="1300" dirty="0"/>
          </a:p>
        </p:txBody>
      </p:sp>
      <p:sp>
        <p:nvSpPr>
          <p:cNvPr id="16" name="Text 13"/>
          <p:cNvSpPr/>
          <p:nvPr/>
        </p:nvSpPr>
        <p:spPr>
          <a:xfrm>
            <a:off x="3591992" y="3090672"/>
            <a:ext cx="2202104" cy="22311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Fine enough to express every distinction the learner could observe, and no finer.</a:t>
            </a:r>
            <a:endParaRPr lang="en-US" sz="1050" dirty="0"/>
          </a:p>
        </p:txBody>
      </p:sp>
      <p:sp>
        <p:nvSpPr>
          <p:cNvPr id="17" name="Shape 14"/>
          <p:cNvSpPr/>
          <p:nvPr/>
        </p:nvSpPr>
        <p:spPr>
          <a:xfrm>
            <a:off x="6178144" y="1920240"/>
            <a:ext cx="2641016" cy="3566160"/>
          </a:xfrm>
          <a:prstGeom prst="rect">
            <a:avLst/>
          </a:prstGeom>
          <a:solidFill>
            <a:srgbClr val="0B0B0B"/>
          </a:solidFill>
          <a:ln w="9525">
            <a:solidFill>
              <a:srgbClr val="00729C"/>
            </a:solidFill>
            <a:prstDash val="solid"/>
          </a:ln>
        </p:spPr>
      </p:sp>
      <p:sp>
        <p:nvSpPr>
          <p:cNvPr id="18" name="Text 15"/>
          <p:cNvSpPr/>
          <p:nvPr/>
        </p:nvSpPr>
        <p:spPr>
          <a:xfrm>
            <a:off x="6397600" y="2066544"/>
            <a:ext cx="2202104"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R3</a:t>
            </a:r>
            <a:endParaRPr lang="en-US" sz="2600" dirty="0"/>
          </a:p>
        </p:txBody>
      </p:sp>
      <p:sp>
        <p:nvSpPr>
          <p:cNvPr id="19" name="Text 16"/>
          <p:cNvSpPr/>
          <p:nvPr/>
        </p:nvSpPr>
        <p:spPr>
          <a:xfrm>
            <a:off x="6397600" y="2578608"/>
            <a:ext cx="2202104" cy="402336"/>
          </a:xfrm>
          <a:prstGeom prst="rect">
            <a:avLst/>
          </a:prstGeom>
          <a:noFill/>
          <a:ln/>
        </p:spPr>
        <p:txBody>
          <a:bodyPr wrap="square" lIns="0" tIns="0" rIns="0" bIns="0" rtlCol="0" anchor="t"/>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Hypothesis → verdict</a:t>
            </a:r>
            <a:endParaRPr lang="en-US" sz="1300" dirty="0"/>
          </a:p>
        </p:txBody>
      </p:sp>
      <p:sp>
        <p:nvSpPr>
          <p:cNvPr id="20" name="Text 17"/>
          <p:cNvSpPr/>
          <p:nvPr/>
        </p:nvSpPr>
        <p:spPr>
          <a:xfrm>
            <a:off x="6397600" y="3090672"/>
            <a:ext cx="2202104" cy="22311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What an experiment is, how a hypothesis determines one, and what comes back — including nothing.</a:t>
            </a:r>
            <a:endParaRPr lang="en-US" sz="1050" dirty="0"/>
          </a:p>
        </p:txBody>
      </p:sp>
      <p:sp>
        <p:nvSpPr>
          <p:cNvPr id="21" name="Shape 18"/>
          <p:cNvSpPr/>
          <p:nvPr/>
        </p:nvSpPr>
        <p:spPr>
          <a:xfrm>
            <a:off x="8983751" y="1920240"/>
            <a:ext cx="2641016" cy="3566160"/>
          </a:xfrm>
          <a:prstGeom prst="rect">
            <a:avLst/>
          </a:prstGeom>
          <a:solidFill>
            <a:srgbClr val="0B0B0B"/>
          </a:solidFill>
          <a:ln w="9525">
            <a:solidFill>
              <a:srgbClr val="00729C"/>
            </a:solidFill>
            <a:prstDash val="solid"/>
          </a:ln>
        </p:spPr>
      </p:sp>
      <p:sp>
        <p:nvSpPr>
          <p:cNvPr id="22" name="Text 19"/>
          <p:cNvSpPr/>
          <p:nvPr/>
        </p:nvSpPr>
        <p:spPr>
          <a:xfrm>
            <a:off x="9203207" y="2066544"/>
            <a:ext cx="2202104"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R4</a:t>
            </a:r>
            <a:endParaRPr lang="en-US" sz="2600" dirty="0"/>
          </a:p>
        </p:txBody>
      </p:sp>
      <p:sp>
        <p:nvSpPr>
          <p:cNvPr id="23" name="Text 20"/>
          <p:cNvSpPr/>
          <p:nvPr/>
        </p:nvSpPr>
        <p:spPr>
          <a:xfrm>
            <a:off x="9203207" y="2578608"/>
            <a:ext cx="2202104" cy="402336"/>
          </a:xfrm>
          <a:prstGeom prst="rect">
            <a:avLst/>
          </a:prstGeom>
          <a:noFill/>
          <a:ln/>
        </p:spPr>
        <p:txBody>
          <a:bodyPr wrap="square" lIns="0" tIns="0" rIns="0" bIns="0" rtlCol="0" anchor="t"/>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A motive</a:t>
            </a:r>
            <a:endParaRPr lang="en-US" sz="1300" dirty="0"/>
          </a:p>
        </p:txBody>
      </p:sp>
      <p:sp>
        <p:nvSpPr>
          <p:cNvPr id="24" name="Text 21"/>
          <p:cNvSpPr/>
          <p:nvPr/>
        </p:nvSpPr>
        <p:spPr>
          <a:xfrm>
            <a:off x="9203207" y="3090672"/>
            <a:ext cx="2202104" cy="22311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If an external scorekeeper hands out rewards, the model has outsourced the thing it set out to explain.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R1 — THE ENVIRONMENT</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COMPUTATIONS ARE ONTOLOGICALLY ISOLATED</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So the environment of a computation is other computations, and the ceiling on what one can learn of another is derived rather than posited.</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1874520"/>
            <a:ext cx="5410048" cy="2331720"/>
          </a:xfrm>
          <a:prstGeom prst="rect">
            <a:avLst/>
          </a:prstGeom>
          <a:solidFill>
            <a:srgbClr val="0B0B0B"/>
          </a:solidFill>
          <a:ln w="9525">
            <a:solidFill>
              <a:srgbClr val="00729C"/>
            </a:solidFill>
            <a:prstDash val="solid"/>
          </a:ln>
        </p:spPr>
      </p:sp>
      <p:sp>
        <p:nvSpPr>
          <p:cNvPr id="9" name="Text 6"/>
          <p:cNvSpPr/>
          <p:nvPr/>
        </p:nvSpPr>
        <p:spPr>
          <a:xfrm>
            <a:off x="786384" y="2020824"/>
            <a:ext cx="4971136"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THE CUT</a:t>
            </a:r>
            <a:endParaRPr lang="en-US" sz="950" dirty="0"/>
          </a:p>
        </p:txBody>
      </p:sp>
      <p:sp>
        <p:nvSpPr>
          <p:cNvPr id="10" name="Text 7"/>
          <p:cNvSpPr/>
          <p:nvPr/>
        </p:nvSpPr>
        <p:spPr>
          <a:xfrm>
            <a:off x="786384" y="2441448"/>
            <a:ext cx="4971136" cy="365760"/>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W  ≡  S | E</a:t>
            </a:r>
            <a:endParaRPr lang="en-US" sz="1500" dirty="0"/>
          </a:p>
        </p:txBody>
      </p:sp>
      <p:sp>
        <p:nvSpPr>
          <p:cNvPr id="11" name="Text 8"/>
          <p:cNvSpPr/>
          <p:nvPr/>
        </p:nvSpPr>
        <p:spPr>
          <a:xfrm>
            <a:off x="786384" y="2916936"/>
            <a:ext cx="4971136" cy="112471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What S can learn of E is bounded above by E's context-labelled bisimulation class. That is the ceiling R1 asks for.</a:t>
            </a:r>
            <a:endParaRPr lang="en-US" sz="1050" dirty="0"/>
          </a:p>
        </p:txBody>
      </p:sp>
      <p:sp>
        <p:nvSpPr>
          <p:cNvPr id="12" name="Shape 9"/>
          <p:cNvSpPr/>
          <p:nvPr/>
        </p:nvSpPr>
        <p:spPr>
          <a:xfrm>
            <a:off x="6214720" y="1874520"/>
            <a:ext cx="5410048" cy="2331720"/>
          </a:xfrm>
          <a:prstGeom prst="rect">
            <a:avLst/>
          </a:prstGeom>
          <a:solidFill>
            <a:srgbClr val="0B0B0B"/>
          </a:solidFill>
          <a:ln w="9525">
            <a:solidFill>
              <a:srgbClr val="00729C"/>
            </a:solidFill>
            <a:prstDash val="solid"/>
          </a:ln>
        </p:spPr>
      </p:sp>
      <p:sp>
        <p:nvSpPr>
          <p:cNvPr id="13" name="Text 10"/>
          <p:cNvSpPr/>
          <p:nvPr/>
        </p:nvSpPr>
        <p:spPr>
          <a:xfrm>
            <a:off x="6434176" y="2020824"/>
            <a:ext cx="4971136"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THREE GRADES OF ACCESS — AND ONLY THREE</a:t>
            </a:r>
            <a:endParaRPr lang="en-US" sz="950" dirty="0"/>
          </a:p>
        </p:txBody>
      </p:sp>
      <p:sp>
        <p:nvSpPr>
          <p:cNvPr id="14" name="Text 11"/>
          <p:cNvSpPr/>
          <p:nvPr/>
        </p:nvSpPr>
        <p:spPr>
          <a:xfrm>
            <a:off x="6434176" y="2496312"/>
            <a:ext cx="2187300" cy="347472"/>
          </a:xfrm>
          <a:prstGeom prst="rect">
            <a:avLst/>
          </a:prstGeom>
          <a:noFill/>
          <a:ln/>
        </p:spPr>
        <p:txBody>
          <a:bodyPr wrap="square" lIns="0" tIns="0" rIns="0" bIns="0" rtlCol="0" anchor="t"/>
          <a:lstStyle/>
          <a:p>
            <a:pPr indent="0" marL="0">
              <a:buNone/>
            </a:pPr>
            <a:r>
              <a:rPr lang="en-US" sz="1050" b="1" dirty="0">
                <a:solidFill>
                  <a:srgbClr val="00B0F0"/>
                </a:solidFill>
                <a:latin typeface="Arial" pitchFamily="34" charset="0"/>
                <a:ea typeface="Arial" pitchFamily="34" charset="-122"/>
                <a:cs typeface="Arial" pitchFamily="34" charset="-120"/>
              </a:rPr>
              <a:t>Perception</a:t>
            </a:r>
            <a:endParaRPr lang="en-US" sz="1050" dirty="0"/>
          </a:p>
        </p:txBody>
      </p:sp>
      <p:sp>
        <p:nvSpPr>
          <p:cNvPr id="15" name="Text 12"/>
          <p:cNvSpPr/>
          <p:nvPr/>
        </p:nvSpPr>
        <p:spPr>
          <a:xfrm>
            <a:off x="8720898" y="2496312"/>
            <a:ext cx="2684413" cy="365760"/>
          </a:xfrm>
          <a:prstGeom prst="rect">
            <a:avLst/>
          </a:prstGeom>
          <a:noFill/>
          <a:ln/>
        </p:spPr>
        <p:txBody>
          <a:bodyPr wrap="square" lIns="0" tIns="0" rIns="0" bIns="0" rtlCol="0" anchor="t"/>
          <a:lstStyle/>
          <a:p>
            <a:pPr indent="0" marL="0">
              <a:lnSpc>
                <a:spcPct val="110000"/>
              </a:lnSpc>
              <a:buNone/>
            </a:pPr>
            <a:r>
              <a:rPr lang="en-US" sz="1050" dirty="0">
                <a:solidFill>
                  <a:srgbClr val="BFBFBF"/>
                </a:solidFill>
                <a:latin typeface="Arial" pitchFamily="34" charset="0"/>
                <a:ea typeface="Arial" pitchFamily="34" charset="-122"/>
                <a:cs typeface="Arial" pitchFamily="34" charset="-120"/>
              </a:rPr>
              <a:t>structural predicates at the surface — priced by depth</a:t>
            </a:r>
            <a:endParaRPr lang="en-US" sz="1050" dirty="0"/>
          </a:p>
        </p:txBody>
      </p:sp>
      <p:sp>
        <p:nvSpPr>
          <p:cNvPr id="16" name="Text 13"/>
          <p:cNvSpPr/>
          <p:nvPr/>
        </p:nvSpPr>
        <p:spPr>
          <a:xfrm>
            <a:off x="6434176" y="2880360"/>
            <a:ext cx="2187300" cy="347472"/>
          </a:xfrm>
          <a:prstGeom prst="rect">
            <a:avLst/>
          </a:prstGeom>
          <a:noFill/>
          <a:ln/>
        </p:spPr>
        <p:txBody>
          <a:bodyPr wrap="square" lIns="0" tIns="0" rIns="0" bIns="0" rtlCol="0" anchor="t"/>
          <a:lstStyle/>
          <a:p>
            <a:pPr indent="0" marL="0">
              <a:buNone/>
            </a:pPr>
            <a:r>
              <a:rPr lang="en-US" sz="1050" b="1" dirty="0">
                <a:solidFill>
                  <a:srgbClr val="00B0F0"/>
                </a:solidFill>
                <a:latin typeface="Arial" pitchFamily="34" charset="0"/>
                <a:ea typeface="Arial" pitchFamily="34" charset="-122"/>
                <a:cs typeface="Arial" pitchFamily="34" charset="-120"/>
              </a:rPr>
              <a:t>Interaction</a:t>
            </a:r>
            <a:endParaRPr lang="en-US" sz="1050" dirty="0"/>
          </a:p>
        </p:txBody>
      </p:sp>
      <p:sp>
        <p:nvSpPr>
          <p:cNvPr id="17" name="Text 14"/>
          <p:cNvSpPr/>
          <p:nvPr/>
        </p:nvSpPr>
        <p:spPr>
          <a:xfrm>
            <a:off x="8720898" y="2880360"/>
            <a:ext cx="2684413" cy="365760"/>
          </a:xfrm>
          <a:prstGeom prst="rect">
            <a:avLst/>
          </a:prstGeom>
          <a:noFill/>
          <a:ln/>
        </p:spPr>
        <p:txBody>
          <a:bodyPr wrap="square" lIns="0" tIns="0" rIns="0" bIns="0" rtlCol="0" anchor="t"/>
          <a:lstStyle/>
          <a:p>
            <a:pPr indent="0" marL="0">
              <a:lnSpc>
                <a:spcPct val="110000"/>
              </a:lnSpc>
              <a:buNone/>
            </a:pPr>
            <a:r>
              <a:rPr lang="en-US" sz="1050" dirty="0">
                <a:solidFill>
                  <a:srgbClr val="BFBFBF"/>
                </a:solidFill>
                <a:latin typeface="Arial" pitchFamily="34" charset="0"/>
                <a:ea typeface="Arial" pitchFamily="34" charset="-122"/>
                <a:cs typeface="Arial" pitchFamily="34" charset="-120"/>
              </a:rPr>
              <a:t>⟨Kⱼ⟩φ — build a probe, plug, observe: a rendezvous, and time</a:t>
            </a:r>
            <a:endParaRPr lang="en-US" sz="1050" dirty="0"/>
          </a:p>
        </p:txBody>
      </p:sp>
      <p:sp>
        <p:nvSpPr>
          <p:cNvPr id="18" name="Text 15"/>
          <p:cNvSpPr/>
          <p:nvPr/>
        </p:nvSpPr>
        <p:spPr>
          <a:xfrm>
            <a:off x="6434176" y="3264408"/>
            <a:ext cx="2187300" cy="347472"/>
          </a:xfrm>
          <a:prstGeom prst="rect">
            <a:avLst/>
          </a:prstGeom>
          <a:noFill/>
          <a:ln/>
        </p:spPr>
        <p:txBody>
          <a:bodyPr wrap="square" lIns="0" tIns="0" rIns="0" bIns="0" rtlCol="0" anchor="t"/>
          <a:lstStyle/>
          <a:p>
            <a:pPr indent="0" marL="0">
              <a:buNone/>
            </a:pPr>
            <a:r>
              <a:rPr lang="en-US" sz="1050" b="1" dirty="0">
                <a:solidFill>
                  <a:srgbClr val="00B0F0"/>
                </a:solidFill>
                <a:latin typeface="Arial" pitchFamily="34" charset="0"/>
                <a:ea typeface="Arial" pitchFamily="34" charset="-122"/>
                <a:cs typeface="Arial" pitchFamily="34" charset="-120"/>
              </a:rPr>
              <a:t>Reflection</a:t>
            </a:r>
            <a:endParaRPr lang="en-US" sz="1050" dirty="0"/>
          </a:p>
        </p:txBody>
      </p:sp>
      <p:sp>
        <p:nvSpPr>
          <p:cNvPr id="19" name="Text 16"/>
          <p:cNvSpPr/>
          <p:nvPr/>
        </p:nvSpPr>
        <p:spPr>
          <a:xfrm>
            <a:off x="8720898" y="3264408"/>
            <a:ext cx="2684413" cy="365760"/>
          </a:xfrm>
          <a:prstGeom prst="rect">
            <a:avLst/>
          </a:prstGeom>
          <a:noFill/>
          <a:ln/>
        </p:spPr>
        <p:txBody>
          <a:bodyPr wrap="square" lIns="0" tIns="0" rIns="0" bIns="0" rtlCol="0" anchor="t"/>
          <a:lstStyle/>
          <a:p>
            <a:pPr indent="0" marL="0">
              <a:lnSpc>
                <a:spcPct val="110000"/>
              </a:lnSpc>
              <a:buNone/>
            </a:pPr>
            <a:r>
              <a:rPr lang="en-US" sz="1050" dirty="0">
                <a:solidFill>
                  <a:srgbClr val="BFBFBF"/>
                </a:solidFill>
                <a:latin typeface="Arial" pitchFamily="34" charset="0"/>
                <a:ea typeface="Arial" pitchFamily="34" charset="-122"/>
                <a:cs typeface="Arial" pitchFamily="34" charset="-120"/>
              </a:rPr>
              <a:t>@φ on a name you already hold — cheap, no communication</a:t>
            </a:r>
            <a:endParaRPr lang="en-US" sz="1050" dirty="0"/>
          </a:p>
        </p:txBody>
      </p:sp>
      <p:sp>
        <p:nvSpPr>
          <p:cNvPr id="20" name="Shape 17"/>
          <p:cNvSpPr/>
          <p:nvPr/>
        </p:nvSpPr>
        <p:spPr>
          <a:xfrm>
            <a:off x="566928" y="4370832"/>
            <a:ext cx="11057839" cy="1170432"/>
          </a:xfrm>
          <a:prstGeom prst="rect">
            <a:avLst/>
          </a:prstGeom>
          <a:solidFill>
            <a:srgbClr val="0B0B0B"/>
          </a:solidFill>
          <a:ln w="9525">
            <a:solidFill>
              <a:srgbClr val="00729C"/>
            </a:solidFill>
            <a:prstDash val="solid"/>
          </a:ln>
        </p:spPr>
      </p:sp>
      <p:sp>
        <p:nvSpPr>
          <p:cNvPr id="21" name="Text 18"/>
          <p:cNvSpPr/>
          <p:nvPr/>
        </p:nvSpPr>
        <p:spPr>
          <a:xfrm>
            <a:off x="822960" y="4535424"/>
            <a:ext cx="10545775" cy="219456"/>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OBSERVATION VERSUS DISCLOSURE</a:t>
            </a:r>
            <a:endParaRPr lang="en-US" sz="950" dirty="0"/>
          </a:p>
        </p:txBody>
      </p:sp>
      <p:sp>
        <p:nvSpPr>
          <p:cNvPr id="22" name="Text 19"/>
          <p:cNvSpPr/>
          <p:nvPr/>
        </p:nvSpPr>
        <p:spPr>
          <a:xfrm>
            <a:off x="822960" y="4828032"/>
            <a:ext cx="10545775" cy="566928"/>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Behaviour is what one observes across a cut; structure is what one is given, or takes. Perception reads the surface of things one does not hold; reflection reads the interior of things one does. The operation that converts the second into the first is eating — and it is fatal to the thing converted.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R2 — THE HYPOTHESIS LANGUAGE</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THE LOGIC IS GENERATED, NOT DESIGNED</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Feed the rho calculus' own presentation (Σ, E, R) to OSLF and it emits namespace logic. Formulae denote bisimulation equivalence classes.</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A designed logic has no reason to be adequate. A generated one is adequate whenever its target specification carries the connectives adequacy needs.</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1874520"/>
            <a:ext cx="3551834" cy="1691640"/>
          </a:xfrm>
          <a:prstGeom prst="rect">
            <a:avLst/>
          </a:prstGeom>
          <a:solidFill>
            <a:srgbClr val="0B0B0B"/>
          </a:solidFill>
          <a:ln w="9525">
            <a:solidFill>
              <a:srgbClr val="00729C"/>
            </a:solidFill>
            <a:prstDash val="solid"/>
          </a:ln>
        </p:spPr>
      </p:sp>
      <p:sp>
        <p:nvSpPr>
          <p:cNvPr id="10" name="Text 7"/>
          <p:cNvSpPr/>
          <p:nvPr/>
        </p:nvSpPr>
        <p:spPr>
          <a:xfrm>
            <a:off x="786384"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TOO COARSE</a:t>
            </a:r>
            <a:endParaRPr lang="en-US" sz="950" dirty="0"/>
          </a:p>
        </p:txBody>
      </p:sp>
      <p:sp>
        <p:nvSpPr>
          <p:cNvPr id="11" name="Text 8"/>
          <p:cNvSpPr/>
          <p:nvPr/>
        </p:nvSpPr>
        <p:spPr>
          <a:xfrm>
            <a:off x="786384" y="2496312"/>
            <a:ext cx="3112922" cy="9052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Distinctions the learner can observe but cannot state. Blind in a way its own faculties do not require.</a:t>
            </a:r>
            <a:endParaRPr lang="en-US" sz="1050" dirty="0"/>
          </a:p>
        </p:txBody>
      </p:sp>
      <p:sp>
        <p:nvSpPr>
          <p:cNvPr id="12" name="Shape 9"/>
          <p:cNvSpPr/>
          <p:nvPr/>
        </p:nvSpPr>
        <p:spPr>
          <a:xfrm>
            <a:off x="4319930" y="1874520"/>
            <a:ext cx="3551834" cy="1691640"/>
          </a:xfrm>
          <a:prstGeom prst="rect">
            <a:avLst/>
          </a:prstGeom>
          <a:solidFill>
            <a:srgbClr val="0B0B0B"/>
          </a:solidFill>
          <a:ln w="9525">
            <a:solidFill>
              <a:srgbClr val="00729C"/>
            </a:solidFill>
            <a:prstDash val="solid"/>
          </a:ln>
        </p:spPr>
      </p:sp>
      <p:sp>
        <p:nvSpPr>
          <p:cNvPr id="13" name="Text 10"/>
          <p:cNvSpPr/>
          <p:nvPr/>
        </p:nvSpPr>
        <p:spPr>
          <a:xfrm>
            <a:off x="4539386"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ADEQUATE</a:t>
            </a:r>
            <a:endParaRPr lang="en-US" sz="950" dirty="0"/>
          </a:p>
        </p:txBody>
      </p:sp>
      <p:sp>
        <p:nvSpPr>
          <p:cNvPr id="14" name="Text 11"/>
          <p:cNvSpPr/>
          <p:nvPr/>
        </p:nvSpPr>
        <p:spPr>
          <a:xfrm>
            <a:off x="4539386" y="2496312"/>
            <a:ext cx="3112922" cy="9052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The formulae separate exactly what interaction separates. Neither failure is possible.</a:t>
            </a:r>
            <a:endParaRPr lang="en-US" sz="1050" dirty="0"/>
          </a:p>
        </p:txBody>
      </p:sp>
      <p:sp>
        <p:nvSpPr>
          <p:cNvPr id="15" name="Shape 12"/>
          <p:cNvSpPr/>
          <p:nvPr/>
        </p:nvSpPr>
        <p:spPr>
          <a:xfrm>
            <a:off x="8072933" y="1874520"/>
            <a:ext cx="3551834" cy="1691640"/>
          </a:xfrm>
          <a:prstGeom prst="rect">
            <a:avLst/>
          </a:prstGeom>
          <a:solidFill>
            <a:srgbClr val="0B0B0B"/>
          </a:solidFill>
          <a:ln w="9525">
            <a:solidFill>
              <a:srgbClr val="00729C"/>
            </a:solidFill>
            <a:prstDash val="solid"/>
          </a:ln>
        </p:spPr>
      </p:sp>
      <p:sp>
        <p:nvSpPr>
          <p:cNvPr id="16" name="Text 13"/>
          <p:cNvSpPr/>
          <p:nvPr/>
        </p:nvSpPr>
        <p:spPr>
          <a:xfrm>
            <a:off x="8292389"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TOO FINE</a:t>
            </a:r>
            <a:endParaRPr lang="en-US" sz="950" dirty="0"/>
          </a:p>
        </p:txBody>
      </p:sp>
      <p:sp>
        <p:nvSpPr>
          <p:cNvPr id="17" name="Text 14"/>
          <p:cNvSpPr/>
          <p:nvPr/>
        </p:nvSpPr>
        <p:spPr>
          <a:xfrm>
            <a:off x="8292389" y="2496312"/>
            <a:ext cx="3112922" cy="9052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Hypotheses that differ on environments no experiment could separate. Tokens — its life — spent on nothing.</a:t>
            </a:r>
            <a:endParaRPr lang="en-US" sz="1050" dirty="0"/>
          </a:p>
        </p:txBody>
      </p:sp>
      <p:sp>
        <p:nvSpPr>
          <p:cNvPr id="18" name="Shape 15"/>
          <p:cNvSpPr/>
          <p:nvPr/>
        </p:nvSpPr>
        <p:spPr>
          <a:xfrm>
            <a:off x="566928" y="3730752"/>
            <a:ext cx="11057839" cy="1810512"/>
          </a:xfrm>
          <a:prstGeom prst="rect">
            <a:avLst/>
          </a:prstGeom>
          <a:solidFill>
            <a:srgbClr val="0B0B0B"/>
          </a:solidFill>
          <a:ln w="9525">
            <a:solidFill>
              <a:srgbClr val="00729C"/>
            </a:solidFill>
            <a:prstDash val="solid"/>
          </a:ln>
        </p:spPr>
      </p:sp>
      <p:sp>
        <p:nvSpPr>
          <p:cNvPr id="19" name="Text 16"/>
          <p:cNvSpPr/>
          <p:nvPr/>
        </p:nvSpPr>
        <p:spPr>
          <a:xfrm>
            <a:off x="822960" y="3895344"/>
            <a:ext cx="10545775" cy="237744"/>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ADMITTING THE STRUCTURAL PREDICATES IS WHAT GIVES THE LEARNER SENSES</a:t>
            </a:r>
            <a:endParaRPr lang="en-US" sz="950" dirty="0"/>
          </a:p>
        </p:txBody>
      </p:sp>
      <p:sp>
        <p:nvSpPr>
          <p:cNvPr id="20" name="Text 17"/>
          <p:cNvSpPr/>
          <p:nvPr/>
        </p:nvSpPr>
        <p:spPr>
          <a:xfrm>
            <a:off x="822960" y="4224528"/>
            <a:ext cx="5852160" cy="1097280"/>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A sense is a structural predicate evaluated at the interaction surface — one sees the skin of a rock, not its interior. Seeing deeper costs more, so the interior is not free, merely expensive, and past a point unaffordable.</a:t>
            </a:r>
            <a:endParaRPr lang="en-US" sz="1100" dirty="0"/>
          </a:p>
        </p:txBody>
      </p:sp>
      <p:sp>
        <p:nvSpPr>
          <p:cNvPr id="21" name="Text 18"/>
          <p:cNvSpPr/>
          <p:nvPr/>
        </p:nvSpPr>
        <p:spPr>
          <a:xfrm>
            <a:off x="6583680" y="4224528"/>
            <a:ext cx="4846320" cy="365760"/>
          </a:xfrm>
          <a:prstGeom prst="rect">
            <a:avLst/>
          </a:prstGeom>
          <a:noFill/>
          <a:ln/>
        </p:spPr>
        <p:txBody>
          <a:bodyPr wrap="square" lIns="0" tIns="0" rIns="0" bIns="0" rtlCol="0" anchor="t"/>
          <a:lstStyle/>
          <a:p>
            <a:pPr indent="0" marL="0">
              <a:buNone/>
            </a:pPr>
            <a:r>
              <a:rPr lang="en-US" sz="1300" b="1" dirty="0">
                <a:solidFill>
                  <a:srgbClr val="00B0F0"/>
                </a:solidFill>
                <a:latin typeface="Courier New" pitchFamily="34" charset="0"/>
                <a:ea typeface="Courier New" pitchFamily="34" charset="-122"/>
                <a:cs typeface="Courier New" pitchFamily="34" charset="-120"/>
              </a:rPr>
              <a:t>|     |ₖ     out(n)φ     in(n)φ     ⟨Kⱼ⟩φ     @φ     νX.φ</a:t>
            </a:r>
            <a:endParaRPr lang="en-US" sz="1300" dirty="0"/>
          </a:p>
        </p:txBody>
      </p:sp>
      <p:sp>
        <p:nvSpPr>
          <p:cNvPr id="22" name="Text 19"/>
          <p:cNvSpPr/>
          <p:nvPr/>
        </p:nvSpPr>
        <p:spPr>
          <a:xfrm>
            <a:off x="6583680" y="4681728"/>
            <a:ext cx="4846320" cy="731520"/>
          </a:xfrm>
          <a:prstGeom prst="rect">
            <a:avLst/>
          </a:prstGeom>
          <a:noFill/>
          <a:ln/>
        </p:spPr>
        <p:txBody>
          <a:bodyPr wrap="square" lIns="0" tIns="0" rIns="0" bIns="0" rtlCol="0" anchor="t"/>
          <a:lstStyle/>
          <a:p>
            <a:pPr indent="0" marL="0">
              <a:lnSpc>
                <a:spcPct val="110000"/>
              </a:lnSpc>
              <a:buNone/>
            </a:pPr>
            <a:r>
              <a:rPr lang="en-US" sz="1050" i="1" dirty="0">
                <a:solidFill>
                  <a:srgbClr val="8C8C8C"/>
                </a:solidFill>
                <a:latin typeface="Arial" pitchFamily="34" charset="0"/>
                <a:ea typeface="Arial" pitchFamily="34" charset="-122"/>
                <a:cs typeface="Arial" pitchFamily="34" charset="-120"/>
              </a:rPr>
              <a:t>The hidden-name quantifier H is gone: freshness by quotation makes @φ enough.</a:t>
            </a:r>
            <a:endParaRPr lang="en-US" sz="1050" dirty="0"/>
          </a:p>
          <a:p>
            <a:pPr indent="0" marL="0">
              <a:lnSpc>
                <a:spcPct val="110000"/>
              </a:lnSpc>
              <a:buNone/>
            </a:pPr>
            <a:endParaRPr lang="en-US" sz="1050" dirty="0"/>
          </a:p>
          <a:p>
            <a:pPr indent="0" marL="0">
              <a:lnSpc>
                <a:spcPct val="110000"/>
              </a:lnSpc>
              <a:buNone/>
            </a:pPr>
            <a:r>
              <a:rPr lang="en-US" sz="1050" i="1" dirty="0">
                <a:solidFill>
                  <a:srgbClr val="8C8C8C"/>
                </a:solidFill>
                <a:latin typeface="Arial" pitchFamily="34" charset="0"/>
                <a:ea typeface="Arial" pitchFamily="34" charset="-122"/>
                <a:cs typeface="Arial" pitchFamily="34" charset="-120"/>
              </a:rPr>
              <a:t>Acuity is not an endowment — it is whatever the scientist can currently pay for.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R3 — HYPOTHESIS TO VERDICT</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A HYPOTHESIS IN GUARD POSITION IS AN EXPERIMENT</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The for-comprehension carries a where clause, so a formula sits in guard position. The checker is the reduction rule; a confirmation is a rendezvous.</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A finite scientist necessarily holds a non-adequate theory. Which fragment it holds is fixed by what it can pay for — the budget is the inductive bias.</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1874520"/>
            <a:ext cx="6275655" cy="2331720"/>
          </a:xfrm>
          <a:prstGeom prst="rect">
            <a:avLst/>
          </a:prstGeom>
          <a:solidFill>
            <a:srgbClr val="0B0B0B"/>
          </a:solidFill>
          <a:ln w="9525">
            <a:solidFill>
              <a:srgbClr val="00729C"/>
            </a:solidFill>
            <a:prstDash val="solid"/>
          </a:ln>
        </p:spPr>
      </p:sp>
      <p:sp>
        <p:nvSpPr>
          <p:cNvPr id="10" name="Text 7"/>
          <p:cNvSpPr/>
          <p:nvPr/>
        </p:nvSpPr>
        <p:spPr>
          <a:xfrm>
            <a:off x="822960" y="2029968"/>
            <a:ext cx="5763591" cy="237744"/>
          </a:xfrm>
          <a:prstGeom prst="rect">
            <a:avLst/>
          </a:prstGeom>
          <a:noFill/>
          <a:ln/>
        </p:spPr>
        <p:txBody>
          <a:bodyPr wrap="square" lIns="0" tIns="0" rIns="0" bIns="0" rtlCol="0" anchor="t"/>
          <a:lstStyle/>
          <a:p>
            <a:pPr indent="0" marL="0">
              <a:buNone/>
            </a:pPr>
            <a:r>
              <a:rPr lang="en-US" sz="950" b="1" spc="140" kern="0" dirty="0">
                <a:solidFill>
                  <a:srgbClr val="00B0F0"/>
                </a:solidFill>
                <a:latin typeface="Arial" pitchFamily="34" charset="0"/>
                <a:ea typeface="Arial" pitchFamily="34" charset="-122"/>
                <a:cs typeface="Arial" pitchFamily="34" charset="-120"/>
              </a:rPr>
              <a:t>THE ASSAY — A COMPLEMENTARY GUARD PAIR</a:t>
            </a:r>
            <a:endParaRPr lang="en-US" sz="950" dirty="0"/>
          </a:p>
        </p:txBody>
      </p:sp>
      <p:sp>
        <p:nvSpPr>
          <p:cNvPr id="11" name="Text 8"/>
          <p:cNvSpPr/>
          <p:nvPr/>
        </p:nvSpPr>
        <p:spPr>
          <a:xfrm>
            <a:off x="822960" y="2377440"/>
            <a:ext cx="5763591" cy="822960"/>
          </a:xfrm>
          <a:prstGeom prst="rect">
            <a:avLst/>
          </a:prstGeom>
          <a:noFill/>
          <a:ln/>
        </p:spPr>
        <p:txBody>
          <a:bodyPr wrap="square" lIns="0" tIns="0" rIns="0" bIns="0" rtlCol="0" anchor="t"/>
          <a:lstStyle/>
          <a:p>
            <a:pPr indent="0" marL="0">
              <a:lnSpc>
                <a:spcPct val="118000"/>
              </a:lnSpc>
              <a:buNone/>
            </a:pPr>
            <a:r>
              <a:rPr lang="en-US" sz="1150" dirty="0">
                <a:solidFill>
                  <a:srgbClr val="00B0F0"/>
                </a:solidFill>
                <a:latin typeface="Courier New" pitchFamily="34" charset="0"/>
                <a:ea typeface="Courier New" pitchFamily="34" charset="-122"/>
                <a:cs typeface="Courier New" pitchFamily="34" charset="-120"/>
              </a:rPr>
              <a:t>  Kⱼ[ ... ]</a:t>
            </a:r>
            <a:endParaRPr lang="en-US" sz="1150" dirty="0"/>
          </a:p>
          <a:p>
            <a:pPr indent="0" marL="0">
              <a:lnSpc>
                <a:spcPct val="118000"/>
              </a:lnSpc>
              <a:buNone/>
            </a:pPr>
            <a:r>
              <a:rPr lang="en-US" sz="1150" dirty="0">
                <a:solidFill>
                  <a:srgbClr val="00B0F0"/>
                </a:solidFill>
                <a:latin typeface="Courier New" pitchFamily="34" charset="0"/>
                <a:ea typeface="Courier New" pitchFamily="34" charset="-122"/>
                <a:cs typeface="Courier New" pitchFamily="34" charset="-120"/>
              </a:rPr>
              <a:t>| for (x &lt;- p where  phi(x)) { confirm!(*x) }</a:t>
            </a:r>
            <a:endParaRPr lang="en-US" sz="1150" dirty="0"/>
          </a:p>
          <a:p>
            <a:pPr indent="0" marL="0">
              <a:lnSpc>
                <a:spcPct val="118000"/>
              </a:lnSpc>
              <a:buNone/>
            </a:pPr>
            <a:r>
              <a:rPr lang="en-US" sz="1150" dirty="0">
                <a:solidFill>
                  <a:srgbClr val="00B0F0"/>
                </a:solidFill>
                <a:latin typeface="Courier New" pitchFamily="34" charset="0"/>
                <a:ea typeface="Courier New" pitchFamily="34" charset="-122"/>
                <a:cs typeface="Courier New" pitchFamily="34" charset="-120"/>
              </a:rPr>
              <a:t>| for (x &lt;- p where ~phi(x)) { refute!(*x)  }</a:t>
            </a:r>
            <a:endParaRPr lang="en-US" sz="1150" dirty="0"/>
          </a:p>
        </p:txBody>
      </p:sp>
      <p:sp>
        <p:nvSpPr>
          <p:cNvPr id="12" name="Text 9"/>
          <p:cNvSpPr/>
          <p:nvPr/>
        </p:nvSpPr>
        <p:spPr>
          <a:xfrm>
            <a:off x="822960" y="3346704"/>
            <a:ext cx="5763591" cy="640080"/>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The negation is what makes this more than an expression of hope: a guard that fails to fire is otherwise indistinguishable from one still waiting.</a:t>
            </a:r>
            <a:endParaRPr lang="en-US" sz="1100" dirty="0"/>
          </a:p>
        </p:txBody>
      </p:sp>
      <p:sp>
        <p:nvSpPr>
          <p:cNvPr id="13" name="Shape 10"/>
          <p:cNvSpPr/>
          <p:nvPr/>
        </p:nvSpPr>
        <p:spPr>
          <a:xfrm>
            <a:off x="7080327" y="1874520"/>
            <a:ext cx="4544440" cy="2331720"/>
          </a:xfrm>
          <a:prstGeom prst="rect">
            <a:avLst/>
          </a:prstGeom>
          <a:solidFill>
            <a:srgbClr val="0B0B0B"/>
          </a:solidFill>
          <a:ln w="9525">
            <a:solidFill>
              <a:srgbClr val="00729C"/>
            </a:solidFill>
            <a:prstDash val="solid"/>
          </a:ln>
        </p:spPr>
      </p:sp>
      <p:sp>
        <p:nvSpPr>
          <p:cNvPr id="14" name="Text 11"/>
          <p:cNvSpPr/>
          <p:nvPr/>
        </p:nvSpPr>
        <p:spPr>
          <a:xfrm>
            <a:off x="7336359" y="2029968"/>
            <a:ext cx="4032376" cy="237744"/>
          </a:xfrm>
          <a:prstGeom prst="rect">
            <a:avLst/>
          </a:prstGeom>
          <a:noFill/>
          <a:ln/>
        </p:spPr>
        <p:txBody>
          <a:bodyPr wrap="square" lIns="0" tIns="0" rIns="0" bIns="0" rtlCol="0" anchor="t"/>
          <a:lstStyle/>
          <a:p>
            <a:pPr indent="0" marL="0">
              <a:buNone/>
            </a:pPr>
            <a:r>
              <a:rPr lang="en-US" sz="950" b="1" spc="140" kern="0" dirty="0">
                <a:solidFill>
                  <a:srgbClr val="00B0F0"/>
                </a:solidFill>
                <a:latin typeface="Arial" pitchFamily="34" charset="0"/>
                <a:ea typeface="Arial" pitchFamily="34" charset="-122"/>
                <a:cs typeface="Arial" pitchFamily="34" charset="-120"/>
              </a:rPr>
              <a:t>THREE OUTCOMES, NOT TWO</a:t>
            </a:r>
            <a:endParaRPr lang="en-US" sz="950" dirty="0"/>
          </a:p>
        </p:txBody>
      </p:sp>
      <p:sp>
        <p:nvSpPr>
          <p:cNvPr id="15" name="Text 12"/>
          <p:cNvSpPr/>
          <p:nvPr/>
        </p:nvSpPr>
        <p:spPr>
          <a:xfrm>
            <a:off x="7336359" y="2432304"/>
            <a:ext cx="1234440" cy="274320"/>
          </a:xfrm>
          <a:prstGeom prst="rect">
            <a:avLst/>
          </a:prstGeom>
          <a:noFill/>
          <a:ln/>
        </p:spPr>
        <p:txBody>
          <a:bodyPr wrap="square" lIns="0" tIns="0" rIns="0" bIns="0" rtlCol="0" anchor="t"/>
          <a:lstStyle/>
          <a:p>
            <a:pPr indent="0" marL="0">
              <a:buNone/>
            </a:pPr>
            <a:r>
              <a:rPr lang="en-US" sz="1250" b="1" dirty="0">
                <a:solidFill>
                  <a:srgbClr val="00B0F0"/>
                </a:solidFill>
                <a:latin typeface="Arial" pitchFamily="34" charset="0"/>
                <a:ea typeface="Arial" pitchFamily="34" charset="-122"/>
                <a:cs typeface="Arial" pitchFamily="34" charset="-120"/>
              </a:rPr>
              <a:t>CONFIRM</a:t>
            </a:r>
            <a:endParaRPr lang="en-US" sz="1250" dirty="0"/>
          </a:p>
        </p:txBody>
      </p:sp>
      <p:sp>
        <p:nvSpPr>
          <p:cNvPr id="16" name="Text 13"/>
          <p:cNvSpPr/>
          <p:nvPr/>
        </p:nvSpPr>
        <p:spPr>
          <a:xfrm>
            <a:off x="8634807" y="2432304"/>
            <a:ext cx="2733928" cy="457200"/>
          </a:xfrm>
          <a:prstGeom prst="rect">
            <a:avLst/>
          </a:prstGeom>
          <a:noFill/>
          <a:ln/>
        </p:spPr>
        <p:txBody>
          <a:bodyPr wrap="square" lIns="0" tIns="0" rIns="0" bIns="0" rtlCol="0" anchor="t"/>
          <a:lstStyle/>
          <a:p>
            <a:pPr indent="0" marL="0">
              <a:lnSpc>
                <a:spcPct val="110000"/>
              </a:lnSpc>
              <a:buNone/>
            </a:pPr>
            <a:r>
              <a:rPr lang="en-US" sz="1100" dirty="0">
                <a:solidFill>
                  <a:srgbClr val="BFBFBF"/>
                </a:solidFill>
                <a:latin typeface="Arial" pitchFamily="34" charset="0"/>
                <a:ea typeface="Arial" pitchFamily="34" charset="-122"/>
                <a:cs typeface="Arial" pitchFamily="34" charset="-120"/>
              </a:rPr>
              <a:t>the prediction held</a:t>
            </a:r>
            <a:endParaRPr lang="en-US" sz="1100" dirty="0"/>
          </a:p>
        </p:txBody>
      </p:sp>
      <p:sp>
        <p:nvSpPr>
          <p:cNvPr id="17" name="Text 14"/>
          <p:cNvSpPr/>
          <p:nvPr/>
        </p:nvSpPr>
        <p:spPr>
          <a:xfrm>
            <a:off x="7336359" y="2962656"/>
            <a:ext cx="1234440" cy="274320"/>
          </a:xfrm>
          <a:prstGeom prst="rect">
            <a:avLst/>
          </a:prstGeom>
          <a:noFill/>
          <a:ln/>
        </p:spPr>
        <p:txBody>
          <a:bodyPr wrap="square" lIns="0" tIns="0" rIns="0" bIns="0" rtlCol="0" anchor="t"/>
          <a:lstStyle/>
          <a:p>
            <a:pPr indent="0" marL="0">
              <a:buNone/>
            </a:pPr>
            <a:r>
              <a:rPr lang="en-US" sz="1250" b="1" dirty="0">
                <a:solidFill>
                  <a:srgbClr val="F7E478"/>
                </a:solidFill>
                <a:latin typeface="Arial" pitchFamily="34" charset="0"/>
                <a:ea typeface="Arial" pitchFamily="34" charset="-122"/>
                <a:cs typeface="Arial" pitchFamily="34" charset="-120"/>
              </a:rPr>
              <a:t>REFUTE</a:t>
            </a:r>
            <a:endParaRPr lang="en-US" sz="1250" dirty="0"/>
          </a:p>
        </p:txBody>
      </p:sp>
      <p:sp>
        <p:nvSpPr>
          <p:cNvPr id="18" name="Text 15"/>
          <p:cNvSpPr/>
          <p:nvPr/>
        </p:nvSpPr>
        <p:spPr>
          <a:xfrm>
            <a:off x="8634807" y="2962656"/>
            <a:ext cx="2733928" cy="457200"/>
          </a:xfrm>
          <a:prstGeom prst="rect">
            <a:avLst/>
          </a:prstGeom>
          <a:noFill/>
          <a:ln/>
        </p:spPr>
        <p:txBody>
          <a:bodyPr wrap="square" lIns="0" tIns="0" rIns="0" bIns="0" rtlCol="0" anchor="t"/>
          <a:lstStyle/>
          <a:p>
            <a:pPr indent="0" marL="0">
              <a:lnSpc>
                <a:spcPct val="110000"/>
              </a:lnSpc>
              <a:buNone/>
            </a:pPr>
            <a:r>
              <a:rPr lang="en-US" sz="1100" dirty="0">
                <a:solidFill>
                  <a:srgbClr val="BFBFBF"/>
                </a:solidFill>
                <a:latin typeface="Arial" pitchFamily="34" charset="0"/>
                <a:ea typeface="Arial" pitchFamily="34" charset="-122"/>
                <a:cs typeface="Arial" pitchFamily="34" charset="-120"/>
              </a:rPr>
              <a:t>the prediction failed</a:t>
            </a:r>
            <a:endParaRPr lang="en-US" sz="1100" dirty="0"/>
          </a:p>
        </p:txBody>
      </p:sp>
      <p:sp>
        <p:nvSpPr>
          <p:cNvPr id="19" name="Text 16"/>
          <p:cNvSpPr/>
          <p:nvPr/>
        </p:nvSpPr>
        <p:spPr>
          <a:xfrm>
            <a:off x="7336359" y="3493008"/>
            <a:ext cx="123444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a:t>
            </a:r>
            <a:endParaRPr lang="en-US" sz="1250" dirty="0"/>
          </a:p>
        </p:txBody>
      </p:sp>
      <p:sp>
        <p:nvSpPr>
          <p:cNvPr id="20" name="Text 17"/>
          <p:cNvSpPr/>
          <p:nvPr/>
        </p:nvSpPr>
        <p:spPr>
          <a:xfrm>
            <a:off x="8634807" y="3493008"/>
            <a:ext cx="2733928" cy="457200"/>
          </a:xfrm>
          <a:prstGeom prst="rect">
            <a:avLst/>
          </a:prstGeom>
          <a:noFill/>
          <a:ln/>
        </p:spPr>
        <p:txBody>
          <a:bodyPr wrap="square" lIns="0" tIns="0" rIns="0" bIns="0" rtlCol="0" anchor="t"/>
          <a:lstStyle/>
          <a:p>
            <a:pPr indent="0" marL="0">
              <a:lnSpc>
                <a:spcPct val="110000"/>
              </a:lnSpc>
              <a:buNone/>
            </a:pPr>
            <a:r>
              <a:rPr lang="en-US" sz="1100" dirty="0">
                <a:solidFill>
                  <a:srgbClr val="BFBFBF"/>
                </a:solidFill>
                <a:latin typeface="Arial" pitchFamily="34" charset="0"/>
                <a:ea typeface="Arial" pitchFamily="34" charset="-122"/>
                <a:cs typeface="Arial" pitchFamily="34" charset="-120"/>
              </a:rPr>
              <a:t>nothing came back before the budget ran out</a:t>
            </a:r>
            <a:endParaRPr lang="en-US" sz="1100" dirty="0"/>
          </a:p>
        </p:txBody>
      </p:sp>
      <p:sp>
        <p:nvSpPr>
          <p:cNvPr id="21" name="Shape 18"/>
          <p:cNvSpPr/>
          <p:nvPr/>
        </p:nvSpPr>
        <p:spPr>
          <a:xfrm>
            <a:off x="566928" y="4370832"/>
            <a:ext cx="11057839" cy="1170432"/>
          </a:xfrm>
          <a:prstGeom prst="rect">
            <a:avLst/>
          </a:prstGeom>
          <a:solidFill>
            <a:srgbClr val="0B0B0B"/>
          </a:solidFill>
          <a:ln w="9525">
            <a:solidFill>
              <a:srgbClr val="00729C"/>
            </a:solidFill>
            <a:prstDash val="solid"/>
          </a:ln>
        </p:spPr>
      </p:sp>
      <p:sp>
        <p:nvSpPr>
          <p:cNvPr id="22" name="Text 19"/>
          <p:cNvSpPr/>
          <p:nvPr/>
        </p:nvSpPr>
        <p:spPr>
          <a:xfrm>
            <a:off x="822960" y="4535424"/>
            <a:ext cx="10545775" cy="859536"/>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 is not a defect. It is the honest residue — and separating it from falsity is the whole gain. A mortal scientist can only run assays decided within its budget, so the fragment of the ideal logic it can test is bounded in modal depth. That fragment is not adequate.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R4 — THE MOTIVE</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NOBODY ADJUDICATES. THE BAD PREDICTOR STARVES.</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Tokens are conserved and never minted. A hypothesis says where the tokens are, and the reward for a good one is the tokens.</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1874520"/>
            <a:ext cx="3551834" cy="2331720"/>
          </a:xfrm>
          <a:prstGeom prst="rect">
            <a:avLst/>
          </a:prstGeom>
          <a:solidFill>
            <a:srgbClr val="0B0B0B"/>
          </a:solidFill>
          <a:ln w="9525">
            <a:solidFill>
              <a:srgbClr val="00729C"/>
            </a:solidFill>
            <a:prstDash val="solid"/>
          </a:ln>
        </p:spPr>
      </p:sp>
      <p:sp>
        <p:nvSpPr>
          <p:cNvPr id="9" name="Text 6"/>
          <p:cNvSpPr/>
          <p:nvPr/>
        </p:nvSpPr>
        <p:spPr>
          <a:xfrm>
            <a:off x="786384"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CONSERVATION</a:t>
            </a:r>
            <a:endParaRPr lang="en-US" sz="950" dirty="0"/>
          </a:p>
        </p:txBody>
      </p:sp>
      <p:sp>
        <p:nvSpPr>
          <p:cNvPr id="10" name="Text 7"/>
          <p:cNvSpPr/>
          <p:nvPr/>
        </p:nvSpPr>
        <p:spPr>
          <a:xfrm>
            <a:off x="786384" y="2441448"/>
            <a:ext cx="3112922" cy="365760"/>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σ + κ = Θ</a:t>
            </a:r>
            <a:endParaRPr lang="en-US" sz="1500" dirty="0"/>
          </a:p>
        </p:txBody>
      </p:sp>
      <p:sp>
        <p:nvSpPr>
          <p:cNvPr id="11" name="Text 8"/>
          <p:cNvSpPr/>
          <p:nvPr/>
        </p:nvSpPr>
        <p:spPr>
          <a:xfrm>
            <a:off x="786384" y="2916936"/>
            <a:ext cx="3112922" cy="112471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Spent tokens do not vanish; they migrate into the record. The accumulation of κ is the arrow of time, and science is entropy production.</a:t>
            </a:r>
            <a:endParaRPr lang="en-US" sz="1050" dirty="0"/>
          </a:p>
        </p:txBody>
      </p:sp>
      <p:sp>
        <p:nvSpPr>
          <p:cNvPr id="12" name="Shape 9"/>
          <p:cNvSpPr/>
          <p:nvPr/>
        </p:nvSpPr>
        <p:spPr>
          <a:xfrm>
            <a:off x="4319930" y="1874520"/>
            <a:ext cx="3551834" cy="2331720"/>
          </a:xfrm>
          <a:prstGeom prst="rect">
            <a:avLst/>
          </a:prstGeom>
          <a:solidFill>
            <a:srgbClr val="0B0B0B"/>
          </a:solidFill>
          <a:ln w="9525">
            <a:solidFill>
              <a:srgbClr val="00729C"/>
            </a:solidFill>
            <a:prstDash val="solid"/>
          </a:ln>
        </p:spPr>
      </p:sp>
      <p:sp>
        <p:nvSpPr>
          <p:cNvPr id="13" name="Text 10"/>
          <p:cNvSpPr/>
          <p:nvPr/>
        </p:nvSpPr>
        <p:spPr>
          <a:xfrm>
            <a:off x="4539386"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EATING IS A RECEIVE</a:t>
            </a:r>
            <a:endParaRPr lang="en-US" sz="950" dirty="0"/>
          </a:p>
        </p:txBody>
      </p:sp>
      <p:sp>
        <p:nvSpPr>
          <p:cNvPr id="14" name="Text 11"/>
          <p:cNvSpPr/>
          <p:nvPr/>
        </p:nvSpPr>
        <p:spPr>
          <a:xfrm>
            <a:off x="4539386" y="2441448"/>
            <a:ext cx="3112922" cy="365760"/>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for (t &lt;- m)</a:t>
            </a:r>
            <a:endParaRPr lang="en-US" sz="1500" dirty="0"/>
          </a:p>
        </p:txBody>
      </p:sp>
      <p:sp>
        <p:nvSpPr>
          <p:cNvPr id="15" name="Text 12"/>
          <p:cNvSpPr/>
          <p:nvPr/>
        </p:nvSpPr>
        <p:spPr>
          <a:xfrm>
            <a:off x="4539386" y="2916936"/>
            <a:ext cx="3112922" cy="112471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 stack is a message at a metabolic channel. Harvest is an ordinary receipt, death is failure to fund the next step, defence is restriction.</a:t>
            </a:r>
            <a:endParaRPr lang="en-US" sz="1050" dirty="0"/>
          </a:p>
        </p:txBody>
      </p:sp>
      <p:sp>
        <p:nvSpPr>
          <p:cNvPr id="16" name="Shape 13"/>
          <p:cNvSpPr/>
          <p:nvPr/>
        </p:nvSpPr>
        <p:spPr>
          <a:xfrm>
            <a:off x="8072933" y="1874520"/>
            <a:ext cx="3551834" cy="2331720"/>
          </a:xfrm>
          <a:prstGeom prst="rect">
            <a:avLst/>
          </a:prstGeom>
          <a:solidFill>
            <a:srgbClr val="0B0B0B"/>
          </a:solidFill>
          <a:ln w="9525">
            <a:solidFill>
              <a:srgbClr val="00729C"/>
            </a:solidFill>
            <a:prstDash val="solid"/>
          </a:ln>
        </p:spPr>
      </p:sp>
      <p:sp>
        <p:nvSpPr>
          <p:cNvPr id="17" name="Text 14"/>
          <p:cNvSpPr/>
          <p:nvPr/>
        </p:nvSpPr>
        <p:spPr>
          <a:xfrm>
            <a:off x="8292389"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PREDATORS ARE NON-IMAGE CONTEXTS</a:t>
            </a:r>
            <a:endParaRPr lang="en-US" sz="950" dirty="0"/>
          </a:p>
        </p:txBody>
      </p:sp>
      <p:sp>
        <p:nvSpPr>
          <p:cNvPr id="18" name="Text 15"/>
          <p:cNvSpPr/>
          <p:nvPr/>
        </p:nvSpPr>
        <p:spPr>
          <a:xfrm>
            <a:off x="8292389" y="2441448"/>
            <a:ext cx="3112922" cy="365760"/>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C ∉ ⟦𝒞(rho)⟧</a:t>
            </a:r>
            <a:endParaRPr lang="en-US" sz="1500" dirty="0"/>
          </a:p>
        </p:txBody>
      </p:sp>
      <p:sp>
        <p:nvSpPr>
          <p:cNvPr id="19" name="Text 16"/>
          <p:cNvSpPr/>
          <p:nvPr/>
        </p:nvSpPr>
        <p:spPr>
          <a:xfrm>
            <a:off x="8292389" y="2916936"/>
            <a:ext cx="3112922" cy="112471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In the decorated calculus a stack is inviolable. In its image it is a message anyone holding the name may take. The ecology lives in that gap.</a:t>
            </a:r>
            <a:endParaRPr lang="en-US" sz="1050" dirty="0"/>
          </a:p>
        </p:txBody>
      </p:sp>
      <p:sp>
        <p:nvSpPr>
          <p:cNvPr id="20" name="Shape 17"/>
          <p:cNvSpPr/>
          <p:nvPr/>
        </p:nvSpPr>
        <p:spPr>
          <a:xfrm>
            <a:off x="566928" y="4370832"/>
            <a:ext cx="11057839" cy="1170432"/>
          </a:xfrm>
          <a:prstGeom prst="rect">
            <a:avLst/>
          </a:prstGeom>
          <a:solidFill>
            <a:srgbClr val="0B0B0B"/>
          </a:solidFill>
          <a:ln w="9525">
            <a:solidFill>
              <a:srgbClr val="00729C"/>
            </a:solidFill>
            <a:prstDash val="solid"/>
          </a:ln>
        </p:spPr>
      </p:sp>
      <p:sp>
        <p:nvSpPr>
          <p:cNvPr id="21" name="Text 18"/>
          <p:cNvSpPr/>
          <p:nvPr/>
        </p:nvSpPr>
        <p:spPr>
          <a:xfrm>
            <a:off x="822960" y="4535424"/>
            <a:ext cx="10545775" cy="859536"/>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Vacuity is punished by hunger rather than by rule: ⊤ predicts nothing, locates no metabolic channel, yields nothing. And Occam's razor is metabolic — description length and food are denominated in one currency, so MDL is derived rather than stipulated.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LEARNING</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THE HYPOTHESIS SPACE IS AN ULTRAMETRIC TREE</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Balls are nested or disjoint. Every point of a ball is its centre. There is no betweenness — so there is no gradient, and gradient methods are not a poor fit but ill-typed.</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1874520"/>
            <a:ext cx="5410048" cy="2331720"/>
          </a:xfrm>
          <a:prstGeom prst="rect">
            <a:avLst/>
          </a:prstGeom>
          <a:solidFill>
            <a:srgbClr val="0B0B0B"/>
          </a:solidFill>
          <a:ln w="9525">
            <a:solidFill>
              <a:srgbClr val="00729C"/>
            </a:solidFill>
            <a:prstDash val="solid"/>
          </a:ln>
        </p:spPr>
      </p:sp>
      <p:sp>
        <p:nvSpPr>
          <p:cNvPr id="9" name="Text 6"/>
          <p:cNvSpPr/>
          <p:nvPr/>
        </p:nvSpPr>
        <p:spPr>
          <a:xfrm>
            <a:off x="786384" y="2020824"/>
            <a:ext cx="4971136"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CONFINEMENT</a:t>
            </a:r>
            <a:endParaRPr lang="en-US" sz="950" dirty="0"/>
          </a:p>
        </p:txBody>
      </p:sp>
      <p:sp>
        <p:nvSpPr>
          <p:cNvPr id="10" name="Text 7"/>
          <p:cNvSpPr/>
          <p:nvPr/>
        </p:nvSpPr>
        <p:spPr>
          <a:xfrm>
            <a:off x="786384" y="2441448"/>
            <a:ext cx="4971136" cy="365760"/>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d(φ₀,φₖ) ≤ maxᵢ d(φᵢ₋₁,φᵢ)</a:t>
            </a:r>
            <a:endParaRPr lang="en-US" sz="1500" dirty="0"/>
          </a:p>
        </p:txBody>
      </p:sp>
      <p:sp>
        <p:nvSpPr>
          <p:cNvPr id="11" name="Text 8"/>
          <p:cNvSpPr/>
          <p:nvPr/>
        </p:nvSpPr>
        <p:spPr>
          <a:xfrm>
            <a:off x="786384" y="2916936"/>
            <a:ext cx="4971136" cy="112471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 revision walk whose steps are all shorter than 2⁻ⁿ never leaves the ball of radius 2⁻ⁿ it began in. Not slowly — at all. Whatever ball a scientist's early commitments place it in is the ball it dies in, unless it makes a move that is not small.</a:t>
            </a:r>
            <a:endParaRPr lang="en-US" sz="1050" dirty="0"/>
          </a:p>
        </p:txBody>
      </p:sp>
      <p:sp>
        <p:nvSpPr>
          <p:cNvPr id="12" name="Shape 9"/>
          <p:cNvSpPr/>
          <p:nvPr/>
        </p:nvSpPr>
        <p:spPr>
          <a:xfrm>
            <a:off x="6214720" y="1874520"/>
            <a:ext cx="5410048" cy="2331720"/>
          </a:xfrm>
          <a:prstGeom prst="rect">
            <a:avLst/>
          </a:prstGeom>
          <a:solidFill>
            <a:srgbClr val="0B0B0B"/>
          </a:solidFill>
          <a:ln w="9525">
            <a:solidFill>
              <a:srgbClr val="00729C"/>
            </a:solidFill>
            <a:prstDash val="solid"/>
          </a:ln>
        </p:spPr>
      </p:sp>
      <p:sp>
        <p:nvSpPr>
          <p:cNvPr id="13" name="Text 10"/>
          <p:cNvSpPr/>
          <p:nvPr/>
        </p:nvSpPr>
        <p:spPr>
          <a:xfrm>
            <a:off x="6434176" y="2020824"/>
            <a:ext cx="4971136"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TWO DIALS, AND THE PRICE OF EACH</a:t>
            </a:r>
            <a:endParaRPr lang="en-US" sz="950" dirty="0"/>
          </a:p>
        </p:txBody>
      </p:sp>
      <p:sp>
        <p:nvSpPr>
          <p:cNvPr id="14" name="Text 11"/>
          <p:cNvSpPr/>
          <p:nvPr/>
        </p:nvSpPr>
        <p:spPr>
          <a:xfrm>
            <a:off x="6434176" y="2496312"/>
            <a:ext cx="2187300" cy="347472"/>
          </a:xfrm>
          <a:prstGeom prst="rect">
            <a:avLst/>
          </a:prstGeom>
          <a:noFill/>
          <a:ln/>
        </p:spPr>
        <p:txBody>
          <a:bodyPr wrap="square" lIns="0" tIns="0" rIns="0" bIns="0" rtlCol="0" anchor="t"/>
          <a:lstStyle/>
          <a:p>
            <a:pPr indent="0" marL="0">
              <a:buNone/>
            </a:pPr>
            <a:r>
              <a:rPr lang="en-US" sz="1050" b="1" dirty="0">
                <a:solidFill>
                  <a:srgbClr val="00B0F0"/>
                </a:solidFill>
                <a:latin typeface="Arial" pitchFamily="34" charset="0"/>
                <a:ea typeface="Arial" pitchFamily="34" charset="-122"/>
                <a:cs typeface="Arial" pitchFamily="34" charset="-120"/>
              </a:rPr>
              <a:t>Distance</a:t>
            </a:r>
            <a:endParaRPr lang="en-US" sz="1050" dirty="0"/>
          </a:p>
        </p:txBody>
      </p:sp>
      <p:sp>
        <p:nvSpPr>
          <p:cNvPr id="15" name="Text 12"/>
          <p:cNvSpPr/>
          <p:nvPr/>
        </p:nvSpPr>
        <p:spPr>
          <a:xfrm>
            <a:off x="8720898" y="2496312"/>
            <a:ext cx="2684413" cy="365760"/>
          </a:xfrm>
          <a:prstGeom prst="rect">
            <a:avLst/>
          </a:prstGeom>
          <a:noFill/>
          <a:ln/>
        </p:spPr>
        <p:txBody>
          <a:bodyPr wrap="square" lIns="0" tIns="0" rIns="0" bIns="0" rtlCol="0" anchor="t"/>
          <a:lstStyle/>
          <a:p>
            <a:pPr indent="0" marL="0">
              <a:lnSpc>
                <a:spcPct val="110000"/>
              </a:lnSpc>
              <a:buNone/>
            </a:pPr>
            <a:r>
              <a:rPr lang="en-US" sz="1050" dirty="0">
                <a:solidFill>
                  <a:srgbClr val="BFBFBF"/>
                </a:solidFill>
                <a:latin typeface="Arial" pitchFamily="34" charset="0"/>
                <a:ea typeface="Arial" pitchFamily="34" charset="-122"/>
                <a:cs typeface="Arial" pitchFamily="34" charset="-120"/>
              </a:rPr>
              <a:t>= backtracking depth. A move of 2⁻ⁿ discards every confirmation bought at depth ≥ n.</a:t>
            </a:r>
            <a:endParaRPr lang="en-US" sz="1050" dirty="0"/>
          </a:p>
        </p:txBody>
      </p:sp>
      <p:sp>
        <p:nvSpPr>
          <p:cNvPr id="16" name="Text 13"/>
          <p:cNvSpPr/>
          <p:nvPr/>
        </p:nvSpPr>
        <p:spPr>
          <a:xfrm>
            <a:off x="6434176" y="2880360"/>
            <a:ext cx="2187300" cy="347472"/>
          </a:xfrm>
          <a:prstGeom prst="rect">
            <a:avLst/>
          </a:prstGeom>
          <a:noFill/>
          <a:ln/>
        </p:spPr>
        <p:txBody>
          <a:bodyPr wrap="square" lIns="0" tIns="0" rIns="0" bIns="0" rtlCol="0" anchor="t"/>
          <a:lstStyle/>
          <a:p>
            <a:pPr indent="0" marL="0">
              <a:buNone/>
            </a:pPr>
            <a:r>
              <a:rPr lang="en-US" sz="1050" b="1" dirty="0">
                <a:solidFill>
                  <a:srgbClr val="00B0F0"/>
                </a:solidFill>
                <a:latin typeface="Arial" pitchFamily="34" charset="0"/>
                <a:ea typeface="Arial" pitchFamily="34" charset="-122"/>
                <a:cs typeface="Arial" pitchFamily="34" charset="-120"/>
              </a:rPr>
              <a:t>Direction</a:t>
            </a:r>
            <a:endParaRPr lang="en-US" sz="1050" dirty="0"/>
          </a:p>
        </p:txBody>
      </p:sp>
      <p:sp>
        <p:nvSpPr>
          <p:cNvPr id="17" name="Text 14"/>
          <p:cNvSpPr/>
          <p:nvPr/>
        </p:nvSpPr>
        <p:spPr>
          <a:xfrm>
            <a:off x="8720898" y="2880360"/>
            <a:ext cx="2684413" cy="365760"/>
          </a:xfrm>
          <a:prstGeom prst="rect">
            <a:avLst/>
          </a:prstGeom>
          <a:noFill/>
          <a:ln/>
        </p:spPr>
        <p:txBody>
          <a:bodyPr wrap="square" lIns="0" tIns="0" rIns="0" bIns="0" rtlCol="0" anchor="t"/>
          <a:lstStyle/>
          <a:p>
            <a:pPr indent="0" marL="0">
              <a:lnSpc>
                <a:spcPct val="110000"/>
              </a:lnSpc>
              <a:buNone/>
            </a:pPr>
            <a:r>
              <a:rPr lang="en-US" sz="1050" dirty="0">
                <a:solidFill>
                  <a:srgbClr val="BFBFBF"/>
                </a:solidFill>
                <a:latin typeface="Arial" pitchFamily="34" charset="0"/>
                <a:ea typeface="Arial" pitchFamily="34" charset="-122"/>
                <a:cs typeface="Arial" pitchFamily="34" charset="-120"/>
              </a:rPr>
              <a:t>= a choice of sibling. Which structural predicate to vary; the branching is fixed by the connectives OSLF emitted.</a:t>
            </a:r>
            <a:endParaRPr lang="en-US" sz="1050" dirty="0"/>
          </a:p>
        </p:txBody>
      </p:sp>
      <p:sp>
        <p:nvSpPr>
          <p:cNvPr id="18" name="Shape 15"/>
          <p:cNvSpPr/>
          <p:nvPr/>
        </p:nvSpPr>
        <p:spPr>
          <a:xfrm>
            <a:off x="566928" y="4370832"/>
            <a:ext cx="11057839" cy="1170432"/>
          </a:xfrm>
          <a:prstGeom prst="rect">
            <a:avLst/>
          </a:prstGeom>
          <a:solidFill>
            <a:srgbClr val="0B0B0B"/>
          </a:solidFill>
          <a:ln w="9525">
            <a:solidFill>
              <a:srgbClr val="00729C"/>
            </a:solidFill>
            <a:prstDash val="solid"/>
          </a:ln>
        </p:spPr>
      </p:sp>
      <p:sp>
        <p:nvSpPr>
          <p:cNvPr id="19" name="Text 16"/>
          <p:cNvSpPr/>
          <p:nvPr/>
        </p:nvSpPr>
        <p:spPr>
          <a:xfrm>
            <a:off x="822960" y="4535424"/>
            <a:ext cx="10545775" cy="219456"/>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CHEAP MOVES ARE CONFINED  ·  UNCONFINED MOVES ARE DEAR</a:t>
            </a:r>
            <a:endParaRPr lang="en-US" sz="950" dirty="0"/>
          </a:p>
        </p:txBody>
      </p:sp>
      <p:sp>
        <p:nvSpPr>
          <p:cNvPr id="20" name="Text 17"/>
          <p:cNvSpPr/>
          <p:nvPr/>
        </p:nvSpPr>
        <p:spPr>
          <a:xfrm>
            <a:off x="822960" y="4828032"/>
            <a:ext cx="10545775" cy="566928"/>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Strategies: conservative (cheap, confined) · radical (unconfined, expensive) · adaptive, with the refutation rate as temperature — a control parameter the assays already emit as messages. A mortal scientist is not rewarded for true hypotheses but for nutritive ones, and the branching it can survey is bounded by its wealth. Poverty is confining.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THREE RESULTS</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THINGS WE DID NOT PUT IN</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Each follows from the commitments rather than being added to reach it.</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The apparatus of the scientific method stops looking like something a mind does, and starts looking like something a mind, so situated, could hardly avoid.</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1874520"/>
            <a:ext cx="3551834" cy="3657600"/>
          </a:xfrm>
          <a:prstGeom prst="rect">
            <a:avLst/>
          </a:prstGeom>
          <a:solidFill>
            <a:srgbClr val="0B0B0B"/>
          </a:solidFill>
          <a:ln w="9525">
            <a:solidFill>
              <a:srgbClr val="00729C"/>
            </a:solidFill>
            <a:prstDash val="solid"/>
          </a:ln>
        </p:spPr>
      </p:sp>
      <p:sp>
        <p:nvSpPr>
          <p:cNvPr id="10" name="Text 7"/>
          <p:cNvSpPr/>
          <p:nvPr/>
        </p:nvSpPr>
        <p:spPr>
          <a:xfrm>
            <a:off x="786384" y="20208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1</a:t>
            </a:r>
            <a:endParaRPr lang="en-US" sz="2600" dirty="0"/>
          </a:p>
        </p:txBody>
      </p:sp>
      <p:sp>
        <p:nvSpPr>
          <p:cNvPr id="11" name="Text 8"/>
          <p:cNvSpPr/>
          <p:nvPr/>
        </p:nvSpPr>
        <p:spPr>
          <a:xfrm>
            <a:off x="786384" y="25328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DESTRUCTIVE ASSAY FORCES A LOGIC OF NAMESPACES</a:t>
            </a:r>
            <a:endParaRPr lang="en-US" sz="950" dirty="0"/>
          </a:p>
        </p:txBody>
      </p:sp>
      <p:sp>
        <p:nvSpPr>
          <p:cNvPr id="12" name="Text 9"/>
          <p:cNvSpPr/>
          <p:nvPr/>
        </p:nvSpPr>
        <p:spPr>
          <a:xfrm>
            <a:off x="786384" y="3008376"/>
            <a:ext cx="3112922" cy="235915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Harvest ends the prey's computational life, so each specimen affords exactly one measurement and a hypothesis about an individual is worthless after its own first test. Only class-level hypotheses pay. Induction is not an epistemic virtue the scientist displays — it is the only strategy that survives its own testing.</a:t>
            </a:r>
            <a:endParaRPr lang="en-US" sz="1050" dirty="0"/>
          </a:p>
        </p:txBody>
      </p:sp>
      <p:sp>
        <p:nvSpPr>
          <p:cNvPr id="13" name="Shape 10"/>
          <p:cNvSpPr/>
          <p:nvPr/>
        </p:nvSpPr>
        <p:spPr>
          <a:xfrm>
            <a:off x="4319930" y="1874520"/>
            <a:ext cx="3551834" cy="3657600"/>
          </a:xfrm>
          <a:prstGeom prst="rect">
            <a:avLst/>
          </a:prstGeom>
          <a:solidFill>
            <a:srgbClr val="0B0B0B"/>
          </a:solidFill>
          <a:ln w="9525">
            <a:solidFill>
              <a:srgbClr val="00729C"/>
            </a:solidFill>
            <a:prstDash val="solid"/>
          </a:ln>
        </p:spPr>
      </p:sp>
      <p:sp>
        <p:nvSpPr>
          <p:cNvPr id="14" name="Text 11"/>
          <p:cNvSpPr/>
          <p:nvPr/>
        </p:nvSpPr>
        <p:spPr>
          <a:xfrm>
            <a:off x="4539386" y="20208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2</a:t>
            </a:r>
            <a:endParaRPr lang="en-US" sz="2600" dirty="0"/>
          </a:p>
        </p:txBody>
      </p:sp>
      <p:sp>
        <p:nvSpPr>
          <p:cNvPr id="15" name="Text 12"/>
          <p:cNvSpPr/>
          <p:nvPr/>
        </p:nvSpPr>
        <p:spPr>
          <a:xfrm>
            <a:off x="4539386" y="25328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METABOLIC VIABILITY LOWER-BOUNDS OBSERVABILITY</a:t>
            </a:r>
            <a:endParaRPr lang="en-US" sz="950" dirty="0"/>
          </a:p>
        </p:txBody>
      </p:sp>
      <p:sp>
        <p:nvSpPr>
          <p:cNvPr id="16" name="Text 13"/>
          <p:cNvSpPr/>
          <p:nvPr/>
        </p:nvSpPr>
        <p:spPr>
          <a:xfrm>
            <a:off x="4539386" y="3008376"/>
            <a:ext cx="3112922" cy="235915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The perfect defence is to close: a fully restricted computation cannot be perceived, so its metabolic channel cannot be derived. It also cannot eat. Any computation that survives indefinitely must expose surface, hence must be perceivable, hence is in principle edible. Perfect concealment is available only to the starving.</a:t>
            </a:r>
            <a:endParaRPr lang="en-US" sz="1050" dirty="0"/>
          </a:p>
        </p:txBody>
      </p:sp>
      <p:sp>
        <p:nvSpPr>
          <p:cNvPr id="17" name="Shape 14"/>
          <p:cNvSpPr/>
          <p:nvPr/>
        </p:nvSpPr>
        <p:spPr>
          <a:xfrm>
            <a:off x="8072933" y="1874520"/>
            <a:ext cx="3551834" cy="3657600"/>
          </a:xfrm>
          <a:prstGeom prst="rect">
            <a:avLst/>
          </a:prstGeom>
          <a:solidFill>
            <a:srgbClr val="0B0B0B"/>
          </a:solidFill>
          <a:ln w="9525">
            <a:solidFill>
              <a:srgbClr val="00729C"/>
            </a:solidFill>
            <a:prstDash val="solid"/>
          </a:ln>
        </p:spPr>
      </p:sp>
      <p:sp>
        <p:nvSpPr>
          <p:cNvPr id="18" name="Text 15"/>
          <p:cNvSpPr/>
          <p:nvPr/>
        </p:nvSpPr>
        <p:spPr>
          <a:xfrm>
            <a:off x="8292389" y="20208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3</a:t>
            </a:r>
            <a:endParaRPr lang="en-US" sz="2600" dirty="0"/>
          </a:p>
        </p:txBody>
      </p:sp>
      <p:sp>
        <p:nvSpPr>
          <p:cNvPr id="19" name="Text 16"/>
          <p:cNvSpPr/>
          <p:nvPr/>
        </p:nvSpPr>
        <p:spPr>
          <a:xfrm>
            <a:off x="8292389" y="25328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INFORMATION OPPOSES SURVIVAL</a:t>
            </a:r>
            <a:endParaRPr lang="en-US" sz="950" dirty="0"/>
          </a:p>
        </p:txBody>
      </p:sp>
      <p:sp>
        <p:nvSpPr>
          <p:cNvPr id="20" name="Text 17"/>
          <p:cNvSpPr/>
          <p:nvPr/>
        </p:nvSpPr>
        <p:spPr>
          <a:xfrm>
            <a:off x="8292389" y="3008376"/>
            <a:ext cx="3112922" cy="235915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Perceive: nothing learned about the interior, nothing destroyed. Assay: perturbs. Break in: fatal, and the only rung that pays. The better the theory, the faster it exhausts the environment that confirms it — success is self-terminating.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TROPHIC STRUCTURE</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A SOURCE AND A PREY DIFFER BY ACCESS PROFILE</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The sun is a finite reservoir in a system where energy is conserved. Openness is a bookkeeping artefact of where the boundary was drawn — so conservation is the picture at the correct scope.</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1874520"/>
            <a:ext cx="6492057" cy="2331720"/>
          </a:xfrm>
          <a:prstGeom prst="rect">
            <a:avLst/>
          </a:prstGeom>
          <a:solidFill>
            <a:srgbClr val="0B0B0B"/>
          </a:solidFill>
          <a:ln w="9525">
            <a:solidFill>
              <a:srgbClr val="00729C"/>
            </a:solidFill>
            <a:prstDash val="solid"/>
          </a:ln>
        </p:spPr>
      </p:sp>
      <p:sp>
        <p:nvSpPr>
          <p:cNvPr id="9" name="Text 6"/>
          <p:cNvSpPr/>
          <p:nvPr/>
        </p:nvSpPr>
        <p:spPr>
          <a:xfrm>
            <a:off x="822960" y="2048256"/>
            <a:ext cx="2057400" cy="310896"/>
          </a:xfrm>
          <a:prstGeom prst="rect">
            <a:avLst/>
          </a:prstGeom>
          <a:noFill/>
          <a:ln/>
        </p:spPr>
        <p:txBody>
          <a:bodyPr wrap="square" lIns="0" tIns="0" rIns="0" bIns="0" rtlCol="0" anchor="t"/>
          <a:lstStyle/>
          <a:p>
            <a:pPr indent="0" marL="0">
              <a:buNone/>
            </a:pPr>
            <a:endParaRPr lang="en-US" sz="1050" dirty="0"/>
          </a:p>
        </p:txBody>
      </p:sp>
      <p:sp>
        <p:nvSpPr>
          <p:cNvPr id="10" name="Text 7"/>
          <p:cNvSpPr/>
          <p:nvPr/>
        </p:nvSpPr>
        <p:spPr>
          <a:xfrm>
            <a:off x="2944368" y="2048256"/>
            <a:ext cx="2057400" cy="329184"/>
          </a:xfrm>
          <a:prstGeom prst="rect">
            <a:avLst/>
          </a:prstGeom>
          <a:noFill/>
          <a:ln/>
        </p:spPr>
        <p:txBody>
          <a:bodyPr wrap="square" lIns="0" tIns="0" rIns="0" bIns="0" rtlCol="0" anchor="t"/>
          <a:lstStyle/>
          <a:p>
            <a:pPr indent="0" marL="0">
              <a:lnSpc>
                <a:spcPct val="105000"/>
              </a:lnSpc>
              <a:buNone/>
            </a:pPr>
            <a:r>
              <a:rPr lang="en-US" sz="1050" b="1" spc="120" kern="0" dirty="0">
                <a:solidFill>
                  <a:srgbClr val="00B0F0"/>
                </a:solidFill>
                <a:latin typeface="Arial" pitchFamily="34" charset="0"/>
                <a:ea typeface="Arial" pitchFamily="34" charset="-122"/>
                <a:cs typeface="Arial" pitchFamily="34" charset="-120"/>
              </a:rPr>
              <a:t>A SOURCE</a:t>
            </a:r>
            <a:endParaRPr lang="en-US" sz="1050" dirty="0"/>
          </a:p>
        </p:txBody>
      </p:sp>
      <p:sp>
        <p:nvSpPr>
          <p:cNvPr id="11" name="Text 8"/>
          <p:cNvSpPr/>
          <p:nvPr/>
        </p:nvSpPr>
        <p:spPr>
          <a:xfrm>
            <a:off x="5047488" y="2048256"/>
            <a:ext cx="2322393" cy="329184"/>
          </a:xfrm>
          <a:prstGeom prst="rect">
            <a:avLst/>
          </a:prstGeom>
          <a:noFill/>
          <a:ln/>
        </p:spPr>
        <p:txBody>
          <a:bodyPr wrap="square" lIns="0" tIns="0" rIns="0" bIns="0" rtlCol="0" anchor="t"/>
          <a:lstStyle/>
          <a:p>
            <a:pPr indent="0" marL="0">
              <a:lnSpc>
                <a:spcPct val="105000"/>
              </a:lnSpc>
              <a:buNone/>
            </a:pPr>
            <a:r>
              <a:rPr lang="en-US" sz="1050" b="1" spc="120" kern="0" dirty="0">
                <a:solidFill>
                  <a:srgbClr val="00B0F0"/>
                </a:solidFill>
                <a:latin typeface="Arial" pitchFamily="34" charset="0"/>
                <a:ea typeface="Arial" pitchFamily="34" charset="-122"/>
                <a:cs typeface="Arial" pitchFamily="34" charset="-120"/>
              </a:rPr>
              <a:t>A PREY</a:t>
            </a:r>
            <a:endParaRPr lang="en-US" sz="1050" dirty="0"/>
          </a:p>
        </p:txBody>
      </p:sp>
      <p:sp>
        <p:nvSpPr>
          <p:cNvPr id="12" name="Text 9"/>
          <p:cNvSpPr/>
          <p:nvPr/>
        </p:nvSpPr>
        <p:spPr>
          <a:xfrm>
            <a:off x="822960" y="2414016"/>
            <a:ext cx="2057400" cy="310896"/>
          </a:xfrm>
          <a:prstGeom prst="rect">
            <a:avLst/>
          </a:prstGeom>
          <a:noFill/>
          <a:ln/>
        </p:spPr>
        <p:txBody>
          <a:bodyPr wrap="square" lIns="0" tIns="0" rIns="0" bIns="0" rtlCol="0" anchor="t"/>
          <a:lstStyle/>
          <a:p>
            <a:pPr indent="0" marL="0">
              <a:buNone/>
            </a:pPr>
            <a:r>
              <a:rPr lang="en-US" sz="1050" i="1" dirty="0">
                <a:solidFill>
                  <a:srgbClr val="8C8C8C"/>
                </a:solidFill>
                <a:latin typeface="Arial" pitchFamily="34" charset="0"/>
                <a:ea typeface="Arial" pitchFamily="34" charset="-122"/>
                <a:cs typeface="Arial" pitchFamily="34" charset="-120"/>
              </a:rPr>
              <a:t>release</a:t>
            </a:r>
            <a:endParaRPr lang="en-US" sz="1050" dirty="0"/>
          </a:p>
        </p:txBody>
      </p:sp>
      <p:sp>
        <p:nvSpPr>
          <p:cNvPr id="13" name="Text 10"/>
          <p:cNvSpPr/>
          <p:nvPr/>
        </p:nvSpPr>
        <p:spPr>
          <a:xfrm>
            <a:off x="2944368" y="2414016"/>
            <a:ext cx="2057400" cy="329184"/>
          </a:xfrm>
          <a:prstGeom prst="rect">
            <a:avLst/>
          </a:prstGeom>
          <a:noFill/>
          <a:ln/>
        </p:spPr>
        <p:txBody>
          <a:bodyPr wrap="square" lIns="0" tIns="0" rIns="0" bIns="0" rtlCol="0" anchor="t"/>
          <a:lstStyle/>
          <a:p>
            <a:pPr indent="0" marL="0">
              <a:lnSpc>
                <a:spcPct val="105000"/>
              </a:lnSpc>
              <a:buNone/>
            </a:pPr>
            <a:r>
              <a:rPr lang="en-US" sz="1050" dirty="0">
                <a:solidFill>
                  <a:srgbClr val="BFBFBF"/>
                </a:solidFill>
                <a:latin typeface="Arial" pitchFamily="34" charset="0"/>
                <a:ea typeface="Arial" pitchFamily="34" charset="-122"/>
                <a:cs typeface="Arial" pitchFamily="34" charset="-120"/>
              </a:rPr>
              <a:t>rate-limited; cannot be forced</a:t>
            </a:r>
            <a:endParaRPr lang="en-US" sz="1050" dirty="0"/>
          </a:p>
        </p:txBody>
      </p:sp>
      <p:sp>
        <p:nvSpPr>
          <p:cNvPr id="14" name="Text 11"/>
          <p:cNvSpPr/>
          <p:nvPr/>
        </p:nvSpPr>
        <p:spPr>
          <a:xfrm>
            <a:off x="5047488" y="2414016"/>
            <a:ext cx="2322393" cy="329184"/>
          </a:xfrm>
          <a:prstGeom prst="rect">
            <a:avLst/>
          </a:prstGeom>
          <a:noFill/>
          <a:ln/>
        </p:spPr>
        <p:txBody>
          <a:bodyPr wrap="square" lIns="0" tIns="0" rIns="0" bIns="0" rtlCol="0" anchor="t"/>
          <a:lstStyle/>
          <a:p>
            <a:pPr indent="0" marL="0">
              <a:lnSpc>
                <a:spcPct val="105000"/>
              </a:lnSpc>
              <a:buNone/>
            </a:pPr>
            <a:r>
              <a:rPr lang="en-US" sz="1050" dirty="0">
                <a:solidFill>
                  <a:srgbClr val="BFBFBF"/>
                </a:solidFill>
                <a:latin typeface="Arial" pitchFamily="34" charset="0"/>
                <a:ea typeface="Arial" pitchFamily="34" charset="-122"/>
                <a:cs typeface="Arial" pitchFamily="34" charset="-120"/>
              </a:rPr>
              <a:t>a single linear send</a:t>
            </a:r>
            <a:endParaRPr lang="en-US" sz="1050" dirty="0"/>
          </a:p>
        </p:txBody>
      </p:sp>
      <p:sp>
        <p:nvSpPr>
          <p:cNvPr id="15" name="Text 12"/>
          <p:cNvSpPr/>
          <p:nvPr/>
        </p:nvSpPr>
        <p:spPr>
          <a:xfrm>
            <a:off x="822960" y="2779776"/>
            <a:ext cx="2057400" cy="310896"/>
          </a:xfrm>
          <a:prstGeom prst="rect">
            <a:avLst/>
          </a:prstGeom>
          <a:noFill/>
          <a:ln/>
        </p:spPr>
        <p:txBody>
          <a:bodyPr wrap="square" lIns="0" tIns="0" rIns="0" bIns="0" rtlCol="0" anchor="t"/>
          <a:lstStyle/>
          <a:p>
            <a:pPr indent="0" marL="0">
              <a:buNone/>
            </a:pPr>
            <a:r>
              <a:rPr lang="en-US" sz="1050" i="1" dirty="0">
                <a:solidFill>
                  <a:srgbClr val="8C8C8C"/>
                </a:solidFill>
                <a:latin typeface="Arial" pitchFamily="34" charset="0"/>
                <a:ea typeface="Arial" pitchFamily="34" charset="-122"/>
                <a:cs typeface="Arial" pitchFamily="34" charset="-120"/>
              </a:rPr>
              <a:t>exhaustible</a:t>
            </a:r>
            <a:endParaRPr lang="en-US" sz="1050" dirty="0"/>
          </a:p>
        </p:txBody>
      </p:sp>
      <p:sp>
        <p:nvSpPr>
          <p:cNvPr id="16" name="Text 13"/>
          <p:cNvSpPr/>
          <p:nvPr/>
        </p:nvSpPr>
        <p:spPr>
          <a:xfrm>
            <a:off x="2944368" y="2779776"/>
            <a:ext cx="2057400" cy="329184"/>
          </a:xfrm>
          <a:prstGeom prst="rect">
            <a:avLst/>
          </a:prstGeom>
          <a:noFill/>
          <a:ln/>
        </p:spPr>
        <p:txBody>
          <a:bodyPr wrap="square" lIns="0" tIns="0" rIns="0" bIns="0" rtlCol="0" anchor="t"/>
          <a:lstStyle/>
          <a:p>
            <a:pPr indent="0" marL="0">
              <a:lnSpc>
                <a:spcPct val="105000"/>
              </a:lnSpc>
              <a:buNone/>
            </a:pPr>
            <a:r>
              <a:rPr lang="en-US" sz="1050" dirty="0">
                <a:solidFill>
                  <a:srgbClr val="BFBFBF"/>
                </a:solidFill>
                <a:latin typeface="Arial" pitchFamily="34" charset="0"/>
                <a:ea typeface="Arial" pitchFamily="34" charset="-122"/>
                <a:cs typeface="Arial" pitchFamily="34" charset="-120"/>
              </a:rPr>
              <a:t>no</a:t>
            </a:r>
            <a:endParaRPr lang="en-US" sz="1050" dirty="0"/>
          </a:p>
        </p:txBody>
      </p:sp>
      <p:sp>
        <p:nvSpPr>
          <p:cNvPr id="17" name="Text 14"/>
          <p:cNvSpPr/>
          <p:nvPr/>
        </p:nvSpPr>
        <p:spPr>
          <a:xfrm>
            <a:off x="5047488" y="2779776"/>
            <a:ext cx="2322393" cy="329184"/>
          </a:xfrm>
          <a:prstGeom prst="rect">
            <a:avLst/>
          </a:prstGeom>
          <a:noFill/>
          <a:ln/>
        </p:spPr>
        <p:txBody>
          <a:bodyPr wrap="square" lIns="0" tIns="0" rIns="0" bIns="0" rtlCol="0" anchor="t"/>
          <a:lstStyle/>
          <a:p>
            <a:pPr indent="0" marL="0">
              <a:lnSpc>
                <a:spcPct val="105000"/>
              </a:lnSpc>
              <a:buNone/>
            </a:pPr>
            <a:r>
              <a:rPr lang="en-US" sz="1050" dirty="0">
                <a:solidFill>
                  <a:srgbClr val="BFBFBF"/>
                </a:solidFill>
                <a:latin typeface="Arial" pitchFamily="34" charset="0"/>
                <a:ea typeface="Arial" pitchFamily="34" charset="-122"/>
                <a:cs typeface="Arial" pitchFamily="34" charset="-120"/>
              </a:rPr>
              <a:t>yes</a:t>
            </a:r>
            <a:endParaRPr lang="en-US" sz="1050" dirty="0"/>
          </a:p>
        </p:txBody>
      </p:sp>
      <p:sp>
        <p:nvSpPr>
          <p:cNvPr id="18" name="Text 15"/>
          <p:cNvSpPr/>
          <p:nvPr/>
        </p:nvSpPr>
        <p:spPr>
          <a:xfrm>
            <a:off x="822960" y="3145536"/>
            <a:ext cx="2057400" cy="310896"/>
          </a:xfrm>
          <a:prstGeom prst="rect">
            <a:avLst/>
          </a:prstGeom>
          <a:noFill/>
          <a:ln/>
        </p:spPr>
        <p:txBody>
          <a:bodyPr wrap="square" lIns="0" tIns="0" rIns="0" bIns="0" rtlCol="0" anchor="t"/>
          <a:lstStyle/>
          <a:p>
            <a:pPr indent="0" marL="0">
              <a:buNone/>
            </a:pPr>
            <a:r>
              <a:rPr lang="en-US" sz="1050" i="1" dirty="0">
                <a:solidFill>
                  <a:srgbClr val="8C8C8C"/>
                </a:solidFill>
                <a:latin typeface="Arial" pitchFamily="34" charset="0"/>
                <a:ea typeface="Arial" pitchFamily="34" charset="-122"/>
                <a:cs typeface="Arial" pitchFamily="34" charset="-120"/>
              </a:rPr>
              <a:t>exclusive</a:t>
            </a:r>
            <a:endParaRPr lang="en-US" sz="1050" dirty="0"/>
          </a:p>
        </p:txBody>
      </p:sp>
      <p:sp>
        <p:nvSpPr>
          <p:cNvPr id="19" name="Text 16"/>
          <p:cNvSpPr/>
          <p:nvPr/>
        </p:nvSpPr>
        <p:spPr>
          <a:xfrm>
            <a:off x="2944368" y="3145536"/>
            <a:ext cx="2057400" cy="329184"/>
          </a:xfrm>
          <a:prstGeom prst="rect">
            <a:avLst/>
          </a:prstGeom>
          <a:noFill/>
          <a:ln/>
        </p:spPr>
        <p:txBody>
          <a:bodyPr wrap="square" lIns="0" tIns="0" rIns="0" bIns="0" rtlCol="0" anchor="t"/>
          <a:lstStyle/>
          <a:p>
            <a:pPr indent="0" marL="0">
              <a:lnSpc>
                <a:spcPct val="105000"/>
              </a:lnSpc>
              <a:buNone/>
            </a:pPr>
            <a:r>
              <a:rPr lang="en-US" sz="1050" dirty="0">
                <a:solidFill>
                  <a:srgbClr val="BFBFBF"/>
                </a:solidFill>
                <a:latin typeface="Arial" pitchFamily="34" charset="0"/>
                <a:ea typeface="Arial" pitchFamily="34" charset="-122"/>
                <a:cs typeface="Arial" pitchFamily="34" charset="-120"/>
              </a:rPr>
              <a:t>no — many may harvest</a:t>
            </a:r>
            <a:endParaRPr lang="en-US" sz="1050" dirty="0"/>
          </a:p>
        </p:txBody>
      </p:sp>
      <p:sp>
        <p:nvSpPr>
          <p:cNvPr id="20" name="Text 17"/>
          <p:cNvSpPr/>
          <p:nvPr/>
        </p:nvSpPr>
        <p:spPr>
          <a:xfrm>
            <a:off x="5047488" y="3145536"/>
            <a:ext cx="2322393" cy="329184"/>
          </a:xfrm>
          <a:prstGeom prst="rect">
            <a:avLst/>
          </a:prstGeom>
          <a:noFill/>
          <a:ln/>
        </p:spPr>
        <p:txBody>
          <a:bodyPr wrap="square" lIns="0" tIns="0" rIns="0" bIns="0" rtlCol="0" anchor="t"/>
          <a:lstStyle/>
          <a:p>
            <a:pPr indent="0" marL="0">
              <a:lnSpc>
                <a:spcPct val="105000"/>
              </a:lnSpc>
              <a:buNone/>
            </a:pPr>
            <a:r>
              <a:rPr lang="en-US" sz="1050" dirty="0">
                <a:solidFill>
                  <a:srgbClr val="BFBFBF"/>
                </a:solidFill>
                <a:latin typeface="Arial" pitchFamily="34" charset="0"/>
                <a:ea typeface="Arial" pitchFamily="34" charset="-122"/>
                <a:cs typeface="Arial" pitchFamily="34" charset="-120"/>
              </a:rPr>
              <a:t>yes — a linear receipt</a:t>
            </a:r>
            <a:endParaRPr lang="en-US" sz="1050" dirty="0"/>
          </a:p>
        </p:txBody>
      </p:sp>
      <p:sp>
        <p:nvSpPr>
          <p:cNvPr id="21" name="Text 18"/>
          <p:cNvSpPr/>
          <p:nvPr/>
        </p:nvSpPr>
        <p:spPr>
          <a:xfrm>
            <a:off x="822960" y="3511296"/>
            <a:ext cx="2057400" cy="310896"/>
          </a:xfrm>
          <a:prstGeom prst="rect">
            <a:avLst/>
          </a:prstGeom>
          <a:noFill/>
          <a:ln/>
        </p:spPr>
        <p:txBody>
          <a:bodyPr wrap="square" lIns="0" tIns="0" rIns="0" bIns="0" rtlCol="0" anchor="t"/>
          <a:lstStyle/>
          <a:p>
            <a:pPr indent="0" marL="0">
              <a:buNone/>
            </a:pPr>
            <a:r>
              <a:rPr lang="en-US" sz="1050" i="1" dirty="0">
                <a:solidFill>
                  <a:srgbClr val="8C8C8C"/>
                </a:solidFill>
                <a:latin typeface="Arial" pitchFamily="34" charset="0"/>
                <a:ea typeface="Arial" pitchFamily="34" charset="-122"/>
                <a:cs typeface="Arial" pitchFamily="34" charset="-120"/>
              </a:rPr>
              <a:t>adaptive</a:t>
            </a:r>
            <a:endParaRPr lang="en-US" sz="1050" dirty="0"/>
          </a:p>
        </p:txBody>
      </p:sp>
      <p:sp>
        <p:nvSpPr>
          <p:cNvPr id="22" name="Text 19"/>
          <p:cNvSpPr/>
          <p:nvPr/>
        </p:nvSpPr>
        <p:spPr>
          <a:xfrm>
            <a:off x="2944368" y="3511296"/>
            <a:ext cx="2057400" cy="329184"/>
          </a:xfrm>
          <a:prstGeom prst="rect">
            <a:avLst/>
          </a:prstGeom>
          <a:noFill/>
          <a:ln/>
        </p:spPr>
        <p:txBody>
          <a:bodyPr wrap="square" lIns="0" tIns="0" rIns="0" bIns="0" rtlCol="0" anchor="t"/>
          <a:lstStyle/>
          <a:p>
            <a:pPr indent="0" marL="0">
              <a:lnSpc>
                <a:spcPct val="105000"/>
              </a:lnSpc>
              <a:buNone/>
            </a:pPr>
            <a:r>
              <a:rPr lang="en-US" sz="1050" dirty="0">
                <a:solidFill>
                  <a:srgbClr val="BFBFBF"/>
                </a:solidFill>
                <a:latin typeface="Arial" pitchFamily="34" charset="0"/>
                <a:ea typeface="Arial" pitchFamily="34" charset="-122"/>
                <a:cs typeface="Arial" pitchFamily="34" charset="-120"/>
              </a:rPr>
              <a:t>no</a:t>
            </a:r>
            <a:endParaRPr lang="en-US" sz="1050" dirty="0"/>
          </a:p>
        </p:txBody>
      </p:sp>
      <p:sp>
        <p:nvSpPr>
          <p:cNvPr id="23" name="Text 20"/>
          <p:cNvSpPr/>
          <p:nvPr/>
        </p:nvSpPr>
        <p:spPr>
          <a:xfrm>
            <a:off x="5047488" y="3511296"/>
            <a:ext cx="2322393" cy="329184"/>
          </a:xfrm>
          <a:prstGeom prst="rect">
            <a:avLst/>
          </a:prstGeom>
          <a:noFill/>
          <a:ln/>
        </p:spPr>
        <p:txBody>
          <a:bodyPr wrap="square" lIns="0" tIns="0" rIns="0" bIns="0" rtlCol="0" anchor="t"/>
          <a:lstStyle/>
          <a:p>
            <a:pPr indent="0" marL="0">
              <a:lnSpc>
                <a:spcPct val="105000"/>
              </a:lnSpc>
              <a:buNone/>
            </a:pPr>
            <a:r>
              <a:rPr lang="en-US" sz="1050" dirty="0">
                <a:solidFill>
                  <a:srgbClr val="BFBFBF"/>
                </a:solidFill>
                <a:latin typeface="Arial" pitchFamily="34" charset="0"/>
                <a:ea typeface="Arial" pitchFamily="34" charset="-122"/>
                <a:cs typeface="Arial" pitchFamily="34" charset="-120"/>
              </a:rPr>
              <a:t>yes, and it models you back</a:t>
            </a:r>
            <a:endParaRPr lang="en-US" sz="1050" dirty="0"/>
          </a:p>
        </p:txBody>
      </p:sp>
      <p:sp>
        <p:nvSpPr>
          <p:cNvPr id="24" name="Text 21"/>
          <p:cNvSpPr/>
          <p:nvPr/>
        </p:nvSpPr>
        <p:spPr>
          <a:xfrm>
            <a:off x="822960" y="3822192"/>
            <a:ext cx="5979993" cy="274320"/>
          </a:xfrm>
          <a:prstGeom prst="rect">
            <a:avLst/>
          </a:prstGeom>
          <a:noFill/>
          <a:ln/>
        </p:spPr>
        <p:txBody>
          <a:bodyPr wrap="square" lIns="0" tIns="0" rIns="0" bIns="0" rtlCol="0" anchor="t"/>
          <a:lstStyle/>
          <a:p>
            <a:pPr indent="0" marL="0">
              <a:buNone/>
            </a:pPr>
            <a:r>
              <a:rPr lang="en-US" sz="1000" i="1" dirty="0">
                <a:solidFill>
                  <a:srgbClr val="F7E478"/>
                </a:solidFill>
                <a:latin typeface="Arial" pitchFamily="34" charset="0"/>
                <a:ea typeface="Arial" pitchFamily="34" charset="-122"/>
                <a:cs typeface="Arial" pitchFamily="34" charset="-120"/>
              </a:rPr>
              <a:t>persistent emitter  vs.  linear send — same sort, same rewrite rule, different multiplicity</a:t>
            </a:r>
            <a:endParaRPr lang="en-US" sz="1000" dirty="0"/>
          </a:p>
        </p:txBody>
      </p:sp>
      <p:sp>
        <p:nvSpPr>
          <p:cNvPr id="25" name="Shape 22"/>
          <p:cNvSpPr/>
          <p:nvPr/>
        </p:nvSpPr>
        <p:spPr>
          <a:xfrm>
            <a:off x="7296729" y="1874520"/>
            <a:ext cx="4328038" cy="2331720"/>
          </a:xfrm>
          <a:prstGeom prst="rect">
            <a:avLst/>
          </a:prstGeom>
          <a:solidFill>
            <a:srgbClr val="0B0B0B"/>
          </a:solidFill>
          <a:ln w="9525">
            <a:solidFill>
              <a:srgbClr val="00729C"/>
            </a:solidFill>
            <a:prstDash val="solid"/>
          </a:ln>
        </p:spPr>
      </p:sp>
      <p:sp>
        <p:nvSpPr>
          <p:cNvPr id="26" name="Text 23"/>
          <p:cNvSpPr/>
          <p:nvPr/>
        </p:nvSpPr>
        <p:spPr>
          <a:xfrm>
            <a:off x="7552761" y="2048256"/>
            <a:ext cx="3815974" cy="237744"/>
          </a:xfrm>
          <a:prstGeom prst="rect">
            <a:avLst/>
          </a:prstGeom>
          <a:noFill/>
          <a:ln/>
        </p:spPr>
        <p:txBody>
          <a:bodyPr wrap="square" lIns="0" tIns="0" rIns="0" bIns="0" rtlCol="0" anchor="t"/>
          <a:lstStyle/>
          <a:p>
            <a:pPr indent="0" marL="0">
              <a:buNone/>
            </a:pPr>
            <a:r>
              <a:rPr lang="en-US" sz="950" b="1" spc="140" kern="0" dirty="0">
                <a:solidFill>
                  <a:srgbClr val="00B0F0"/>
                </a:solidFill>
                <a:latin typeface="Arial" pitchFamily="34" charset="0"/>
                <a:ea typeface="Arial" pitchFamily="34" charset="-122"/>
                <a:cs typeface="Arial" pitchFamily="34" charset="-120"/>
              </a:rPr>
              <a:t>THE TWO SCIENCES</a:t>
            </a:r>
            <a:endParaRPr lang="en-US" sz="950" dirty="0"/>
          </a:p>
        </p:txBody>
      </p:sp>
      <p:sp>
        <p:nvSpPr>
          <p:cNvPr id="27" name="Text 24"/>
          <p:cNvSpPr/>
          <p:nvPr/>
        </p:nvSpPr>
        <p:spPr>
          <a:xfrm>
            <a:off x="7552761" y="2395728"/>
            <a:ext cx="3815974" cy="1645920"/>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A source is a structurally regular, non-adaptive recursion, so its complete theory is exact at a finite unfolding: the source-feeder's inquiry converges and its epistemic outlay falls to rent on a fixed formula.</a:t>
            </a:r>
            <a:endParaRPr lang="en-US" sz="1100" dirty="0"/>
          </a:p>
          <a:p>
            <a:pPr indent="0" marL="0">
              <a:lnSpc>
                <a:spcPct val="116000"/>
              </a:lnSpc>
              <a:buNone/>
            </a:pPr>
            <a:endParaRPr lang="en-US" sz="1100" dirty="0"/>
          </a:p>
          <a:p>
            <a:pPr indent="0" marL="0">
              <a:lnSpc>
                <a:spcPct val="116000"/>
              </a:lnSpc>
              <a:buNone/>
            </a:pPr>
            <a:r>
              <a:rPr lang="en-US" sz="1100" dirty="0">
                <a:solidFill>
                  <a:srgbClr val="BFBFBF"/>
                </a:solidFill>
                <a:latin typeface="Arial" pitchFamily="34" charset="0"/>
                <a:ea typeface="Arial" pitchFamily="34" charset="-122"/>
                <a:cs typeface="Arial" pitchFamily="34" charset="-120"/>
              </a:rPr>
              <a:t>A prey is a mortal computation that revises against you. No finite theory is ever complete, and the cost is permanent.</a:t>
            </a:r>
            <a:endParaRPr lang="en-US" sz="1100" dirty="0"/>
          </a:p>
        </p:txBody>
      </p:sp>
      <p:sp>
        <p:nvSpPr>
          <p:cNvPr id="28" name="Shape 25"/>
          <p:cNvSpPr/>
          <p:nvPr/>
        </p:nvSpPr>
        <p:spPr>
          <a:xfrm>
            <a:off x="566928" y="4370832"/>
            <a:ext cx="11057839" cy="1170432"/>
          </a:xfrm>
          <a:prstGeom prst="rect">
            <a:avLst/>
          </a:prstGeom>
          <a:solidFill>
            <a:srgbClr val="0B0B0B"/>
          </a:solidFill>
          <a:ln w="9525">
            <a:solidFill>
              <a:srgbClr val="00729C"/>
            </a:solidFill>
            <a:prstDash val="solid"/>
          </a:ln>
        </p:spPr>
      </p:sp>
      <p:sp>
        <p:nvSpPr>
          <p:cNvPr id="29" name="Text 26"/>
          <p:cNvSpPr/>
          <p:nvPr/>
        </p:nvSpPr>
        <p:spPr>
          <a:xfrm>
            <a:off x="822960" y="4535424"/>
            <a:ext cx="10545775" cy="219456"/>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INTELLIGENCE IS A HETEROTROPH'S EXPENSE</a:t>
            </a:r>
            <a:endParaRPr lang="en-US" sz="950" dirty="0"/>
          </a:p>
        </p:txBody>
      </p:sp>
      <p:sp>
        <p:nvSpPr>
          <p:cNvPr id="30" name="Text 27"/>
          <p:cNvSpPr/>
          <p:nvPr/>
        </p:nvSpPr>
        <p:spPr>
          <a:xfrm>
            <a:off x="822960" y="4828032"/>
            <a:ext cx="10545775" cy="566928"/>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Plants do not need brains because the sun is the environment whose complete theory is affordable. That this is also true of the Earth we take as corroboration of the modelling, not as its source.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REPRODUCTION — THE UNIT MOVES</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THE GERM IS A QUOTATION</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@Code does not reduce: it does not metabolise, does not age, and burns nothing while held. *@Code runs, and the meter starts. Reflection is the germ line.</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Confinement is why this matters: a crossover at a shallow locus reaches distance 2⁻¹, which Proposition 13 denies any individual. The lineage is the second unit of learning.</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1874520"/>
            <a:ext cx="3551834" cy="3657600"/>
          </a:xfrm>
          <a:prstGeom prst="rect">
            <a:avLst/>
          </a:prstGeom>
          <a:solidFill>
            <a:srgbClr val="0B0B0B"/>
          </a:solidFill>
          <a:ln w="9525">
            <a:solidFill>
              <a:srgbClr val="00729C"/>
            </a:solidFill>
            <a:prstDash val="solid"/>
          </a:ln>
        </p:spPr>
      </p:sp>
      <p:sp>
        <p:nvSpPr>
          <p:cNvPr id="10" name="Text 7"/>
          <p:cNvSpPr/>
          <p:nvPr/>
        </p:nvSpPr>
        <p:spPr>
          <a:xfrm>
            <a:off x="786384"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 LOCUS IS A CONTEXT</a:t>
            </a:r>
            <a:endParaRPr lang="en-US" sz="950" dirty="0"/>
          </a:p>
        </p:txBody>
      </p:sp>
      <p:sp>
        <p:nvSpPr>
          <p:cNvPr id="11" name="Text 8"/>
          <p:cNvSpPr/>
          <p:nvPr/>
        </p:nvSpPr>
        <p:spPr>
          <a:xfrm>
            <a:off x="786384" y="2496312"/>
            <a:ext cx="3112922" cy="287121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The normal form recurses, so a genome is a tree of parallel compositions whose edges are prefixes. A locus is the one-hole context K from root to hole — the same contexts the modality ⟨Kⱼ⟩ already labels. Homology is agreement of channel path and binding environment, so reproductive isolation is namespace disjointness and a species is a formula.</a:t>
            </a:r>
            <a:endParaRPr lang="en-US" sz="1050" dirty="0"/>
          </a:p>
        </p:txBody>
      </p:sp>
      <p:sp>
        <p:nvSpPr>
          <p:cNvPr id="12" name="Shape 9"/>
          <p:cNvSpPr/>
          <p:nvPr/>
        </p:nvSpPr>
        <p:spPr>
          <a:xfrm>
            <a:off x="4319930" y="1874520"/>
            <a:ext cx="3551834" cy="3657600"/>
          </a:xfrm>
          <a:prstGeom prst="rect">
            <a:avLst/>
          </a:prstGeom>
          <a:solidFill>
            <a:srgbClr val="0B0B0B"/>
          </a:solidFill>
          <a:ln w="9525">
            <a:solidFill>
              <a:srgbClr val="00729C"/>
            </a:solidFill>
            <a:prstDash val="solid"/>
          </a:ln>
        </p:spPr>
      </p:sp>
      <p:sp>
        <p:nvSpPr>
          <p:cNvPr id="13" name="Text 10"/>
          <p:cNvSpPr/>
          <p:nvPr/>
        </p:nvSpPr>
        <p:spPr>
          <a:xfrm>
            <a:off x="4539386"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THE UNIT OF HEREDITY IS A REDEX</a:t>
            </a:r>
            <a:endParaRPr lang="en-US" sz="950" dirty="0"/>
          </a:p>
        </p:txBody>
      </p:sp>
      <p:sp>
        <p:nvSpPr>
          <p:cNvPr id="14" name="Text 11"/>
          <p:cNvSpPr/>
          <p:nvPr/>
        </p:nvSpPr>
        <p:spPr>
          <a:xfrm>
            <a:off x="4539386" y="2496312"/>
            <a:ext cx="3112922" cy="287121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Swap communicating pairs, not parands: a gene is an interaction, not a piece of structure, and linkage is derived rather than posited. Balance is preserved exactly when the swap is channel-degree preserving — so preserving races is the side condition that makes the guarantee hold, not a second benefit.</a:t>
            </a:r>
            <a:endParaRPr lang="en-US" sz="1050" dirty="0"/>
          </a:p>
        </p:txBody>
      </p:sp>
      <p:sp>
        <p:nvSpPr>
          <p:cNvPr id="15" name="Shape 12"/>
          <p:cNvSpPr/>
          <p:nvPr/>
        </p:nvSpPr>
        <p:spPr>
          <a:xfrm>
            <a:off x="8072933" y="1874520"/>
            <a:ext cx="3551834" cy="3657600"/>
          </a:xfrm>
          <a:prstGeom prst="rect">
            <a:avLst/>
          </a:prstGeom>
          <a:solidFill>
            <a:srgbClr val="0B0B0B"/>
          </a:solidFill>
          <a:ln w="9525">
            <a:solidFill>
              <a:srgbClr val="00729C"/>
            </a:solidFill>
            <a:prstDash val="solid"/>
          </a:ln>
        </p:spPr>
      </p:sp>
      <p:sp>
        <p:nvSpPr>
          <p:cNvPr id="16" name="Text 13"/>
          <p:cNvSpPr/>
          <p:nvPr/>
        </p:nvSpPr>
        <p:spPr>
          <a:xfrm>
            <a:off x="8292389" y="20208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SELECTION IS POST HOC</a:t>
            </a:r>
            <a:endParaRPr lang="en-US" sz="950" dirty="0"/>
          </a:p>
        </p:txBody>
      </p:sp>
      <p:sp>
        <p:nvSpPr>
          <p:cNvPr id="17" name="Text 14"/>
          <p:cNvSpPr/>
          <p:nvPr/>
        </p:nvSpPr>
        <p:spPr>
          <a:xfrm>
            <a:off x="8292389" y="2496312"/>
            <a:ext cx="3112922" cy="287121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Viability is a formula — closure, reading frame, balance, liveness — so screening an embryo is model checking, and model checking is priced. A parent cannot emit only viable offspring, not for want of a criterion but because applying it is unaffordable. Were checking free, parents would design and selection would have nothing to do.</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ECOLOGIES</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SCIENCE IS A PHASE, NOT A UNIVERSAL ADVANTAGE</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Θ is fixed, so a world is a partition of a conserved quantity and a distribution over configurations is a microcanonical ensemble — exactly, because conservation is exact.</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MORTAL SCIENTIST</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1874520"/>
            <a:ext cx="4544440" cy="3657600"/>
          </a:xfrm>
          <a:prstGeom prst="rect">
            <a:avLst/>
          </a:prstGeom>
          <a:solidFill>
            <a:srgbClr val="0B0B0B"/>
          </a:solidFill>
          <a:ln w="9525">
            <a:solidFill>
              <a:srgbClr val="00729C"/>
            </a:solidFill>
            <a:prstDash val="solid"/>
          </a:ln>
        </p:spPr>
      </p:sp>
      <p:sp>
        <p:nvSpPr>
          <p:cNvPr id="9" name="Shape 6"/>
          <p:cNvSpPr/>
          <p:nvPr/>
        </p:nvSpPr>
        <p:spPr>
          <a:xfrm>
            <a:off x="1527048" y="2487168"/>
            <a:ext cx="3172840" cy="2651760"/>
          </a:xfrm>
          <a:prstGeom prst="rect">
            <a:avLst/>
          </a:prstGeom>
          <a:solidFill>
            <a:srgbClr val="07141B"/>
          </a:solidFill>
          <a:ln w="9525">
            <a:solidFill>
              <a:srgbClr val="00729C"/>
            </a:solidFill>
            <a:prstDash val="solid"/>
          </a:ln>
        </p:spPr>
      </p:sp>
      <p:sp>
        <p:nvSpPr>
          <p:cNvPr id="10" name="Shape 7"/>
          <p:cNvSpPr/>
          <p:nvPr/>
        </p:nvSpPr>
        <p:spPr>
          <a:xfrm>
            <a:off x="1527048" y="4178808"/>
            <a:ext cx="1459506" cy="960120"/>
          </a:xfrm>
          <a:prstGeom prst="rect">
            <a:avLst/>
          </a:prstGeom>
          <a:solidFill>
            <a:srgbClr val="0D1D25"/>
          </a:solidFill>
          <a:ln w="7620">
            <a:solidFill>
              <a:srgbClr val="17313D"/>
            </a:solidFill>
            <a:prstDash val="solid"/>
          </a:ln>
        </p:spPr>
      </p:sp>
      <p:sp>
        <p:nvSpPr>
          <p:cNvPr id="11" name="Shape 8"/>
          <p:cNvSpPr/>
          <p:nvPr/>
        </p:nvSpPr>
        <p:spPr>
          <a:xfrm>
            <a:off x="3430752" y="2231136"/>
            <a:ext cx="1269136" cy="1417320"/>
          </a:xfrm>
          <a:prstGeom prst="rect">
            <a:avLst/>
          </a:prstGeom>
          <a:solidFill>
            <a:srgbClr val="241D06"/>
          </a:solidFill>
          <a:ln w="7620">
            <a:solidFill>
              <a:srgbClr val="5A4A12"/>
            </a:solidFill>
            <a:prstDash val="solid"/>
          </a:ln>
        </p:spPr>
      </p:sp>
      <p:sp>
        <p:nvSpPr>
          <p:cNvPr id="12" name="Text 9"/>
          <p:cNvSpPr/>
          <p:nvPr/>
        </p:nvSpPr>
        <p:spPr>
          <a:xfrm>
            <a:off x="1673352" y="3264408"/>
            <a:ext cx="1745062" cy="274320"/>
          </a:xfrm>
          <a:prstGeom prst="rect">
            <a:avLst/>
          </a:prstGeom>
          <a:noFill/>
          <a:ln/>
        </p:spPr>
        <p:txBody>
          <a:bodyPr wrap="square" lIns="0" tIns="0" rIns="0" bIns="0" rtlCol="0" anchor="ctr"/>
          <a:lstStyle/>
          <a:p>
            <a:pPr indent="0" marL="0">
              <a:buNone/>
            </a:pPr>
            <a:r>
              <a:rPr lang="en-US" sz="1200" b="1" dirty="0">
                <a:solidFill>
                  <a:srgbClr val="00B0F0"/>
                </a:solidFill>
                <a:latin typeface="Arial" pitchFamily="34" charset="0"/>
                <a:ea typeface="Arial" pitchFamily="34" charset="-122"/>
                <a:cs typeface="Arial" pitchFamily="34" charset="-120"/>
              </a:rPr>
              <a:t>SCIENCE PAYS</a:t>
            </a:r>
            <a:endParaRPr lang="en-US" sz="1200" dirty="0"/>
          </a:p>
        </p:txBody>
      </p:sp>
      <p:sp>
        <p:nvSpPr>
          <p:cNvPr id="13" name="Text 10"/>
          <p:cNvSpPr/>
          <p:nvPr/>
        </p:nvSpPr>
        <p:spPr>
          <a:xfrm>
            <a:off x="1673352" y="4297680"/>
            <a:ext cx="1332593" cy="566928"/>
          </a:xfrm>
          <a:prstGeom prst="rect">
            <a:avLst/>
          </a:prstGeom>
          <a:noFill/>
          <a:ln/>
        </p:spPr>
        <p:txBody>
          <a:bodyPr wrap="square" lIns="0" tIns="0" rIns="0" bIns="0" rtlCol="0" anchor="ctr"/>
          <a:lstStyle/>
          <a:p>
            <a:pPr algn="ctr" indent="0" marL="0">
              <a:lnSpc>
                <a:spcPct val="105000"/>
              </a:lnSpc>
              <a:buNone/>
            </a:pPr>
            <a:r>
              <a:rPr lang="en-US" sz="1000" i="1" dirty="0">
                <a:solidFill>
                  <a:srgbClr val="8C8C8C"/>
                </a:solidFill>
                <a:latin typeface="Arial" pitchFamily="34" charset="0"/>
                <a:ea typeface="Arial" pitchFamily="34" charset="-122"/>
                <a:cs typeface="Arial" pitchFamily="34" charset="-120"/>
              </a:rPr>
              <a:t>foraging</a:t>
            </a:r>
            <a:endParaRPr lang="en-US" sz="1000" dirty="0"/>
          </a:p>
          <a:p>
            <a:pPr algn="ctr" indent="0" marL="0">
              <a:lnSpc>
                <a:spcPct val="105000"/>
              </a:lnSpc>
              <a:buNone/>
            </a:pPr>
            <a:r>
              <a:rPr lang="en-US" sz="1000" i="1" dirty="0">
                <a:solidFill>
                  <a:srgbClr val="8C8C8C"/>
                </a:solidFill>
                <a:latin typeface="Arial" pitchFamily="34" charset="0"/>
                <a:ea typeface="Arial" pitchFamily="34" charset="-122"/>
                <a:cs typeface="Arial" pitchFamily="34" charset="-120"/>
              </a:rPr>
              <a:t>suffices</a:t>
            </a:r>
            <a:endParaRPr lang="en-US" sz="1000" dirty="0"/>
          </a:p>
        </p:txBody>
      </p:sp>
      <p:sp>
        <p:nvSpPr>
          <p:cNvPr id="14" name="Text 11"/>
          <p:cNvSpPr/>
          <p:nvPr/>
        </p:nvSpPr>
        <p:spPr>
          <a:xfrm>
            <a:off x="3494209" y="2468880"/>
            <a:ext cx="1142222" cy="274320"/>
          </a:xfrm>
          <a:prstGeom prst="rect">
            <a:avLst/>
          </a:prstGeom>
          <a:noFill/>
          <a:ln/>
        </p:spPr>
        <p:txBody>
          <a:bodyPr wrap="square" lIns="0" tIns="0" rIns="0" bIns="0" rtlCol="0" anchor="ctr"/>
          <a:lstStyle/>
          <a:p>
            <a:pPr algn="ctr" indent="0" marL="0">
              <a:buNone/>
            </a:pPr>
            <a:r>
              <a:rPr lang="en-US" sz="1000" i="1" dirty="0">
                <a:solidFill>
                  <a:srgbClr val="F7E478"/>
                </a:solidFill>
                <a:latin typeface="Arial" pitchFamily="34" charset="0"/>
                <a:ea typeface="Arial" pitchFamily="34" charset="-122"/>
                <a:cs typeface="Arial" pitchFamily="34" charset="-120"/>
              </a:rPr>
              <a:t>starvation</a:t>
            </a:r>
            <a:endParaRPr lang="en-US" sz="1000" dirty="0"/>
          </a:p>
        </p:txBody>
      </p:sp>
      <p:sp>
        <p:nvSpPr>
          <p:cNvPr id="15" name="Text 12"/>
          <p:cNvSpPr/>
          <p:nvPr/>
        </p:nvSpPr>
        <p:spPr>
          <a:xfrm>
            <a:off x="612648" y="3218688"/>
            <a:ext cx="868680" cy="731520"/>
          </a:xfrm>
          <a:prstGeom prst="rect">
            <a:avLst/>
          </a:prstGeom>
          <a:noFill/>
          <a:ln/>
        </p:spPr>
        <p:txBody>
          <a:bodyPr wrap="square" lIns="0" tIns="0" rIns="0" bIns="0" rtlCol="0" anchor="ctr"/>
          <a:lstStyle/>
          <a:p>
            <a:pPr algn="r" indent="0" marL="0">
              <a:lnSpc>
                <a:spcPct val="105000"/>
              </a:lnSpc>
              <a:buNone/>
            </a:pPr>
            <a:r>
              <a:rPr lang="en-US" sz="900" dirty="0">
                <a:solidFill>
                  <a:srgbClr val="8C8C8C"/>
                </a:solidFill>
                <a:latin typeface="Arial" pitchFamily="34" charset="0"/>
                <a:ea typeface="Arial" pitchFamily="34" charset="-122"/>
                <a:cs typeface="Arial" pitchFamily="34" charset="-120"/>
              </a:rPr>
              <a:t>δ  concealment depth</a:t>
            </a:r>
            <a:endParaRPr lang="en-US" sz="900" dirty="0"/>
          </a:p>
        </p:txBody>
      </p:sp>
      <p:sp>
        <p:nvSpPr>
          <p:cNvPr id="16" name="Text 13"/>
          <p:cNvSpPr/>
          <p:nvPr/>
        </p:nvSpPr>
        <p:spPr>
          <a:xfrm>
            <a:off x="1527048" y="5193792"/>
            <a:ext cx="317284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ι  fraction of Θ already internal to scientists</a:t>
            </a:r>
            <a:endParaRPr lang="en-US" sz="900" dirty="0"/>
          </a:p>
        </p:txBody>
      </p:sp>
      <p:sp>
        <p:nvSpPr>
          <p:cNvPr id="17" name="Shape 14"/>
          <p:cNvSpPr/>
          <p:nvPr/>
        </p:nvSpPr>
        <p:spPr>
          <a:xfrm>
            <a:off x="5349112" y="1874520"/>
            <a:ext cx="6275655" cy="3657600"/>
          </a:xfrm>
          <a:prstGeom prst="rect">
            <a:avLst/>
          </a:prstGeom>
          <a:solidFill>
            <a:srgbClr val="0B0B0B"/>
          </a:solidFill>
          <a:ln w="9525">
            <a:solidFill>
              <a:srgbClr val="00729C"/>
            </a:solidFill>
            <a:prstDash val="solid"/>
          </a:ln>
        </p:spPr>
      </p:sp>
      <p:sp>
        <p:nvSpPr>
          <p:cNvPr id="18" name="Text 15"/>
          <p:cNvSpPr/>
          <p:nvPr/>
        </p:nvSpPr>
        <p:spPr>
          <a:xfrm>
            <a:off x="5605144" y="2048256"/>
            <a:ext cx="5763591" cy="237744"/>
          </a:xfrm>
          <a:prstGeom prst="rect">
            <a:avLst/>
          </a:prstGeom>
          <a:noFill/>
          <a:ln/>
        </p:spPr>
        <p:txBody>
          <a:bodyPr wrap="square" lIns="0" tIns="0" rIns="0" bIns="0" rtlCol="0" anchor="t"/>
          <a:lstStyle/>
          <a:p>
            <a:pPr indent="0" marL="0">
              <a:buNone/>
            </a:pPr>
            <a:r>
              <a:rPr lang="en-US" sz="950" b="1" spc="140" kern="0" dirty="0">
                <a:solidFill>
                  <a:srgbClr val="00B0F0"/>
                </a:solidFill>
                <a:latin typeface="Arial" pitchFamily="34" charset="0"/>
                <a:ea typeface="Arial" pitchFamily="34" charset="-122"/>
                <a:cs typeface="Arial" pitchFamily="34" charset="-120"/>
              </a:rPr>
              <a:t>THE AUDIT — WHAT THE ASSUMPTIONS ALREADY FIX</a:t>
            </a:r>
            <a:endParaRPr lang="en-US" sz="950" dirty="0"/>
          </a:p>
        </p:txBody>
      </p:sp>
      <p:sp>
        <p:nvSpPr>
          <p:cNvPr id="19" name="Text 16"/>
          <p:cNvSpPr/>
          <p:nvPr/>
        </p:nvSpPr>
        <p:spPr>
          <a:xfrm>
            <a:off x="5605144" y="2395728"/>
            <a:ext cx="5763591" cy="1417320"/>
          </a:xfrm>
          <a:prstGeom prst="rect">
            <a:avLst/>
          </a:prstGeom>
          <a:noFill/>
          <a:ln/>
        </p:spPr>
        <p:txBody>
          <a:bodyPr wrap="square" lIns="0" tIns="0" rIns="0" bIns="0" rtlCol="0" anchor="t"/>
          <a:lstStyle/>
          <a:p>
            <a:pPr indent="0" marL="0">
              <a:lnSpc>
                <a:spcPct val="116000"/>
              </a:lnSpc>
              <a:buNone/>
            </a:pPr>
            <a:r>
              <a:rPr lang="en-US" sz="1100" b="1" dirty="0">
                <a:solidFill>
                  <a:srgbClr val="00B0F0"/>
                </a:solidFill>
                <a:latin typeface="Arial" pitchFamily="34" charset="0"/>
                <a:ea typeface="Arial" pitchFamily="34" charset="-122"/>
                <a:cs typeface="Arial" pitchFamily="34" charset="-120"/>
              </a:rPr>
              <a:t>FORCED   </a:t>
            </a:r>
            <a:pPr indent="0" marL="0">
              <a:lnSpc>
                <a:spcPct val="116000"/>
              </a:lnSpc>
              <a:buNone/>
            </a:pPr>
            <a:r>
              <a:rPr lang="en-US" sz="1100" dirty="0">
                <a:solidFill>
                  <a:srgbClr val="BFBFBF"/>
                </a:solidFill>
                <a:latin typeface="Arial" pitchFamily="34" charset="0"/>
                <a:ea typeface="Arial" pitchFamily="34" charset="-122"/>
                <a:cs typeface="Arial" pitchFamily="34" charset="-120"/>
              </a:rPr>
              <a:t>the hypothesis language · three grades of access and no fourth · assays as guarded receipts · budget-relative refutation · hypotheses about namespaces · eating as an ordinary receipt · death as failure to fund · σ+κ=σ₀ · predators as non-image contexts · exposure · information against survival · a locus is a context · name growth bounded by term size · selection post hoc</a:t>
            </a:r>
            <a:endParaRPr lang="en-US" sz="1100" dirty="0"/>
          </a:p>
        </p:txBody>
      </p:sp>
      <p:sp>
        <p:nvSpPr>
          <p:cNvPr id="20" name="Text 17"/>
          <p:cNvSpPr/>
          <p:nvPr/>
        </p:nvSpPr>
        <p:spPr>
          <a:xfrm>
            <a:off x="5605144" y="3931920"/>
            <a:ext cx="5763591" cy="822960"/>
          </a:xfrm>
          <a:prstGeom prst="rect">
            <a:avLst/>
          </a:prstGeom>
          <a:noFill/>
          <a:ln/>
        </p:spPr>
        <p:txBody>
          <a:bodyPr wrap="square" lIns="0" tIns="0" rIns="0" bIns="0" rtlCol="0" anchor="t"/>
          <a:lstStyle/>
          <a:p>
            <a:pPr indent="0" marL="0">
              <a:lnSpc>
                <a:spcPct val="116000"/>
              </a:lnSpc>
              <a:buNone/>
            </a:pPr>
            <a:r>
              <a:rPr lang="en-US" sz="1100" b="1" dirty="0">
                <a:solidFill>
                  <a:srgbClr val="F7E478"/>
                </a:solidFill>
                <a:latin typeface="Arial" pitchFamily="34" charset="0"/>
                <a:ea typeface="Arial" pitchFamily="34" charset="-122"/>
                <a:cs typeface="Arial" pitchFamily="34" charset="-120"/>
              </a:rPr>
              <a:t>CHOSEN   </a:t>
            </a:r>
            <a:pPr indent="0" marL="0">
              <a:lnSpc>
                <a:spcPct val="116000"/>
              </a:lnSpc>
              <a:buNone/>
            </a:pPr>
            <a:r>
              <a:rPr lang="en-US" sz="1100" dirty="0">
                <a:solidFill>
                  <a:srgbClr val="BFBFBF"/>
                </a:solidFill>
                <a:latin typeface="Arial" pitchFamily="34" charset="0"/>
                <a:ea typeface="Arial" pitchFamily="34" charset="-122"/>
                <a:cs typeface="Arial" pitchFamily="34" charset="-120"/>
              </a:rPr>
              <a:t>Θ · the initial distribution · the admitted context class · the pricing schedule · concealment depth · provisioning · the crossover choice function · the revision policy</a:t>
            </a:r>
            <a:endParaRPr lang="en-US" sz="1100" dirty="0"/>
          </a:p>
        </p:txBody>
      </p:sp>
      <p:sp>
        <p:nvSpPr>
          <p:cNvPr id="21" name="Text 18"/>
          <p:cNvSpPr/>
          <p:nvPr/>
        </p:nvSpPr>
        <p:spPr>
          <a:xfrm>
            <a:off x="5605144" y="4937760"/>
            <a:ext cx="5763591" cy="365760"/>
          </a:xfrm>
          <a:prstGeom prst="rect">
            <a:avLst/>
          </a:prstGeom>
          <a:noFill/>
          <a:ln/>
        </p:spPr>
        <p:txBody>
          <a:bodyPr wrap="square" lIns="0" tIns="0" rIns="0" bIns="0" rtlCol="0" anchor="t"/>
          <a:lstStyle/>
          <a:p>
            <a:pPr indent="0" marL="0">
              <a:buNone/>
            </a:pPr>
            <a:r>
              <a:rPr lang="en-US" sz="1150" i="1" dirty="0">
                <a:solidFill>
                  <a:srgbClr val="F7E478"/>
                </a:solidFill>
                <a:latin typeface="Arial" pitchFamily="34" charset="0"/>
                <a:ea typeface="Arial" pitchFamily="34" charset="-122"/>
                <a:cs typeface="Arial" pitchFamily="34" charset="-120"/>
              </a:rPr>
              <a:t>The physics is forced. The ecology and the psychology are the free parameters.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WORKED EXAMPLE</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WHY A SOLVED GAME</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Noughts-and-crosses, built as an energy landscape: an arena that holds no stack and merely routes, a stationary practice partner that is a source, and a population of scientists whose hypotheses are formulae in the generated logic.</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Three things fall out of the mapping rather than being put into it. The third dictates the board encoding.</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LEARNING TO PLAY</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103120"/>
            <a:ext cx="3551834" cy="3383280"/>
          </a:xfrm>
          <a:prstGeom prst="rect">
            <a:avLst/>
          </a:prstGeom>
          <a:solidFill>
            <a:srgbClr val="0B0B0B"/>
          </a:solidFill>
          <a:ln w="9525">
            <a:solidFill>
              <a:srgbClr val="00729C"/>
            </a:solidFill>
            <a:prstDash val="solid"/>
          </a:ln>
        </p:spPr>
      </p:sp>
      <p:sp>
        <p:nvSpPr>
          <p:cNvPr id="10" name="Text 7"/>
          <p:cNvSpPr/>
          <p:nvPr/>
        </p:nvSpPr>
        <p:spPr>
          <a:xfrm>
            <a:off x="786384" y="22494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1</a:t>
            </a:r>
            <a:endParaRPr lang="en-US" sz="2600" dirty="0"/>
          </a:p>
        </p:txBody>
      </p:sp>
      <p:sp>
        <p:nvSpPr>
          <p:cNvPr id="11" name="Text 8"/>
          <p:cNvSpPr/>
          <p:nvPr/>
        </p:nvSpPr>
        <p:spPr>
          <a:xfrm>
            <a:off x="786384" y="27614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 MOVE IS AN ASSAY</a:t>
            </a:r>
            <a:endParaRPr lang="en-US" sz="950" dirty="0"/>
          </a:p>
        </p:txBody>
      </p:sp>
      <p:sp>
        <p:nvSpPr>
          <p:cNvPr id="12" name="Text 9"/>
          <p:cNvSpPr/>
          <p:nvPr/>
        </p:nvSpPr>
        <p:spPr>
          <a:xfrm>
            <a:off x="786384" y="3236976"/>
            <a:ext cx="3112922" cy="208483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Playing and experimenting are one act. The guard pair sits on the move channel, so a ply is a rendezvous that either confirms, refutes, or times out against the budget.</a:t>
            </a:r>
            <a:endParaRPr lang="en-US" sz="1050" dirty="0"/>
          </a:p>
        </p:txBody>
      </p:sp>
      <p:sp>
        <p:nvSpPr>
          <p:cNvPr id="13" name="Shape 10"/>
          <p:cNvSpPr/>
          <p:nvPr/>
        </p:nvSpPr>
        <p:spPr>
          <a:xfrm>
            <a:off x="4319930" y="2103120"/>
            <a:ext cx="3551834" cy="3383280"/>
          </a:xfrm>
          <a:prstGeom prst="rect">
            <a:avLst/>
          </a:prstGeom>
          <a:solidFill>
            <a:srgbClr val="0B0B0B"/>
          </a:solidFill>
          <a:ln w="9525">
            <a:solidFill>
              <a:srgbClr val="00729C"/>
            </a:solidFill>
            <a:prstDash val="solid"/>
          </a:ln>
        </p:spPr>
      </p:sp>
      <p:sp>
        <p:nvSpPr>
          <p:cNvPr id="14" name="Text 11"/>
          <p:cNvSpPr/>
          <p:nvPr/>
        </p:nvSpPr>
        <p:spPr>
          <a:xfrm>
            <a:off x="4539386" y="22494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2</a:t>
            </a:r>
            <a:endParaRPr lang="en-US" sz="2600" dirty="0"/>
          </a:p>
        </p:txBody>
      </p:sp>
      <p:sp>
        <p:nvSpPr>
          <p:cNvPr id="15" name="Text 12"/>
          <p:cNvSpPr/>
          <p:nvPr/>
        </p:nvSpPr>
        <p:spPr>
          <a:xfrm>
            <a:off x="4539386" y="27614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MINIMAX IS AN ALTERNATING MODAL FORMULA</a:t>
            </a:r>
            <a:endParaRPr lang="en-US" sz="950" dirty="0"/>
          </a:p>
        </p:txBody>
      </p:sp>
      <p:sp>
        <p:nvSpPr>
          <p:cNvPr id="16" name="Text 13"/>
          <p:cNvSpPr/>
          <p:nvPr/>
        </p:nvSpPr>
        <p:spPr>
          <a:xfrm>
            <a:off x="4539386" y="3236976"/>
            <a:ext cx="3112922" cy="208483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So the companion note's asymmetry between existential and universal modalities predicts that attack is learned before defence — and the measurement finds it.</a:t>
            </a:r>
            <a:endParaRPr lang="en-US" sz="1050" dirty="0"/>
          </a:p>
        </p:txBody>
      </p:sp>
      <p:sp>
        <p:nvSpPr>
          <p:cNvPr id="17" name="Shape 14"/>
          <p:cNvSpPr/>
          <p:nvPr/>
        </p:nvSpPr>
        <p:spPr>
          <a:xfrm>
            <a:off x="8072933" y="2103120"/>
            <a:ext cx="3551834" cy="3383280"/>
          </a:xfrm>
          <a:prstGeom prst="rect">
            <a:avLst/>
          </a:prstGeom>
          <a:solidFill>
            <a:srgbClr val="0B0B0B"/>
          </a:solidFill>
          <a:ln w="9525">
            <a:solidFill>
              <a:srgbClr val="00729C"/>
            </a:solidFill>
            <a:prstDash val="solid"/>
          </a:ln>
        </p:spPr>
      </p:sp>
      <p:sp>
        <p:nvSpPr>
          <p:cNvPr id="18" name="Text 15"/>
          <p:cNvSpPr/>
          <p:nvPr/>
        </p:nvSpPr>
        <p:spPr>
          <a:xfrm>
            <a:off x="8292389" y="22494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3</a:t>
            </a:r>
            <a:endParaRPr lang="en-US" sz="2600" dirty="0"/>
          </a:p>
        </p:txBody>
      </p:sp>
      <p:sp>
        <p:nvSpPr>
          <p:cNvPr id="19" name="Text 16"/>
          <p:cNvSpPr/>
          <p:nvPr/>
        </p:nvSpPr>
        <p:spPr>
          <a:xfrm>
            <a:off x="8292389" y="27614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 FORK IS GRADED SEPARATION AT K = 0</a:t>
            </a:r>
            <a:endParaRPr lang="en-US" sz="950" dirty="0"/>
          </a:p>
        </p:txBody>
      </p:sp>
      <p:sp>
        <p:nvSpPr>
          <p:cNvPr id="20" name="Text 17"/>
          <p:cNvSpPr/>
          <p:nvPr/>
        </p:nvSpPr>
        <p:spPr>
          <a:xfrm>
            <a:off x="8292389" y="3236976"/>
            <a:ext cx="3112922" cy="208483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Threat |₀ Threat. The concept game programs normally hand-code is a term the generated logic already contains. Requiring it forces the squares, not the lines, to be the parands: two threats with a common gap must be excluded.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ENCODING IS DICTATED</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THE REDEX CONTEXT IS THE MOVE</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Kⱼ must be a redex context, so an empty square is a receipt offering to be claimed and an occupied one is a resting send. A ply is exactly one rewrite, and ⟨Kₛ⟩ is a generated primitive rather than a derived abbreviation.</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LEARNING TO PLAY</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2103120"/>
            <a:ext cx="3551834" cy="2148840"/>
          </a:xfrm>
          <a:prstGeom prst="rect">
            <a:avLst/>
          </a:prstGeom>
          <a:solidFill>
            <a:srgbClr val="0B0B0B"/>
          </a:solidFill>
          <a:ln w="9525">
            <a:solidFill>
              <a:srgbClr val="00729C"/>
            </a:solidFill>
            <a:prstDash val="solid"/>
          </a:ln>
        </p:spPr>
      </p:sp>
      <p:sp>
        <p:nvSpPr>
          <p:cNvPr id="9" name="Text 6"/>
          <p:cNvSpPr/>
          <p:nvPr/>
        </p:nvSpPr>
        <p:spPr>
          <a:xfrm>
            <a:off x="786384" y="22494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MOVES ARE REDEX POSITIONS</a:t>
            </a:r>
            <a:endParaRPr lang="en-US" sz="950" dirty="0"/>
          </a:p>
        </p:txBody>
      </p:sp>
      <p:sp>
        <p:nvSpPr>
          <p:cNvPr id="10" name="Text 7"/>
          <p:cNvSpPr/>
          <p:nvPr/>
        </p:nvSpPr>
        <p:spPr>
          <a:xfrm>
            <a:off x="786384" y="272491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Redex positions correspond bijectively to empty squares, so the branching factor of ∃s is the legal move count — which is exactly what the bounded-branching proposition needs.</a:t>
            </a:r>
            <a:endParaRPr lang="en-US" sz="1050" dirty="0"/>
          </a:p>
        </p:txBody>
      </p:sp>
      <p:sp>
        <p:nvSpPr>
          <p:cNvPr id="11" name="Shape 8"/>
          <p:cNvSpPr/>
          <p:nvPr/>
        </p:nvSpPr>
        <p:spPr>
          <a:xfrm>
            <a:off x="4319930" y="2103120"/>
            <a:ext cx="3551834" cy="2148840"/>
          </a:xfrm>
          <a:prstGeom prst="rect">
            <a:avLst/>
          </a:prstGeom>
          <a:solidFill>
            <a:srgbClr val="0B0B0B"/>
          </a:solidFill>
          <a:ln w="9525">
            <a:solidFill>
              <a:srgbClr val="00729C"/>
            </a:solidFill>
            <a:prstDash val="solid"/>
          </a:ln>
        </p:spPr>
      </p:sp>
      <p:sp>
        <p:nvSpPr>
          <p:cNvPr id="12" name="Text 9"/>
          <p:cNvSpPr/>
          <p:nvPr/>
        </p:nvSpPr>
        <p:spPr>
          <a:xfrm>
            <a:off x="4539386" y="22494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WHY AN ACTION LABEL WOULD NOT DO</a:t>
            </a:r>
            <a:endParaRPr lang="en-US" sz="950" dirty="0"/>
          </a:p>
        </p:txBody>
      </p:sp>
      <p:sp>
        <p:nvSpPr>
          <p:cNvPr id="13" name="Text 10"/>
          <p:cNvSpPr/>
          <p:nvPr/>
        </p:nvSpPr>
        <p:spPr>
          <a:xfrm>
            <a:off x="4539386" y="272491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Every claim is the same action. An action-labelled HML sees one label and cannot distinguish nine moves; the context-labelled modality sees as many labels as there are enabled interactions.</a:t>
            </a:r>
            <a:endParaRPr lang="en-US" sz="1050" dirty="0"/>
          </a:p>
        </p:txBody>
      </p:sp>
      <p:sp>
        <p:nvSpPr>
          <p:cNvPr id="14" name="Shape 11"/>
          <p:cNvSpPr/>
          <p:nvPr/>
        </p:nvSpPr>
        <p:spPr>
          <a:xfrm>
            <a:off x="8072933" y="2103120"/>
            <a:ext cx="3551834" cy="2148840"/>
          </a:xfrm>
          <a:prstGeom prst="rect">
            <a:avLst/>
          </a:prstGeom>
          <a:solidFill>
            <a:srgbClr val="0B0B0B"/>
          </a:solidFill>
          <a:ln w="9525">
            <a:solidFill>
              <a:srgbClr val="00729C"/>
            </a:solidFill>
            <a:prstDash val="solid"/>
          </a:ln>
        </p:spPr>
      </p:sp>
      <p:sp>
        <p:nvSpPr>
          <p:cNvPr id="15" name="Text 12"/>
          <p:cNvSpPr/>
          <p:nvPr/>
        </p:nvSpPr>
        <p:spPr>
          <a:xfrm>
            <a:off x="8292389" y="22494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PERCEPTION MUST NOT BE ABLE TO ACT</a:t>
            </a:r>
            <a:endParaRPr lang="en-US" sz="950" dirty="0"/>
          </a:p>
        </p:txBody>
      </p:sp>
      <p:sp>
        <p:nvSpPr>
          <p:cNvPr id="16" name="Text 13"/>
          <p:cNvSpPr/>
          <p:nvPr/>
        </p:nvSpPr>
        <p:spPr>
          <a:xfrm>
            <a:off x="8292389" y="272491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Threat offers live on their own names. A line signalling on a move channel would rendezvous with the square's own receipt and play the move. Grades 1 and 2 are separated by a choice of namespace.</a:t>
            </a:r>
            <a:endParaRPr lang="en-US" sz="1050" dirty="0"/>
          </a:p>
        </p:txBody>
      </p:sp>
      <p:sp>
        <p:nvSpPr>
          <p:cNvPr id="17" name="Shape 14"/>
          <p:cNvSpPr/>
          <p:nvPr/>
        </p:nvSpPr>
        <p:spPr>
          <a:xfrm>
            <a:off x="566928" y="4480560"/>
            <a:ext cx="11057839" cy="1097280"/>
          </a:xfrm>
          <a:prstGeom prst="rect">
            <a:avLst/>
          </a:prstGeom>
          <a:solidFill>
            <a:srgbClr val="0B0B0B"/>
          </a:solidFill>
          <a:ln w="9525">
            <a:solidFill>
              <a:srgbClr val="00729C"/>
            </a:solidFill>
            <a:prstDash val="solid"/>
          </a:ln>
        </p:spPr>
      </p:sp>
      <p:sp>
        <p:nvSpPr>
          <p:cNvPr id="18" name="Text 15"/>
          <p:cNvSpPr/>
          <p:nvPr/>
        </p:nvSpPr>
        <p:spPr>
          <a:xfrm>
            <a:off x="822960" y="4645152"/>
            <a:ext cx="10545775" cy="219456"/>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TWO ROUTES TO ANY PREDICATE</a:t>
            </a:r>
            <a:endParaRPr lang="en-US" sz="950" dirty="0"/>
          </a:p>
        </p:txBody>
      </p:sp>
      <p:sp>
        <p:nvSpPr>
          <p:cNvPr id="19" name="Text 16"/>
          <p:cNvSpPr/>
          <p:nvPr/>
        </p:nvSpPr>
        <p:spPr>
          <a:xfrm>
            <a:off x="822960" y="4937760"/>
            <a:ext cx="10545775" cy="493776"/>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Read it — perception, priced by formula depth — if the environment has already computed it into legible structure; or drive it — interaction, priced by rendezvous. Putting the threats into the term does not remove the cost, it relocates it from the scientist's budget to the world's. The interesting question is who is billed, and the framework can pose it because both parties have stacks.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MEASUREMENT</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THE LADDER PAYS, AND THE TRUE THEORY DOES NOT</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Seven rungs priced by the modal depth of the formula each installs, computed exactly over all 255,168 plays. Rungs 1, 2 and 5 are non-modal; 3 and 4 are the modal ones.</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χ is dominated: it wins less often than the heuristic rung beneath it while costing well over twice as much. Truth buys safety, not food.</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LEARNING TO PLAY</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212848"/>
          <a:ext cx="7543800" cy="914400"/>
        </p:xfrm>
        <a:graphic>
          <a:graphicData uri="http://schemas.openxmlformats.org/drawingml/2006/table">
            <a:tbl>
              <a:tblPr/>
              <a:tblGrid>
                <a:gridCol w="502920"/>
                <a:gridCol w="3154680"/>
                <a:gridCol w="960120"/>
                <a:gridCol w="1097280"/>
                <a:gridCol w="1828800"/>
              </a:tblGrid>
              <a:tr h="310896">
                <a:tc>
                  <a:txBody>
                    <a:bodyPr/>
                    <a:lstStyle/>
                    <a:p>
                      <a:pPr indent="0" marL="0">
                        <a:buNone/>
                      </a:pPr>
                      <a:r>
                        <a:rPr lang="en-US" sz="1050" b="1" dirty="0">
                          <a:solidFill>
                            <a:srgbClr val="00B0F0"/>
                          </a:solidFill>
                          <a:latin typeface="Arial" pitchFamily="34" charset="0"/>
                          <a:ea typeface="Arial" pitchFamily="34" charset="-122"/>
                          <a:cs typeface="Arial" pitchFamily="34" charset="-120"/>
                        </a:rPr>
                        <a:t>RUNG</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b="1" dirty="0">
                          <a:solidFill>
                            <a:srgbClr val="00B0F0"/>
                          </a:solidFill>
                          <a:latin typeface="Arial" pitchFamily="34" charset="0"/>
                          <a:ea typeface="Arial" pitchFamily="34" charset="-122"/>
                          <a:cs typeface="Arial" pitchFamily="34" charset="-120"/>
                        </a:rPr>
                        <a:t>WHAT IT INSTALLS</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b="1" dirty="0">
                          <a:solidFill>
                            <a:srgbClr val="00B0F0"/>
                          </a:solidFill>
                          <a:latin typeface="Arial" pitchFamily="34" charset="0"/>
                          <a:ea typeface="Arial" pitchFamily="34" charset="-122"/>
                          <a:cs typeface="Arial" pitchFamily="34" charset="-120"/>
                        </a:rPr>
                        <a:t>WIN</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b="1" dirty="0">
                          <a:solidFill>
                            <a:srgbClr val="00B0F0"/>
                          </a:solidFill>
                          <a:latin typeface="Arial" pitchFamily="34" charset="0"/>
                          <a:ea typeface="Arial" pitchFamily="34" charset="-122"/>
                          <a:cs typeface="Arial" pitchFamily="34" charset="-120"/>
                        </a:rPr>
                        <a:t>COST</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b="1" dirty="0">
                          <a:solidFill>
                            <a:srgbClr val="00B0F0"/>
                          </a:solidFill>
                          <a:latin typeface="Arial" pitchFamily="34" charset="0"/>
                          <a:ea typeface="Arial" pitchFamily="34" charset="-122"/>
                          <a:cs typeface="Arial" pitchFamily="34" charset="-120"/>
                        </a:rPr>
                        <a:t>MARGINAL RETURN</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10896">
                <a:tc>
                  <a:txBody>
                    <a:bodyPr/>
                    <a:lstStyle/>
                    <a:p>
                      <a:pPr indent="0" marL="0">
                        <a:buNone/>
                      </a:pPr>
                      <a:r>
                        <a:rPr lang="en-US" sz="1050" dirty="0">
                          <a:solidFill>
                            <a:srgbClr val="BFBFBF"/>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random play</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.437</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10896">
                <a:tc>
                  <a:txBody>
                    <a:bodyPr/>
                    <a:lstStyle/>
                    <a:p>
                      <a:pPr indent="0" marL="0">
                        <a:buNone/>
                      </a:pPr>
                      <a:r>
                        <a:rPr lang="en-US" sz="1050" dirty="0">
                          <a:solidFill>
                            <a:srgbClr val="BFBFBF"/>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win now (perception)</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.668</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40.9</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+.0057</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10896">
                <a:tc>
                  <a:txBody>
                    <a:bodyPr/>
                    <a:lstStyle/>
                    <a:p>
                      <a:pPr indent="0" marL="0">
                        <a:buNone/>
                      </a:pPr>
                      <a:r>
                        <a:rPr lang="en-US" sz="1050" dirty="0">
                          <a:solidFill>
                            <a:srgbClr val="BFBFBF"/>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block now (perception)</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.798</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77.8</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+.0035</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10896">
                <a:tc>
                  <a:txBody>
                    <a:bodyPr/>
                    <a:lstStyle/>
                    <a:p>
                      <a:pPr indent="0" marL="0">
                        <a:buNone/>
                      </a:pPr>
                      <a:r>
                        <a:rPr lang="en-US" sz="1050" dirty="0">
                          <a:solidFill>
                            <a:srgbClr val="BFBFBF"/>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∃s.⟨⟨Kₛ⟩⟩Fork</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.831</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134.9</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+.0006</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10896">
                <a:tc>
                  <a:txBody>
                    <a:bodyPr/>
                    <a:lstStyle/>
                    <a:p>
                      <a:pPr indent="0" marL="0">
                        <a:buNone/>
                      </a:pPr>
                      <a:r>
                        <a:rPr lang="en-US" sz="1050" dirty="0">
                          <a:solidFill>
                            <a:srgbClr val="BFBFBF"/>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∃s∀t.⟨⟨Kₛ⟩⟩[Kₜ]¬Fork</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.836</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245.7</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BFBFBF"/>
                          </a:solidFill>
                          <a:latin typeface="Arial" pitchFamily="34" charset="0"/>
                          <a:ea typeface="Arial" pitchFamily="34" charset="-122"/>
                          <a:cs typeface="Arial" pitchFamily="34" charset="-120"/>
                        </a:rPr>
                        <a:t>+.00005</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10896">
                <a:tc>
                  <a:txBody>
                    <a:bodyPr/>
                    <a:lstStyle/>
                    <a:p>
                      <a:pPr indent="0" marL="0">
                        <a:buNone/>
                      </a:pPr>
                      <a:r>
                        <a:rPr lang="en-US" sz="1050" b="1" dirty="0">
                          <a:solidFill>
                            <a:srgbClr val="F7E478"/>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F7E478"/>
                          </a:solidFill>
                          <a:latin typeface="Arial" pitchFamily="34" charset="0"/>
                          <a:ea typeface="Arial" pitchFamily="34" charset="-122"/>
                          <a:cs typeface="Arial" pitchFamily="34" charset="-120"/>
                        </a:rPr>
                        <a:t>Central — spatial, depth 0</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F7E478"/>
                          </a:solidFill>
                          <a:latin typeface="Arial" pitchFamily="34" charset="0"/>
                          <a:ea typeface="Arial" pitchFamily="34" charset="-122"/>
                          <a:cs typeface="Arial" pitchFamily="34" charset="-120"/>
                        </a:rPr>
                        <a:t>.918</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F7E478"/>
                          </a:solidFill>
                          <a:latin typeface="Arial" pitchFamily="34" charset="0"/>
                          <a:ea typeface="Arial" pitchFamily="34" charset="-122"/>
                          <a:cs typeface="Arial" pitchFamily="34" charset="-120"/>
                        </a:rPr>
                        <a:t>255.9</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F7E478"/>
                          </a:solidFill>
                          <a:latin typeface="Arial" pitchFamily="34" charset="0"/>
                          <a:ea typeface="Arial" pitchFamily="34" charset="-122"/>
                          <a:cs typeface="Arial" pitchFamily="34" charset="-120"/>
                        </a:rPr>
                        <a:t>+.0082</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10896">
                <a:tc>
                  <a:txBody>
                    <a:bodyPr/>
                    <a:lstStyle/>
                    <a:p>
                      <a:pPr indent="0" marL="0">
                        <a:buNone/>
                      </a:pPr>
                      <a:r>
                        <a:rPr lang="en-US" sz="1050" b="1" dirty="0">
                          <a:solidFill>
                            <a:srgbClr val="E08A5A"/>
                          </a:solidFill>
                          <a:latin typeface="Arial" pitchFamily="34" charset="0"/>
                          <a:ea typeface="Arial" pitchFamily="34" charset="-122"/>
                          <a:cs typeface="Arial" pitchFamily="34" charset="-120"/>
                        </a:rPr>
                        <a:t>χ</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E08A5A"/>
                          </a:solidFill>
                          <a:latin typeface="Arial" pitchFamily="34" charset="0"/>
                          <a:ea typeface="Arial" pitchFamily="34" charset="-122"/>
                          <a:cs typeface="Arial" pitchFamily="34" charset="-120"/>
                        </a:rPr>
                        <a:t>νX.∀s.[Kₛ](¬Lost ∧ ∃t.⟨⟨Kₜ⟩⟩X)</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E08A5A"/>
                          </a:solidFill>
                          <a:latin typeface="Arial" pitchFamily="34" charset="0"/>
                          <a:ea typeface="Arial" pitchFamily="34" charset="-122"/>
                          <a:cs typeface="Arial" pitchFamily="34" charset="-120"/>
                        </a:rPr>
                        <a:t>.873</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E08A5A"/>
                          </a:solidFill>
                          <a:latin typeface="Arial" pitchFamily="34" charset="0"/>
                          <a:ea typeface="Arial" pitchFamily="34" charset="-122"/>
                          <a:cs typeface="Arial" pitchFamily="34" charset="-120"/>
                        </a:rPr>
                        <a:t>679.2</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algn="r" indent="0" marL="0">
                        <a:buNone/>
                      </a:pPr>
                      <a:r>
                        <a:rPr lang="en-US" sz="1050" dirty="0">
                          <a:solidFill>
                            <a:srgbClr val="E08A5A"/>
                          </a:solidFill>
                          <a:latin typeface="Arial" pitchFamily="34" charset="0"/>
                          <a:ea typeface="Arial" pitchFamily="34" charset="-122"/>
                          <a:cs typeface="Arial" pitchFamily="34" charset="-120"/>
                        </a:rPr>
                        <a:t>−.0001</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bl>
          </a:graphicData>
        </a:graphic>
      </p:graphicFrame>
      <p:sp>
        <p:nvSpPr>
          <p:cNvPr id="10" name="Shape 6"/>
          <p:cNvSpPr/>
          <p:nvPr/>
        </p:nvSpPr>
        <p:spPr>
          <a:xfrm>
            <a:off x="8385048" y="2212848"/>
            <a:ext cx="3239719" cy="2834640"/>
          </a:xfrm>
          <a:prstGeom prst="rect">
            <a:avLst/>
          </a:prstGeom>
          <a:solidFill>
            <a:srgbClr val="0B0B0B"/>
          </a:solidFill>
          <a:ln w="9525">
            <a:solidFill>
              <a:srgbClr val="00729C"/>
            </a:solidFill>
            <a:prstDash val="solid"/>
          </a:ln>
        </p:spPr>
      </p:sp>
      <p:sp>
        <p:nvSpPr>
          <p:cNvPr id="11" name="Text 7"/>
          <p:cNvSpPr/>
          <p:nvPr/>
        </p:nvSpPr>
        <p:spPr>
          <a:xfrm>
            <a:off x="8641080" y="2377440"/>
            <a:ext cx="2727655" cy="237744"/>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WHERE THE YIELD ACTUALLY IS</a:t>
            </a:r>
            <a:endParaRPr lang="en-US" sz="950" dirty="0"/>
          </a:p>
        </p:txBody>
      </p:sp>
      <p:sp>
        <p:nvSpPr>
          <p:cNvPr id="12" name="Text 8"/>
          <p:cNvSpPr/>
          <p:nvPr/>
        </p:nvSpPr>
        <p:spPr>
          <a:xfrm>
            <a:off x="8641080" y="2688336"/>
            <a:ext cx="2727655" cy="475488"/>
          </a:xfrm>
          <a:prstGeom prst="rect">
            <a:avLst/>
          </a:prstGeom>
          <a:noFill/>
          <a:ln/>
        </p:spPr>
        <p:txBody>
          <a:bodyPr wrap="square" lIns="0" tIns="0" rIns="0" bIns="0" rtlCol="0" anchor="t"/>
          <a:lstStyle/>
          <a:p>
            <a:pPr indent="0" marL="0">
              <a:buNone/>
            </a:pPr>
            <a:r>
              <a:rPr lang="en-US" sz="3000" b="1" dirty="0">
                <a:solidFill>
                  <a:srgbClr val="00B0F0"/>
                </a:solidFill>
                <a:latin typeface="Arial" pitchFamily="34" charset="0"/>
                <a:ea typeface="Arial" pitchFamily="34" charset="-122"/>
                <a:cs typeface="Arial" pitchFamily="34" charset="-120"/>
              </a:rPr>
              <a:t>92.3%</a:t>
            </a:r>
            <a:endParaRPr lang="en-US" sz="3000" dirty="0"/>
          </a:p>
        </p:txBody>
      </p:sp>
      <p:sp>
        <p:nvSpPr>
          <p:cNvPr id="13" name="Text 9"/>
          <p:cNvSpPr/>
          <p:nvPr/>
        </p:nvSpPr>
        <p:spPr>
          <a:xfrm>
            <a:off x="8641080" y="3200400"/>
            <a:ext cx="2727655" cy="603504"/>
          </a:xfrm>
          <a:prstGeom prst="rect">
            <a:avLst/>
          </a:prstGeom>
          <a:noFill/>
          <a:ln/>
        </p:spPr>
        <p:txBody>
          <a:bodyPr wrap="square" lIns="0" tIns="0" rIns="0" bIns="0" rtlCol="0" anchor="t"/>
          <a:lstStyle/>
          <a:p>
            <a:pPr indent="0" marL="0">
              <a:lnSpc>
                <a:spcPct val="114000"/>
              </a:lnSpc>
              <a:buNone/>
            </a:pPr>
            <a:r>
              <a:rPr lang="en-US" sz="1100" dirty="0">
                <a:solidFill>
                  <a:srgbClr val="BFBFBF"/>
                </a:solidFill>
                <a:latin typeface="Arial" pitchFamily="34" charset="0"/>
                <a:ea typeface="Arial" pitchFamily="34" charset="-122"/>
                <a:cs typeface="Arial" pitchFamily="34" charset="-120"/>
              </a:rPr>
              <a:t>of the total gain is delivered by the three non-modal rungs — for 34.3% of the cost.</a:t>
            </a:r>
            <a:endParaRPr lang="en-US" sz="1100" dirty="0"/>
          </a:p>
        </p:txBody>
      </p:sp>
      <p:sp>
        <p:nvSpPr>
          <p:cNvPr id="14" name="Text 10"/>
          <p:cNvSpPr/>
          <p:nvPr/>
        </p:nvSpPr>
        <p:spPr>
          <a:xfrm>
            <a:off x="8641080" y="3877056"/>
            <a:ext cx="2727655" cy="1005840"/>
          </a:xfrm>
          <a:prstGeom prst="rect">
            <a:avLst/>
          </a:prstGeom>
          <a:noFill/>
          <a:ln/>
        </p:spPr>
        <p:txBody>
          <a:bodyPr wrap="square" lIns="0" tIns="0" rIns="0" bIns="0" rtlCol="0" anchor="t"/>
          <a:lstStyle/>
          <a:p>
            <a:pPr indent="0" marL="0">
              <a:lnSpc>
                <a:spcPct val="114000"/>
              </a:lnSpc>
              <a:buNone/>
            </a:pPr>
            <a:r>
              <a:rPr lang="en-US" sz="1050" dirty="0">
                <a:solidFill>
                  <a:srgbClr val="8C8C8C"/>
                </a:solidFill>
                <a:latin typeface="Arial" pitchFamily="34" charset="0"/>
                <a:ea typeface="Arial" pitchFamily="34" charset="-122"/>
                <a:cs typeface="Arial" pitchFamily="34" charset="-120"/>
              </a:rPr>
              <a:t>The spatial rung — the one a purely behavioural logic could not state — returns +.0082 per metered unit, the best purchase anywhere. Rung 4, the single genuinely alternating rung, is the worst: +0.005 for 111 units.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CONFINEMENT, MEASURED</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DEEPENING THE THEORY MAKES THE OPENING WORSE</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The best opening reverses with theory depth. A lineage whose theory is deep but whose opening is fixed cannot repair the opening by deepening.</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The corner-opening mutant invades at identical cost, never losing as first player. It is exactly the distance-2⁻¹ move that confinement denies an individual — and a lineage gets it free.</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LEARNING TO PLAY</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148840"/>
            <a:ext cx="3551834" cy="2103120"/>
          </a:xfrm>
          <a:prstGeom prst="rect">
            <a:avLst/>
          </a:prstGeom>
          <a:solidFill>
            <a:srgbClr val="0B0B0B"/>
          </a:solidFill>
          <a:ln w="9525">
            <a:solidFill>
              <a:srgbClr val="00729C"/>
            </a:solidFill>
            <a:prstDash val="solid"/>
          </a:ln>
        </p:spPr>
      </p:sp>
      <p:sp>
        <p:nvSpPr>
          <p:cNvPr id="10" name="Text 7"/>
          <p:cNvSpPr/>
          <p:nvPr/>
        </p:nvSpPr>
        <p:spPr>
          <a:xfrm>
            <a:off x="786384" y="229514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AT RUNG 5</a:t>
            </a:r>
            <a:endParaRPr lang="en-US" sz="950" dirty="0"/>
          </a:p>
        </p:txBody>
      </p:sp>
      <p:sp>
        <p:nvSpPr>
          <p:cNvPr id="11" name="Text 8"/>
          <p:cNvSpPr/>
          <p:nvPr/>
        </p:nvSpPr>
        <p:spPr>
          <a:xfrm>
            <a:off x="786384" y="2715768"/>
            <a:ext cx="3112922" cy="365760"/>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centre .833    corner .597</a:t>
            </a:r>
            <a:endParaRPr lang="en-US" sz="1500" dirty="0"/>
          </a:p>
        </p:txBody>
      </p:sp>
      <p:sp>
        <p:nvSpPr>
          <p:cNvPr id="12" name="Text 9"/>
          <p:cNvSpPr/>
          <p:nvPr/>
        </p:nvSpPr>
        <p:spPr>
          <a:xfrm>
            <a:off x="786384" y="3191256"/>
            <a:ext cx="3112922" cy="89611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With a heuristic theory the centre opening is the better one, as every beginner is taught.</a:t>
            </a:r>
            <a:endParaRPr lang="en-US" sz="1050" dirty="0"/>
          </a:p>
        </p:txBody>
      </p:sp>
      <p:sp>
        <p:nvSpPr>
          <p:cNvPr id="13" name="Shape 10"/>
          <p:cNvSpPr/>
          <p:nvPr/>
        </p:nvSpPr>
        <p:spPr>
          <a:xfrm>
            <a:off x="4319930" y="2148840"/>
            <a:ext cx="3551834" cy="2103120"/>
          </a:xfrm>
          <a:prstGeom prst="rect">
            <a:avLst/>
          </a:prstGeom>
          <a:solidFill>
            <a:srgbClr val="0B0B0B"/>
          </a:solidFill>
          <a:ln w="9525">
            <a:solidFill>
              <a:srgbClr val="00729C"/>
            </a:solidFill>
            <a:prstDash val="solid"/>
          </a:ln>
        </p:spPr>
      </p:sp>
      <p:sp>
        <p:nvSpPr>
          <p:cNvPr id="14" name="Text 11"/>
          <p:cNvSpPr/>
          <p:nvPr/>
        </p:nvSpPr>
        <p:spPr>
          <a:xfrm>
            <a:off x="4539386" y="229514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AT Χ</a:t>
            </a:r>
            <a:endParaRPr lang="en-US" sz="950" dirty="0"/>
          </a:p>
        </p:txBody>
      </p:sp>
      <p:sp>
        <p:nvSpPr>
          <p:cNvPr id="15" name="Text 12"/>
          <p:cNvSpPr/>
          <p:nvPr/>
        </p:nvSpPr>
        <p:spPr>
          <a:xfrm>
            <a:off x="4539386" y="2715768"/>
            <a:ext cx="3112922" cy="365760"/>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corner .896    centre .548</a:t>
            </a:r>
            <a:endParaRPr lang="en-US" sz="1500" dirty="0"/>
          </a:p>
        </p:txBody>
      </p:sp>
      <p:sp>
        <p:nvSpPr>
          <p:cNvPr id="16" name="Text 13"/>
          <p:cNvSpPr/>
          <p:nvPr/>
        </p:nvSpPr>
        <p:spPr>
          <a:xfrm>
            <a:off x="4539386" y="3191256"/>
            <a:ext cx="3112922" cy="89611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At the exact characteristic formula the ordering reverses. The received opening becomes the worse one.</a:t>
            </a:r>
            <a:endParaRPr lang="en-US" sz="1050" dirty="0"/>
          </a:p>
        </p:txBody>
      </p:sp>
      <p:sp>
        <p:nvSpPr>
          <p:cNvPr id="17" name="Shape 14"/>
          <p:cNvSpPr/>
          <p:nvPr/>
        </p:nvSpPr>
        <p:spPr>
          <a:xfrm>
            <a:off x="8072933" y="2148840"/>
            <a:ext cx="3551834" cy="2103120"/>
          </a:xfrm>
          <a:prstGeom prst="rect">
            <a:avLst/>
          </a:prstGeom>
          <a:solidFill>
            <a:srgbClr val="0B0B0B"/>
          </a:solidFill>
          <a:ln w="9525">
            <a:solidFill>
              <a:srgbClr val="00729C"/>
            </a:solidFill>
            <a:prstDash val="solid"/>
          </a:ln>
        </p:spPr>
      </p:sp>
      <p:sp>
        <p:nvSpPr>
          <p:cNvPr id="18" name="Text 15"/>
          <p:cNvSpPr/>
          <p:nvPr/>
        </p:nvSpPr>
        <p:spPr>
          <a:xfrm>
            <a:off x="8292389" y="229514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HOLDING THE OPENING FIXED</a:t>
            </a:r>
            <a:endParaRPr lang="en-US" sz="950" dirty="0"/>
          </a:p>
        </p:txBody>
      </p:sp>
      <p:sp>
        <p:nvSpPr>
          <p:cNvPr id="19" name="Text 16"/>
          <p:cNvSpPr/>
          <p:nvPr/>
        </p:nvSpPr>
        <p:spPr>
          <a:xfrm>
            <a:off x="8292389" y="2770632"/>
            <a:ext cx="3112922" cy="13167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Deepening from rung 5 to χ while keeping the centre opening takes the win rate from .833 down to .548. The two loci are reachable to a lineage and not to a learner walking the lattice.</a:t>
            </a:r>
            <a:endParaRPr lang="en-US" sz="1050" dirty="0"/>
          </a:p>
        </p:txBody>
      </p:sp>
      <p:sp>
        <p:nvSpPr>
          <p:cNvPr id="20" name="Shape 17"/>
          <p:cNvSpPr/>
          <p:nvPr/>
        </p:nvSpPr>
        <p:spPr>
          <a:xfrm>
            <a:off x="566928" y="4434840"/>
            <a:ext cx="11057839" cy="1143000"/>
          </a:xfrm>
          <a:prstGeom prst="rect">
            <a:avLst/>
          </a:prstGeom>
          <a:solidFill>
            <a:srgbClr val="0B0B0B"/>
          </a:solidFill>
          <a:ln w="9525">
            <a:solidFill>
              <a:srgbClr val="00729C"/>
            </a:solidFill>
            <a:prstDash val="solid"/>
          </a:ln>
        </p:spPr>
      </p:sp>
      <p:sp>
        <p:nvSpPr>
          <p:cNvPr id="21" name="Text 18"/>
          <p:cNvSpPr/>
          <p:nvPr/>
        </p:nvSpPr>
        <p:spPr>
          <a:xfrm>
            <a:off x="822960" y="4599432"/>
            <a:ext cx="10545775" cy="219456"/>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AND A SOLVED SCIENCE IS A DEAD ECOLOGY</a:t>
            </a:r>
            <a:endParaRPr lang="en-US" sz="950" dirty="0"/>
          </a:p>
        </p:txBody>
      </p:sp>
      <p:sp>
        <p:nvSpPr>
          <p:cNvPr id="22" name="Text 19"/>
          <p:cNvSpPr/>
          <p:nvPr/>
        </p:nvSpPr>
        <p:spPr>
          <a:xfrm>
            <a:off x="822960" y="4892040"/>
            <a:ext cx="10545775" cy="539496"/>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χ-monoculture and centre-rung-5 monoculture both draw every game, so the harvest rate is 0.000 and the population starves on a finite wall. The corner-rung-5 population sustains .333 and lives. Imperfection is load-bearing: the better the science, the sooner the world it feeds on is exhausted.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END OF THE FIRST WORLD</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A POPULATION THAT SOLVES ITS GAME STOPS EATING</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Conservation forces it. Nothing is minted, harvest requires a prediction that locates a stack, and a world in which every prediction is right is a world in which nothing is left to find.</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Three exits are available: enlarge the game, let the rules drift, or admit an external source. The next note takes the first — and finds it was an operation inside the framework all along.</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LEARNING TO PLAY</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148840"/>
            <a:ext cx="3551834" cy="3337560"/>
          </a:xfrm>
          <a:prstGeom prst="rect">
            <a:avLst/>
          </a:prstGeom>
          <a:solidFill>
            <a:srgbClr val="0B0B0B"/>
          </a:solidFill>
          <a:ln w="9525">
            <a:solidFill>
              <a:srgbClr val="00729C"/>
            </a:solidFill>
            <a:prstDash val="solid"/>
          </a:ln>
        </p:spPr>
      </p:sp>
      <p:sp>
        <p:nvSpPr>
          <p:cNvPr id="10" name="Text 7"/>
          <p:cNvSpPr/>
          <p:nvPr/>
        </p:nvSpPr>
        <p:spPr>
          <a:xfrm>
            <a:off x="786384" y="229514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THE HEAT DEATH</a:t>
            </a:r>
            <a:endParaRPr lang="en-US" sz="950" dirty="0"/>
          </a:p>
        </p:txBody>
      </p:sp>
      <p:sp>
        <p:nvSpPr>
          <p:cNvPr id="11" name="Text 8"/>
          <p:cNvSpPr/>
          <p:nvPr/>
        </p:nvSpPr>
        <p:spPr>
          <a:xfrm>
            <a:off x="786384" y="2770632"/>
            <a:ext cx="3112922" cy="255117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Every member holds a theory that draws against every other. Harvest rate falls to zero, σ declines monotonically, and the population burns tokens simply to remain alive.</a:t>
            </a:r>
            <a:endParaRPr lang="en-US" sz="1050" dirty="0"/>
          </a:p>
        </p:txBody>
      </p:sp>
      <p:sp>
        <p:nvSpPr>
          <p:cNvPr id="12" name="Shape 9"/>
          <p:cNvSpPr/>
          <p:nvPr/>
        </p:nvSpPr>
        <p:spPr>
          <a:xfrm>
            <a:off x="4319930" y="2148840"/>
            <a:ext cx="3551834" cy="3337560"/>
          </a:xfrm>
          <a:prstGeom prst="rect">
            <a:avLst/>
          </a:prstGeom>
          <a:solidFill>
            <a:srgbClr val="0B0B0B"/>
          </a:solidFill>
          <a:ln w="9525">
            <a:solidFill>
              <a:srgbClr val="00729C"/>
            </a:solidFill>
            <a:prstDash val="solid"/>
          </a:ln>
        </p:spPr>
      </p:sp>
      <p:sp>
        <p:nvSpPr>
          <p:cNvPr id="13" name="Text 10"/>
          <p:cNvSpPr/>
          <p:nvPr/>
        </p:nvSpPr>
        <p:spPr>
          <a:xfrm>
            <a:off x="4539386" y="229514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WHY IT IS NOT AN ARTEFACT</a:t>
            </a:r>
            <a:endParaRPr lang="en-US" sz="950" dirty="0"/>
          </a:p>
        </p:txBody>
      </p:sp>
      <p:sp>
        <p:nvSpPr>
          <p:cNvPr id="14" name="Text 11"/>
          <p:cNvSpPr/>
          <p:nvPr/>
        </p:nvSpPr>
        <p:spPr>
          <a:xfrm>
            <a:off x="4539386" y="2770632"/>
            <a:ext cx="3112922" cy="255117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It does not depend on the game being small or the pricing schedule being right. It depends only on conservation and on the fact that harvest is a receipt that a correct prediction locates.</a:t>
            </a:r>
            <a:endParaRPr lang="en-US" sz="1050" dirty="0"/>
          </a:p>
        </p:txBody>
      </p:sp>
      <p:sp>
        <p:nvSpPr>
          <p:cNvPr id="15" name="Shape 12"/>
          <p:cNvSpPr/>
          <p:nvPr/>
        </p:nvSpPr>
        <p:spPr>
          <a:xfrm>
            <a:off x="8072933" y="2148840"/>
            <a:ext cx="3551834" cy="3337560"/>
          </a:xfrm>
          <a:prstGeom prst="rect">
            <a:avLst/>
          </a:prstGeom>
          <a:solidFill>
            <a:srgbClr val="0B0B0B"/>
          </a:solidFill>
          <a:ln w="9525">
            <a:solidFill>
              <a:srgbClr val="00729C"/>
            </a:solidFill>
            <a:prstDash val="solid"/>
          </a:ln>
        </p:spPr>
      </p:sp>
      <p:sp>
        <p:nvSpPr>
          <p:cNvPr id="16" name="Text 13"/>
          <p:cNvSpPr/>
          <p:nvPr/>
        </p:nvSpPr>
        <p:spPr>
          <a:xfrm>
            <a:off x="8292389" y="229514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WHAT IT COSTS THE FRAMEWORK</a:t>
            </a:r>
            <a:endParaRPr lang="en-US" sz="950" dirty="0"/>
          </a:p>
        </p:txBody>
      </p:sp>
      <p:sp>
        <p:nvSpPr>
          <p:cNvPr id="17" name="Text 14"/>
          <p:cNvSpPr/>
          <p:nvPr/>
        </p:nvSpPr>
        <p:spPr>
          <a:xfrm>
            <a:off x="8292389" y="2770632"/>
            <a:ext cx="3112922" cy="255117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Nothing — but it does say the single-game world is the wrong scope. The heat death was never a property of noughts-and-crosses. It was a property of a world with one game in it.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UNIT MOVES AGAIN</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A LEARNER IS A NAMESPACE</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Take the population as the learner: a distribution over scientists, over mortal computations holding no hypothesis, and over resource reservoirs. Because that population is carried by names manufactured by quotation, it is described by a name predicate rather than enumerated.</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The distribution is part of the learner, not a decoration on it — which is what puts composition in the total space of the fibration rather than its base.</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COMPOSING LEARNERS</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331720"/>
            <a:ext cx="3551834" cy="3154680"/>
          </a:xfrm>
          <a:prstGeom prst="rect">
            <a:avLst/>
          </a:prstGeom>
          <a:solidFill>
            <a:srgbClr val="0B0B0B"/>
          </a:solidFill>
          <a:ln w="9525">
            <a:solidFill>
              <a:srgbClr val="00729C"/>
            </a:solidFill>
            <a:prstDash val="solid"/>
          </a:ln>
        </p:spPr>
      </p:sp>
      <p:sp>
        <p:nvSpPr>
          <p:cNvPr id="10" name="Text 7"/>
          <p:cNvSpPr/>
          <p:nvPr/>
        </p:nvSpPr>
        <p:spPr>
          <a:xfrm>
            <a:off x="786384" y="24780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1</a:t>
            </a:r>
            <a:endParaRPr lang="en-US" sz="2600" dirty="0"/>
          </a:p>
        </p:txBody>
      </p:sp>
      <p:sp>
        <p:nvSpPr>
          <p:cNvPr id="11" name="Text 8"/>
          <p:cNvSpPr/>
          <p:nvPr/>
        </p:nvSpPr>
        <p:spPr>
          <a:xfrm>
            <a:off x="786384" y="29900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POPULATION</a:t>
            </a:r>
            <a:endParaRPr lang="en-US" sz="950" dirty="0"/>
          </a:p>
        </p:txBody>
      </p:sp>
      <p:sp>
        <p:nvSpPr>
          <p:cNvPr id="12" name="Text 9"/>
          <p:cNvSpPr/>
          <p:nvPr/>
        </p:nvSpPr>
        <p:spPr>
          <a:xfrm>
            <a:off x="786384" y="3465576"/>
            <a:ext cx="3112922" cy="185623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Scientists, non-scientist mortal computations, and stacks. The mixture is what the first note already assumed; here it is named as an object.</a:t>
            </a:r>
            <a:endParaRPr lang="en-US" sz="1050" dirty="0"/>
          </a:p>
        </p:txBody>
      </p:sp>
      <p:sp>
        <p:nvSpPr>
          <p:cNvPr id="13" name="Shape 10"/>
          <p:cNvSpPr/>
          <p:nvPr/>
        </p:nvSpPr>
        <p:spPr>
          <a:xfrm>
            <a:off x="4319930" y="2331720"/>
            <a:ext cx="3551834" cy="3154680"/>
          </a:xfrm>
          <a:prstGeom prst="rect">
            <a:avLst/>
          </a:prstGeom>
          <a:solidFill>
            <a:srgbClr val="0B0B0B"/>
          </a:solidFill>
          <a:ln w="9525">
            <a:solidFill>
              <a:srgbClr val="00729C"/>
            </a:solidFill>
            <a:prstDash val="solid"/>
          </a:ln>
        </p:spPr>
      </p:sp>
      <p:sp>
        <p:nvSpPr>
          <p:cNvPr id="14" name="Text 11"/>
          <p:cNvSpPr/>
          <p:nvPr/>
        </p:nvSpPr>
        <p:spPr>
          <a:xfrm>
            <a:off x="4539386" y="24780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2</a:t>
            </a:r>
            <a:endParaRPr lang="en-US" sz="2600" dirty="0"/>
          </a:p>
        </p:txBody>
      </p:sp>
      <p:sp>
        <p:nvSpPr>
          <p:cNvPr id="15" name="Text 12"/>
          <p:cNvSpPr/>
          <p:nvPr/>
        </p:nvSpPr>
        <p:spPr>
          <a:xfrm>
            <a:off x="4539386" y="29900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NAMESPACE</a:t>
            </a:r>
            <a:endParaRPr lang="en-US" sz="950" dirty="0"/>
          </a:p>
        </p:txBody>
      </p:sp>
      <p:sp>
        <p:nvSpPr>
          <p:cNvPr id="16" name="Text 13"/>
          <p:cNvSpPr/>
          <p:nvPr/>
        </p:nvSpPr>
        <p:spPr>
          <a:xfrm>
            <a:off x="4539386" y="3465576"/>
            <a:ext cx="3112922" cy="185623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Rooted at the learner's own quotation, so membership is a formula. Reproductive isolation, species, and modularity all become statements in the same language.</a:t>
            </a:r>
            <a:endParaRPr lang="en-US" sz="1050" dirty="0"/>
          </a:p>
        </p:txBody>
      </p:sp>
      <p:sp>
        <p:nvSpPr>
          <p:cNvPr id="17" name="Shape 14"/>
          <p:cNvSpPr/>
          <p:nvPr/>
        </p:nvSpPr>
        <p:spPr>
          <a:xfrm>
            <a:off x="8072933" y="2331720"/>
            <a:ext cx="3551834" cy="3154680"/>
          </a:xfrm>
          <a:prstGeom prst="rect">
            <a:avLst/>
          </a:prstGeom>
          <a:solidFill>
            <a:srgbClr val="0B0B0B"/>
          </a:solidFill>
          <a:ln w="9525">
            <a:solidFill>
              <a:srgbClr val="00729C"/>
            </a:solidFill>
            <a:prstDash val="solid"/>
          </a:ln>
        </p:spPr>
      </p:sp>
      <p:sp>
        <p:nvSpPr>
          <p:cNvPr id="18" name="Text 15"/>
          <p:cNvSpPr/>
          <p:nvPr/>
        </p:nvSpPr>
        <p:spPr>
          <a:xfrm>
            <a:off x="8292389" y="2478024"/>
            <a:ext cx="3112922" cy="457200"/>
          </a:xfrm>
          <a:prstGeom prst="rect">
            <a:avLst/>
          </a:prstGeom>
          <a:noFill/>
          <a:ln/>
        </p:spPr>
        <p:txBody>
          <a:bodyPr wrap="square" lIns="0" tIns="0" rIns="0" bIns="0" rtlCol="0" anchor="t"/>
          <a:lstStyle/>
          <a:p>
            <a:pPr indent="0" marL="0">
              <a:buNone/>
            </a:pPr>
            <a:r>
              <a:rPr lang="en-US" sz="2600" b="1" dirty="0">
                <a:solidFill>
                  <a:srgbClr val="00B0F0"/>
                </a:solidFill>
                <a:latin typeface="Arial" pitchFamily="34" charset="0"/>
                <a:ea typeface="Arial" pitchFamily="34" charset="-122"/>
                <a:cs typeface="Arial" pitchFamily="34" charset="-120"/>
              </a:rPr>
              <a:t>3</a:t>
            </a:r>
            <a:endParaRPr lang="en-US" sz="2600" dirty="0"/>
          </a:p>
        </p:txBody>
      </p:sp>
      <p:sp>
        <p:nvSpPr>
          <p:cNvPr id="19" name="Text 16"/>
          <p:cNvSpPr/>
          <p:nvPr/>
        </p:nvSpPr>
        <p:spPr>
          <a:xfrm>
            <a:off x="8292389" y="2990088"/>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DISTRIBUTION</a:t>
            </a:r>
            <a:endParaRPr lang="en-US" sz="950" dirty="0"/>
          </a:p>
        </p:txBody>
      </p:sp>
      <p:sp>
        <p:nvSpPr>
          <p:cNvPr id="20" name="Text 17"/>
          <p:cNvSpPr/>
          <p:nvPr/>
        </p:nvSpPr>
        <p:spPr>
          <a:xfrm>
            <a:off x="8292389" y="3465576"/>
            <a:ext cx="3112922" cy="1856232"/>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Over configurations of the above, and inside the learner. Learners then compose by parallel composition, and the whole content of the composition is what their namespaces share.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COMPOSITION</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DISJOINTNESS IS EXACTLY FACTORISATION</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One operator, and a theorem that turns a modelling caveat into a measurement.</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COMPOSING LEARNERS</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1874520"/>
            <a:ext cx="11057839" cy="1188720"/>
          </a:xfrm>
          <a:prstGeom prst="rect">
            <a:avLst/>
          </a:prstGeom>
          <a:solidFill>
            <a:srgbClr val="0B0B0B"/>
          </a:solidFill>
          <a:ln w="9525">
            <a:solidFill>
              <a:srgbClr val="00729C"/>
            </a:solidFill>
            <a:prstDash val="solid"/>
          </a:ln>
        </p:spPr>
      </p:sp>
      <p:sp>
        <p:nvSpPr>
          <p:cNvPr id="9" name="Text 6"/>
          <p:cNvSpPr/>
          <p:nvPr/>
        </p:nvSpPr>
        <p:spPr>
          <a:xfrm>
            <a:off x="822960" y="2048256"/>
            <a:ext cx="1097280" cy="237744"/>
          </a:xfrm>
          <a:prstGeom prst="rect">
            <a:avLst/>
          </a:prstGeom>
          <a:noFill/>
          <a:ln/>
        </p:spPr>
        <p:txBody>
          <a:bodyPr wrap="square" lIns="0" tIns="0" rIns="0" bIns="0" rtlCol="0" anchor="t"/>
          <a:lstStyle/>
          <a:p>
            <a:pPr indent="0" marL="0">
              <a:buNone/>
            </a:pPr>
            <a:r>
              <a:rPr lang="en-US" sz="950" b="1" spc="140" kern="0" dirty="0">
                <a:solidFill>
                  <a:srgbClr val="00B0F0"/>
                </a:solidFill>
                <a:latin typeface="Arial" pitchFamily="34" charset="0"/>
                <a:ea typeface="Arial" pitchFamily="34" charset="-122"/>
                <a:cs typeface="Arial" pitchFamily="34" charset="-120"/>
              </a:rPr>
              <a:t>THEOREM</a:t>
            </a:r>
            <a:endParaRPr lang="en-US" sz="950" dirty="0"/>
          </a:p>
        </p:txBody>
      </p:sp>
      <p:sp>
        <p:nvSpPr>
          <p:cNvPr id="10" name="Text 7"/>
          <p:cNvSpPr/>
          <p:nvPr/>
        </p:nvSpPr>
        <p:spPr>
          <a:xfrm>
            <a:off x="2121408" y="2011680"/>
            <a:ext cx="9229039" cy="365760"/>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namespace disjointness   ⟺   no spanning redex   ⟺   μ₁₂ = μ₁ ⊗ μ₂</a:t>
            </a:r>
            <a:endParaRPr lang="en-US" sz="1500" dirty="0"/>
          </a:p>
        </p:txBody>
      </p:sp>
      <p:sp>
        <p:nvSpPr>
          <p:cNvPr id="11" name="Text 8"/>
          <p:cNvSpPr/>
          <p:nvPr/>
        </p:nvSpPr>
        <p:spPr>
          <a:xfrm>
            <a:off x="2121408" y="2487168"/>
            <a:ext cx="9229039" cy="384048"/>
          </a:xfrm>
          <a:prstGeom prst="rect">
            <a:avLst/>
          </a:prstGeom>
          <a:noFill/>
          <a:ln/>
        </p:spPr>
        <p:txBody>
          <a:bodyPr wrap="square" lIns="0" tIns="0" rIns="0" bIns="0" rtlCol="0" anchor="t"/>
          <a:lstStyle/>
          <a:p>
            <a:pPr indent="0" marL="0">
              <a:buNone/>
            </a:pPr>
            <a:r>
              <a:rPr lang="en-US" sz="1100" dirty="0">
                <a:solidFill>
                  <a:srgbClr val="BFBFBF"/>
                </a:solidFill>
                <a:latin typeface="Arial" pitchFamily="34" charset="0"/>
                <a:ea typeface="Arial" pitchFamily="34" charset="-122"/>
                <a:cs typeface="Arial" pitchFamily="34" charset="-120"/>
              </a:rPr>
              <a:t>So the graded separation |₀ᴺ is probabilistic independence, and composition is strictly monoidal at zero grade.</a:t>
            </a:r>
            <a:endParaRPr lang="en-US" sz="1100" dirty="0"/>
          </a:p>
        </p:txBody>
      </p:sp>
      <p:sp>
        <p:nvSpPr>
          <p:cNvPr id="12" name="Shape 9"/>
          <p:cNvSpPr/>
          <p:nvPr/>
        </p:nvSpPr>
        <p:spPr>
          <a:xfrm>
            <a:off x="566928" y="3246120"/>
            <a:ext cx="5410048" cy="2331720"/>
          </a:xfrm>
          <a:prstGeom prst="rect">
            <a:avLst/>
          </a:prstGeom>
          <a:solidFill>
            <a:srgbClr val="0B0B0B"/>
          </a:solidFill>
          <a:ln w="9525">
            <a:solidFill>
              <a:srgbClr val="00729C"/>
            </a:solidFill>
            <a:prstDash val="solid"/>
          </a:ln>
        </p:spPr>
      </p:sp>
      <p:sp>
        <p:nvSpPr>
          <p:cNvPr id="13" name="Text 10"/>
          <p:cNvSpPr/>
          <p:nvPr/>
        </p:nvSpPr>
        <p:spPr>
          <a:xfrm>
            <a:off x="786384" y="3392424"/>
            <a:ext cx="4971136"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THE DEFECT IS THE INTERACTION</a:t>
            </a:r>
            <a:endParaRPr lang="en-US" sz="950" dirty="0"/>
          </a:p>
        </p:txBody>
      </p:sp>
      <p:sp>
        <p:nvSpPr>
          <p:cNvPr id="14" name="Text 11"/>
          <p:cNvSpPr/>
          <p:nvPr/>
        </p:nvSpPr>
        <p:spPr>
          <a:xfrm>
            <a:off x="786384" y="3867912"/>
            <a:ext cx="4971136" cy="15453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The lax comparison map λ : s(L₁) ⊗ s(L₂) → s(L₁ | L₂) is an isomorphism exactly at k = 0. Everywhere else its failure to be iso is not a caveat about the construction — it is the interaction, as a computable quantity.</a:t>
            </a:r>
            <a:endParaRPr lang="en-US" sz="1050" dirty="0"/>
          </a:p>
        </p:txBody>
      </p:sp>
      <p:sp>
        <p:nvSpPr>
          <p:cNvPr id="15" name="Shape 12"/>
          <p:cNvSpPr/>
          <p:nvPr/>
        </p:nvSpPr>
        <p:spPr>
          <a:xfrm>
            <a:off x="6214720" y="3246120"/>
            <a:ext cx="5410048" cy="2331720"/>
          </a:xfrm>
          <a:prstGeom prst="rect">
            <a:avLst/>
          </a:prstGeom>
          <a:solidFill>
            <a:srgbClr val="0B0B0B"/>
          </a:solidFill>
          <a:ln w="9525">
            <a:solidFill>
              <a:srgbClr val="00729C"/>
            </a:solidFill>
            <a:prstDash val="solid"/>
          </a:ln>
        </p:spPr>
      </p:sp>
      <p:sp>
        <p:nvSpPr>
          <p:cNvPr id="16" name="Text 13"/>
          <p:cNvSpPr/>
          <p:nvPr/>
        </p:nvSpPr>
        <p:spPr>
          <a:xfrm>
            <a:off x="6434176" y="3392424"/>
            <a:ext cx="4971136"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NON-INTERFERENCE IS NOT STABLE</a:t>
            </a:r>
            <a:endParaRPr lang="en-US" sz="950" dirty="0"/>
          </a:p>
        </p:txBody>
      </p:sp>
      <p:sp>
        <p:nvSpPr>
          <p:cNvPr id="17" name="Text 14"/>
          <p:cNvSpPr/>
          <p:nvPr/>
        </p:nvSpPr>
        <p:spPr>
          <a:xfrm>
            <a:off x="6434176" y="3867912"/>
            <a:ext cx="4971136" cy="15453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Names manufactured independently may coincide, so disjointness can be lost without anyone intending it. Root each learner's namespace at its own quotation and freshness-by-quotation makes disjointness a theorem. Modularity is purchasable; the price is a naming discipline.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TYPED OVERLAP</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ONE GRADE IS NOT ENOUGH</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A learner's namespace is typed — metabolic, source, probe, mating — and grading separately over each recovers the classical table of ecological relations as sign conditions rather than importing it.</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Same lesson as the board encoding, one level up: choosing N is the content. Symbiosis is metabolic pooling — the composite the trophic section already predicted.</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COMPOSING LEARNERS</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103120"/>
            <a:ext cx="11057839" cy="960120"/>
          </a:xfrm>
          <a:prstGeom prst="rect">
            <a:avLst/>
          </a:prstGeom>
          <a:solidFill>
            <a:srgbClr val="0B0B0B"/>
          </a:solidFill>
          <a:ln w="9525">
            <a:solidFill>
              <a:srgbClr val="00729C"/>
            </a:solidFill>
            <a:prstDash val="solid"/>
          </a:ln>
        </p:spPr>
      </p:sp>
      <p:sp>
        <p:nvSpPr>
          <p:cNvPr id="10" name="Text 7"/>
          <p:cNvSpPr/>
          <p:nvPr/>
        </p:nvSpPr>
        <p:spPr>
          <a:xfrm>
            <a:off x="822960" y="2267712"/>
            <a:ext cx="10545775" cy="329184"/>
          </a:xfrm>
          <a:prstGeom prst="rect">
            <a:avLst/>
          </a:prstGeom>
          <a:noFill/>
          <a:ln/>
        </p:spPr>
        <p:txBody>
          <a:bodyPr wrap="square" lIns="0" tIns="0" rIns="0" bIns="0" rtlCol="0" anchor="t"/>
          <a:lstStyle/>
          <a:p>
            <a:pPr indent="0" marL="0">
              <a:buNone/>
            </a:pPr>
            <a:r>
              <a:rPr lang="en-US" sz="1500" b="1" dirty="0">
                <a:solidFill>
                  <a:srgbClr val="F7E478"/>
                </a:solidFill>
                <a:latin typeface="Courier New" pitchFamily="34" charset="0"/>
                <a:ea typeface="Courier New" pitchFamily="34" charset="-122"/>
                <a:cs typeface="Courier New" pitchFamily="34" charset="-120"/>
              </a:rPr>
              <a:t>k  =  ( k_met ,  k_src ,  k_prb ,  k_mat )        — later, a fifth: k_chn</a:t>
            </a:r>
            <a:endParaRPr lang="en-US" sz="1500" dirty="0"/>
          </a:p>
        </p:txBody>
      </p:sp>
      <p:sp>
        <p:nvSpPr>
          <p:cNvPr id="11" name="Text 8"/>
          <p:cNvSpPr/>
          <p:nvPr/>
        </p:nvSpPr>
        <p:spPr>
          <a:xfrm>
            <a:off x="822960" y="2670048"/>
            <a:ext cx="10545775" cy="2743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one grade per typed namespace: what the two learners share of metabolism, of sources, of probes, of mating</a:t>
            </a:r>
            <a:endParaRPr lang="en-US" sz="1050" dirty="0"/>
          </a:p>
        </p:txBody>
      </p:sp>
      <p:sp>
        <p:nvSpPr>
          <p:cNvPr id="12" name="Shape 9"/>
          <p:cNvSpPr/>
          <p:nvPr/>
        </p:nvSpPr>
        <p:spPr>
          <a:xfrm>
            <a:off x="566928" y="3246120"/>
            <a:ext cx="2641016" cy="2331720"/>
          </a:xfrm>
          <a:prstGeom prst="rect">
            <a:avLst/>
          </a:prstGeom>
          <a:solidFill>
            <a:srgbClr val="0B0B0B"/>
          </a:solidFill>
          <a:ln w="9525">
            <a:solidFill>
              <a:srgbClr val="00729C"/>
            </a:solidFill>
            <a:prstDash val="solid"/>
          </a:ln>
        </p:spPr>
      </p:sp>
      <p:sp>
        <p:nvSpPr>
          <p:cNvPr id="13" name="Text 10"/>
          <p:cNvSpPr/>
          <p:nvPr/>
        </p:nvSpPr>
        <p:spPr>
          <a:xfrm>
            <a:off x="786384" y="3392424"/>
            <a:ext cx="2202104"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NEUTRALISM</a:t>
            </a:r>
            <a:endParaRPr lang="en-US" sz="950" dirty="0"/>
          </a:p>
        </p:txBody>
      </p:sp>
      <p:sp>
        <p:nvSpPr>
          <p:cNvPr id="14" name="Text 11"/>
          <p:cNvSpPr/>
          <p:nvPr/>
        </p:nvSpPr>
        <p:spPr>
          <a:xfrm>
            <a:off x="786384" y="3867912"/>
            <a:ext cx="2202104" cy="15453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k = 0 everywhere. Independence, and the only case in which the composite factorises.</a:t>
            </a:r>
            <a:endParaRPr lang="en-US" sz="1050" dirty="0"/>
          </a:p>
        </p:txBody>
      </p:sp>
      <p:sp>
        <p:nvSpPr>
          <p:cNvPr id="15" name="Shape 12"/>
          <p:cNvSpPr/>
          <p:nvPr/>
        </p:nvSpPr>
        <p:spPr>
          <a:xfrm>
            <a:off x="3372536" y="3246120"/>
            <a:ext cx="2641016" cy="2331720"/>
          </a:xfrm>
          <a:prstGeom prst="rect">
            <a:avLst/>
          </a:prstGeom>
          <a:solidFill>
            <a:srgbClr val="0B0B0B"/>
          </a:solidFill>
          <a:ln w="9525">
            <a:solidFill>
              <a:srgbClr val="00729C"/>
            </a:solidFill>
            <a:prstDash val="solid"/>
          </a:ln>
        </p:spPr>
      </p:sp>
      <p:sp>
        <p:nvSpPr>
          <p:cNvPr id="16" name="Text 13"/>
          <p:cNvSpPr/>
          <p:nvPr/>
        </p:nvSpPr>
        <p:spPr>
          <a:xfrm>
            <a:off x="3591992" y="3392424"/>
            <a:ext cx="2202104"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COMPETITION</a:t>
            </a:r>
            <a:endParaRPr lang="en-US" sz="950" dirty="0"/>
          </a:p>
        </p:txBody>
      </p:sp>
      <p:sp>
        <p:nvSpPr>
          <p:cNvPr id="17" name="Text 14"/>
          <p:cNvSpPr/>
          <p:nvPr/>
        </p:nvSpPr>
        <p:spPr>
          <a:xfrm>
            <a:off x="3591992" y="3867912"/>
            <a:ext cx="2202104" cy="15453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Overlap in source or metabolic namespaces, with both signs negative. Delivered without contact.</a:t>
            </a:r>
            <a:endParaRPr lang="en-US" sz="1050" dirty="0"/>
          </a:p>
        </p:txBody>
      </p:sp>
      <p:sp>
        <p:nvSpPr>
          <p:cNvPr id="18" name="Shape 15"/>
          <p:cNvSpPr/>
          <p:nvPr/>
        </p:nvSpPr>
        <p:spPr>
          <a:xfrm>
            <a:off x="6178144" y="3246120"/>
            <a:ext cx="2641016" cy="2331720"/>
          </a:xfrm>
          <a:prstGeom prst="rect">
            <a:avLst/>
          </a:prstGeom>
          <a:solidFill>
            <a:srgbClr val="0B0B0B"/>
          </a:solidFill>
          <a:ln w="9525">
            <a:solidFill>
              <a:srgbClr val="00729C"/>
            </a:solidFill>
            <a:prstDash val="solid"/>
          </a:ln>
        </p:spPr>
      </p:sp>
      <p:sp>
        <p:nvSpPr>
          <p:cNvPr id="19" name="Text 16"/>
          <p:cNvSpPr/>
          <p:nvPr/>
        </p:nvSpPr>
        <p:spPr>
          <a:xfrm>
            <a:off x="6397600" y="3392424"/>
            <a:ext cx="2202104"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PREDATION &amp; THEFT</a:t>
            </a:r>
            <a:endParaRPr lang="en-US" sz="950" dirty="0"/>
          </a:p>
        </p:txBody>
      </p:sp>
      <p:sp>
        <p:nvSpPr>
          <p:cNvPr id="20" name="Text 17"/>
          <p:cNvSpPr/>
          <p:nvPr/>
        </p:nvSpPr>
        <p:spPr>
          <a:xfrm>
            <a:off x="6397600" y="3867912"/>
            <a:ext cx="2202104" cy="15453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Metabolic overlap with opposed signs, or probe overlap taken without payment.</a:t>
            </a:r>
            <a:endParaRPr lang="en-US" sz="1050" dirty="0"/>
          </a:p>
        </p:txBody>
      </p:sp>
      <p:sp>
        <p:nvSpPr>
          <p:cNvPr id="21" name="Shape 18"/>
          <p:cNvSpPr/>
          <p:nvPr/>
        </p:nvSpPr>
        <p:spPr>
          <a:xfrm>
            <a:off x="8983751" y="3246120"/>
            <a:ext cx="2641016" cy="2331720"/>
          </a:xfrm>
          <a:prstGeom prst="rect">
            <a:avLst/>
          </a:prstGeom>
          <a:solidFill>
            <a:srgbClr val="0B0B0B"/>
          </a:solidFill>
          <a:ln w="9525">
            <a:solidFill>
              <a:srgbClr val="00729C"/>
            </a:solidFill>
            <a:prstDash val="solid"/>
          </a:ln>
        </p:spPr>
      </p:sp>
      <p:sp>
        <p:nvSpPr>
          <p:cNvPr id="22" name="Text 19"/>
          <p:cNvSpPr/>
          <p:nvPr/>
        </p:nvSpPr>
        <p:spPr>
          <a:xfrm>
            <a:off x="9203207" y="3392424"/>
            <a:ext cx="2202104"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MUTUALISM</a:t>
            </a:r>
            <a:endParaRPr lang="en-US" sz="950" dirty="0"/>
          </a:p>
        </p:txBody>
      </p:sp>
      <p:sp>
        <p:nvSpPr>
          <p:cNvPr id="23" name="Text 20"/>
          <p:cNvSpPr/>
          <p:nvPr/>
        </p:nvSpPr>
        <p:spPr>
          <a:xfrm>
            <a:off x="9203207" y="3867912"/>
            <a:ext cx="2202104" cy="154533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Positive on both sides — and available only over the probe namespace.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TWO CURRENCIES, ONE CONSERVATION LAW</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COOPERATION IS EPISTEMIC; COMPETITION IS METABOLIC</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Tokens are conserved. Formulae are not. That single asymmetry decides which ecological relations can be positive-sum and which cannot.</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COMPOSING LEARNERS</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2148840"/>
            <a:ext cx="5410048" cy="2240280"/>
          </a:xfrm>
          <a:prstGeom prst="rect">
            <a:avLst/>
          </a:prstGeom>
          <a:solidFill>
            <a:srgbClr val="0B0B0B"/>
          </a:solidFill>
          <a:ln w="9525">
            <a:solidFill>
              <a:srgbClr val="00729C"/>
            </a:solidFill>
            <a:prstDash val="solid"/>
          </a:ln>
        </p:spPr>
      </p:sp>
      <p:sp>
        <p:nvSpPr>
          <p:cNvPr id="9" name="Text 6"/>
          <p:cNvSpPr/>
          <p:nvPr/>
        </p:nvSpPr>
        <p:spPr>
          <a:xfrm>
            <a:off x="786384" y="2295144"/>
            <a:ext cx="4971136"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NO METABOLIC MUTUALISM</a:t>
            </a:r>
            <a:endParaRPr lang="en-US" sz="950" dirty="0"/>
          </a:p>
        </p:txBody>
      </p:sp>
      <p:sp>
        <p:nvSpPr>
          <p:cNvPr id="10" name="Text 7"/>
          <p:cNvSpPr/>
          <p:nvPr/>
        </p:nvSpPr>
        <p:spPr>
          <a:xfrm>
            <a:off x="786384" y="2770632"/>
            <a:ext cx="4971136" cy="14538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If the overlap is confined to the metabolic and source namespaces then Δ₁ + Δ₂ ≤ 0. Whatever one learner gains in tokens the other has lost, because there is no minting anywhere in the system.</a:t>
            </a:r>
            <a:endParaRPr lang="en-US" sz="1050" dirty="0"/>
          </a:p>
        </p:txBody>
      </p:sp>
      <p:sp>
        <p:nvSpPr>
          <p:cNvPr id="11" name="Shape 8"/>
          <p:cNvSpPr/>
          <p:nvPr/>
        </p:nvSpPr>
        <p:spPr>
          <a:xfrm>
            <a:off x="6214720" y="2148840"/>
            <a:ext cx="5410048" cy="2240280"/>
          </a:xfrm>
          <a:prstGeom prst="rect">
            <a:avLst/>
          </a:prstGeom>
          <a:solidFill>
            <a:srgbClr val="0B0B0B"/>
          </a:solidFill>
          <a:ln w="9525">
            <a:solidFill>
              <a:srgbClr val="00729C"/>
            </a:solidFill>
            <a:prstDash val="solid"/>
          </a:ln>
        </p:spPr>
      </p:sp>
      <p:sp>
        <p:nvSpPr>
          <p:cNvPr id="12" name="Text 9"/>
          <p:cNvSpPr/>
          <p:nvPr/>
        </p:nvSpPr>
        <p:spPr>
          <a:xfrm>
            <a:off x="6434176" y="2295144"/>
            <a:ext cx="4971136"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POSITIVE SUM LIVES IN THE PROBE NAMESPACE</a:t>
            </a:r>
            <a:endParaRPr lang="en-US" sz="950" dirty="0"/>
          </a:p>
        </p:txBody>
      </p:sp>
      <p:sp>
        <p:nvSpPr>
          <p:cNvPr id="13" name="Text 10"/>
          <p:cNvSpPr/>
          <p:nvPr/>
        </p:nvSpPr>
        <p:spPr>
          <a:xfrm>
            <a:off x="6434176" y="2770632"/>
            <a:ext cx="4971136" cy="14538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 formula can be read by both parties without either losing it, and a written surface costs nothing to leave standing. Amortised perception is the mechanism: cost relocation, and the question of who is billed.</a:t>
            </a:r>
            <a:endParaRPr lang="en-US" sz="1050" dirty="0"/>
          </a:p>
        </p:txBody>
      </p:sp>
      <p:sp>
        <p:nvSpPr>
          <p:cNvPr id="14" name="Shape 11"/>
          <p:cNvSpPr/>
          <p:nvPr/>
        </p:nvSpPr>
        <p:spPr>
          <a:xfrm>
            <a:off x="566928" y="4572000"/>
            <a:ext cx="11057839" cy="1051560"/>
          </a:xfrm>
          <a:prstGeom prst="rect">
            <a:avLst/>
          </a:prstGeom>
          <a:solidFill>
            <a:srgbClr val="0B0B0B"/>
          </a:solidFill>
          <a:ln w="9525">
            <a:solidFill>
              <a:srgbClr val="00729C"/>
            </a:solidFill>
            <a:prstDash val="solid"/>
          </a:ln>
        </p:spPr>
      </p:sp>
      <p:sp>
        <p:nvSpPr>
          <p:cNvPr id="15" name="Text 12"/>
          <p:cNvSpPr/>
          <p:nvPr/>
        </p:nvSpPr>
        <p:spPr>
          <a:xfrm>
            <a:off x="822960" y="4736592"/>
            <a:ext cx="10545775" cy="219456"/>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THE QUALIFICATION THE ENGINE NOTE ADDS</a:t>
            </a:r>
            <a:endParaRPr lang="en-US" sz="950" dirty="0"/>
          </a:p>
        </p:txBody>
      </p:sp>
      <p:sp>
        <p:nvSpPr>
          <p:cNvPr id="16" name="Text 13"/>
          <p:cNvSpPr/>
          <p:nvPr/>
        </p:nvSpPr>
        <p:spPr>
          <a:xfrm>
            <a:off x="822960" y="5029200"/>
            <a:ext cx="10545775" cy="448056"/>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Once communities have distinct token colours, conversion between dead stock and live stock is positive-sum in residual life even though it conserves the underlying quantity. So the slogan survives in tokens and needs care in lifetimes — the accounting is exact, the welfare claim is not.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MEASURED, TWICE</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WHETHER TRUTH IS AFFORDABLE IS A PROPERTY OF THE ENVIRONMENT</a:t>
            </a:r>
            <a:endParaRPr lang="en-US" sz="23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Nim, laddered by the same method and the same pricing schedule as the game note — and it inverts that note's headline.</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Competitive dilution then delivers the loss without either learner perceiving, modelling, or touching the other. It is competitive exclusion in epistemic currency.</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COMPOSING LEARNERS</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194560"/>
            <a:ext cx="3551834" cy="3291840"/>
          </a:xfrm>
          <a:prstGeom prst="rect">
            <a:avLst/>
          </a:prstGeom>
          <a:solidFill>
            <a:srgbClr val="0B0B0B"/>
          </a:solidFill>
          <a:ln w="9525">
            <a:solidFill>
              <a:srgbClr val="00729C"/>
            </a:solidFill>
            <a:prstDash val="solid"/>
          </a:ln>
        </p:spPr>
      </p:sp>
      <p:sp>
        <p:nvSpPr>
          <p:cNvPr id="10" name="Text 7"/>
          <p:cNvSpPr/>
          <p:nvPr/>
        </p:nvSpPr>
        <p:spPr>
          <a:xfrm>
            <a:off x="786384" y="234086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NIM(3,4,5) — RETURNS FLAT</a:t>
            </a:r>
            <a:endParaRPr lang="en-US" sz="950" dirty="0"/>
          </a:p>
        </p:txBody>
      </p:sp>
      <p:sp>
        <p:nvSpPr>
          <p:cNvPr id="11" name="Text 8"/>
          <p:cNvSpPr/>
          <p:nvPr/>
        </p:nvSpPr>
        <p:spPr>
          <a:xfrm>
            <a:off x="786384" y="2816352"/>
            <a:ext cx="3112922" cy="2505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win .5000 / .6567 / .8899 / .9966</a:t>
            </a:r>
            <a:endParaRPr lang="en-US" sz="1050" dirty="0"/>
          </a:p>
          <a:p>
            <a:pPr indent="0" marL="0">
              <a:lnSpc>
                <a:spcPct val="114000"/>
              </a:lnSpc>
              <a:buNone/>
            </a:pPr>
            <a:r>
              <a:rPr lang="en-US" sz="1050" dirty="0">
                <a:solidFill>
                  <a:srgbClr val="BFBFBF"/>
                </a:solidFill>
                <a:latin typeface="Arial" pitchFamily="34" charset="0"/>
                <a:ea typeface="Arial" pitchFamily="34" charset="-122"/>
                <a:cs typeface="Arial" pitchFamily="34" charset="-120"/>
              </a:rPr>
              <a:t>cost 0 / 38.9 / 80.4 / 99.6</a:t>
            </a:r>
            <a:endParaRPr lang="en-US" sz="1050" dirty="0"/>
          </a:p>
          <a:p>
            <a:pPr indent="0" marL="0">
              <a:lnSpc>
                <a:spcPct val="114000"/>
              </a:lnSpc>
              <a:buNone/>
            </a:pPr>
            <a:r>
              <a:rPr lang="en-US" sz="1050" dirty="0">
                <a:solidFill>
                  <a:srgbClr val="BFBFBF"/>
                </a:solidFill>
                <a:latin typeface="Arial" pitchFamily="34" charset="0"/>
                <a:ea typeface="Arial" pitchFamily="34" charset="-122"/>
                <a:cs typeface="Arial" pitchFamily="34" charset="-120"/>
              </a:rPr>
              <a:t>return +.00403 / +.00562 / +.00555</a:t>
            </a:r>
            <a:endParaRPr lang="en-US" sz="1050" dirty="0"/>
          </a:p>
          <a:p>
            <a:pPr indent="0" marL="0">
              <a:lnSpc>
                <a:spcPct val="114000"/>
              </a:lnSpc>
              <a:buNone/>
            </a:pPr>
            <a:endParaRPr lang="en-US" sz="1050" dirty="0"/>
          </a:p>
          <a:p>
            <a:pPr indent="0" marL="0">
              <a:lnSpc>
                <a:spcPct val="114000"/>
              </a:lnSpc>
              <a:buNone/>
            </a:pPr>
            <a:r>
              <a:rPr lang="en-US" sz="1050" dirty="0">
                <a:solidFill>
                  <a:srgbClr val="BFBFBF"/>
                </a:solidFill>
                <a:latin typeface="Arial" pitchFamily="34" charset="0"/>
                <a:ea typeface="Arial" pitchFamily="34" charset="-122"/>
                <a:cs typeface="Arial" pitchFamily="34" charset="-120"/>
              </a:rPr>
              <a:t>χ is not dominated here.</a:t>
            </a:r>
            <a:endParaRPr lang="en-US" sz="1050" dirty="0"/>
          </a:p>
        </p:txBody>
      </p:sp>
      <p:sp>
        <p:nvSpPr>
          <p:cNvPr id="12" name="Shape 9"/>
          <p:cNvSpPr/>
          <p:nvPr/>
        </p:nvSpPr>
        <p:spPr>
          <a:xfrm>
            <a:off x="4319930" y="2194560"/>
            <a:ext cx="3551834" cy="3291840"/>
          </a:xfrm>
          <a:prstGeom prst="rect">
            <a:avLst/>
          </a:prstGeom>
          <a:solidFill>
            <a:srgbClr val="0B0B0B"/>
          </a:solidFill>
          <a:ln w="9525">
            <a:solidFill>
              <a:srgbClr val="00729C"/>
            </a:solidFill>
            <a:prstDash val="solid"/>
          </a:ln>
        </p:spPr>
      </p:sp>
      <p:sp>
        <p:nvSpPr>
          <p:cNvPr id="13" name="Text 10"/>
          <p:cNvSpPr/>
          <p:nvPr/>
        </p:nvSpPr>
        <p:spPr>
          <a:xfrm>
            <a:off x="4539386" y="234086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NIM(1,2,3) — RETURNS RISING</a:t>
            </a:r>
            <a:endParaRPr lang="en-US" sz="950" dirty="0"/>
          </a:p>
        </p:txBody>
      </p:sp>
      <p:sp>
        <p:nvSpPr>
          <p:cNvPr id="14" name="Text 11"/>
          <p:cNvSpPr/>
          <p:nvPr/>
        </p:nvSpPr>
        <p:spPr>
          <a:xfrm>
            <a:off x="4539386" y="2816352"/>
            <a:ext cx="3112922" cy="2505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win .5000 / .5917 / .7958 / .9000</a:t>
            </a:r>
            <a:endParaRPr lang="en-US" sz="1050" dirty="0"/>
          </a:p>
          <a:p>
            <a:pPr indent="0" marL="0">
              <a:lnSpc>
                <a:spcPct val="114000"/>
              </a:lnSpc>
              <a:buNone/>
            </a:pPr>
            <a:r>
              <a:rPr lang="en-US" sz="1050" dirty="0">
                <a:solidFill>
                  <a:srgbClr val="BFBFBF"/>
                </a:solidFill>
                <a:latin typeface="Arial" pitchFamily="34" charset="0"/>
                <a:ea typeface="Arial" pitchFamily="34" charset="-122"/>
                <a:cs typeface="Arial" pitchFamily="34" charset="-120"/>
              </a:rPr>
              <a:t>cost 0 / 15.2 / 31.4 / 38.5</a:t>
            </a:r>
            <a:endParaRPr lang="en-US" sz="1050" dirty="0"/>
          </a:p>
          <a:p>
            <a:pPr indent="0" marL="0">
              <a:lnSpc>
                <a:spcPct val="114000"/>
              </a:lnSpc>
              <a:buNone/>
            </a:pPr>
            <a:r>
              <a:rPr lang="en-US" sz="1050" dirty="0">
                <a:solidFill>
                  <a:srgbClr val="BFBFBF"/>
                </a:solidFill>
                <a:latin typeface="Arial" pitchFamily="34" charset="0"/>
                <a:ea typeface="Arial" pitchFamily="34" charset="-122"/>
                <a:cs typeface="Arial" pitchFamily="34" charset="-120"/>
              </a:rPr>
              <a:t>return +.00602 / +.01262 / +.01476</a:t>
            </a:r>
            <a:endParaRPr lang="en-US" sz="1050" dirty="0"/>
          </a:p>
          <a:p>
            <a:pPr indent="0" marL="0">
              <a:lnSpc>
                <a:spcPct val="114000"/>
              </a:lnSpc>
              <a:buNone/>
            </a:pPr>
            <a:endParaRPr lang="en-US" sz="1050" dirty="0"/>
          </a:p>
          <a:p>
            <a:pPr indent="0" marL="0">
              <a:lnSpc>
                <a:spcPct val="114000"/>
              </a:lnSpc>
              <a:buNone/>
            </a:pPr>
            <a:r>
              <a:rPr lang="en-US" sz="1050" dirty="0">
                <a:solidFill>
                  <a:srgbClr val="BFBFBF"/>
                </a:solidFill>
                <a:latin typeface="Arial" pitchFamily="34" charset="0"/>
                <a:ea typeface="Arial" pitchFamily="34" charset="-122"/>
                <a:cs typeface="Arial" pitchFamily="34" charset="-120"/>
              </a:rPr>
              <a:t>χ is the best buy on the ladder.</a:t>
            </a:r>
            <a:endParaRPr lang="en-US" sz="1050" dirty="0"/>
          </a:p>
        </p:txBody>
      </p:sp>
      <p:sp>
        <p:nvSpPr>
          <p:cNvPr id="15" name="Shape 12"/>
          <p:cNvSpPr/>
          <p:nvPr/>
        </p:nvSpPr>
        <p:spPr>
          <a:xfrm>
            <a:off x="8072933" y="2194560"/>
            <a:ext cx="3551834" cy="3291840"/>
          </a:xfrm>
          <a:prstGeom prst="rect">
            <a:avLst/>
          </a:prstGeom>
          <a:solidFill>
            <a:srgbClr val="0B0B0B"/>
          </a:solidFill>
          <a:ln w="9525">
            <a:solidFill>
              <a:srgbClr val="00729C"/>
            </a:solidFill>
            <a:prstDash val="solid"/>
          </a:ln>
        </p:spPr>
      </p:sp>
      <p:sp>
        <p:nvSpPr>
          <p:cNvPr id="16" name="Text 13"/>
          <p:cNvSpPr/>
          <p:nvPr/>
        </p:nvSpPr>
        <p:spPr>
          <a:xfrm>
            <a:off x="8292389" y="234086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COMPETITIVE DILUTION, IN CLOSED FORM</a:t>
            </a:r>
            <a:endParaRPr lang="en-US" sz="950" dirty="0"/>
          </a:p>
        </p:txBody>
      </p:sp>
      <p:sp>
        <p:nvSpPr>
          <p:cNvPr id="17" name="Text 14"/>
          <p:cNvSpPr/>
          <p:nvPr/>
        </p:nvSpPr>
        <p:spPr>
          <a:xfrm>
            <a:off x="8292389" y="2816352"/>
            <a:ext cx="3112922" cy="2505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At a shared rate-limited source with shares ∝ 1/cost, each learner retains exactly c_other / (c_self + c_other) of the inquiry it could afford alone — independent of every other parameter. The dilution is regressive: it costs the unfinished science 66.9% of its affordable depth and the finished one nothing.</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EXIT</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ENLARGING THE GAME AND COMPOSING ARE ONE OPERATION</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A learner in the terminal state — harvest zero, χ held by every member, σ declining — recovers a satisfiable foraging inequality when composed with a learner whose probe namespace is generated from a distinct root.</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A science that has closed reopens by meeting a science that has not. No new rewrite rule, no new sort, and no intervention from outside the model.</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COMPOSING LEARNERS</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331720"/>
            <a:ext cx="3551834" cy="3154680"/>
          </a:xfrm>
          <a:prstGeom prst="rect">
            <a:avLst/>
          </a:prstGeom>
          <a:solidFill>
            <a:srgbClr val="0B0B0B"/>
          </a:solidFill>
          <a:ln w="9525">
            <a:solidFill>
              <a:srgbClr val="00729C"/>
            </a:solidFill>
            <a:prstDash val="solid"/>
          </a:ln>
        </p:spPr>
      </p:sp>
      <p:sp>
        <p:nvSpPr>
          <p:cNvPr id="10" name="Text 7"/>
          <p:cNvSpPr/>
          <p:nvPr/>
        </p:nvSpPr>
        <p:spPr>
          <a:xfrm>
            <a:off x="786384"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WHY THE STACKS ARE VISIBLE AGAIN</a:t>
            </a:r>
            <a:endParaRPr lang="en-US" sz="950" dirty="0"/>
          </a:p>
        </p:txBody>
      </p:sp>
      <p:sp>
        <p:nvSpPr>
          <p:cNvPr id="11" name="Text 8"/>
          <p:cNvSpPr/>
          <p:nvPr/>
        </p:nvSpPr>
        <p:spPr>
          <a:xfrm>
            <a:off x="786384" y="2953512"/>
            <a:ext cx="3112922" cy="23682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The second learner's stacks are concealed at a depth the first has not paid to see. Paying is once more a purchase with a return, so the metabolic channel can be derived and harvest resumes.</a:t>
            </a:r>
            <a:endParaRPr lang="en-US" sz="1050" dirty="0"/>
          </a:p>
        </p:txBody>
      </p:sp>
      <p:sp>
        <p:nvSpPr>
          <p:cNvPr id="12" name="Shape 9"/>
          <p:cNvSpPr/>
          <p:nvPr/>
        </p:nvSpPr>
        <p:spPr>
          <a:xfrm>
            <a:off x="4319930" y="2331720"/>
            <a:ext cx="3551834" cy="3154680"/>
          </a:xfrm>
          <a:prstGeom prst="rect">
            <a:avLst/>
          </a:prstGeom>
          <a:solidFill>
            <a:srgbClr val="0B0B0B"/>
          </a:solidFill>
          <a:ln w="9525">
            <a:solidFill>
              <a:srgbClr val="00729C"/>
            </a:solidFill>
            <a:prstDash val="solid"/>
          </a:ln>
        </p:spPr>
      </p:sp>
      <p:sp>
        <p:nvSpPr>
          <p:cNvPr id="13" name="Text 10"/>
          <p:cNvSpPr/>
          <p:nvPr/>
        </p:nvSpPr>
        <p:spPr>
          <a:xfrm>
            <a:off x="4539386"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COMPOSITION REACHES WHAT NO LINEAGE REACHES</a:t>
            </a:r>
            <a:endParaRPr lang="en-US" sz="950" dirty="0"/>
          </a:p>
        </p:txBody>
      </p:sp>
      <p:sp>
        <p:nvSpPr>
          <p:cNvPr id="14" name="Text 11"/>
          <p:cNvSpPr/>
          <p:nvPr/>
        </p:nvSpPr>
        <p:spPr>
          <a:xfrm>
            <a:off x="4539386" y="2953512"/>
            <a:ext cx="3112922" cy="23682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 lineage can only install alleles that already occur in one of its members, so every namespace it can come to describe is generated from its own root. A change of root is unreachable by recombination and reachable by composition.</a:t>
            </a:r>
            <a:endParaRPr lang="en-US" sz="1050" dirty="0"/>
          </a:p>
        </p:txBody>
      </p:sp>
      <p:sp>
        <p:nvSpPr>
          <p:cNvPr id="15" name="Shape 12"/>
          <p:cNvSpPr/>
          <p:nvPr/>
        </p:nvSpPr>
        <p:spPr>
          <a:xfrm>
            <a:off x="8072933" y="2331720"/>
            <a:ext cx="3551834" cy="3154680"/>
          </a:xfrm>
          <a:prstGeom prst="rect">
            <a:avLst/>
          </a:prstGeom>
          <a:solidFill>
            <a:srgbClr val="0B0B0B"/>
          </a:solidFill>
          <a:ln w="9525">
            <a:solidFill>
              <a:srgbClr val="00729C"/>
            </a:solidFill>
            <a:prstDash val="solid"/>
          </a:ln>
        </p:spPr>
      </p:sp>
      <p:sp>
        <p:nvSpPr>
          <p:cNvPr id="16" name="Text 13"/>
          <p:cNvSpPr/>
          <p:nvPr/>
        </p:nvSpPr>
        <p:spPr>
          <a:xfrm>
            <a:off x="8292389"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AND THE SERIES DOES NOT STOP HERE</a:t>
            </a:r>
            <a:endParaRPr lang="en-US" sz="950" dirty="0"/>
          </a:p>
        </p:txBody>
      </p:sp>
      <p:sp>
        <p:nvSpPr>
          <p:cNvPr id="17" name="Text 14"/>
          <p:cNvSpPr/>
          <p:nvPr/>
        </p:nvSpPr>
        <p:spPr>
          <a:xfrm>
            <a:off x="8292389" y="2953512"/>
            <a:ext cx="3112922" cy="23682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Composition of learners yields a learner, so the construction is closed under an associative operator. But closure permits arbitrary nesting without selecting any levels — which is the gap the fourth note fills.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ENGINES</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THE ENGINE IS AN ORGANISM, NOT A CONTRACT</a:t>
            </a:r>
            <a:endParaRPr lang="en-US" sz="26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Give each community its own token colour and adjoin conversion contracts between colours. What arrives is not a new kind of thing but a fourth row in the access-profile table.</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Its dissipation θ, posited as a parameter in the virtual-token work, is here endogenous: it is the metering charge of the rendezvous that implements the conversion.</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ENGINES AND INDIVIDUALS</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331720"/>
            <a:ext cx="3551834" cy="3154680"/>
          </a:xfrm>
          <a:prstGeom prst="rect">
            <a:avLst/>
          </a:prstGeom>
          <a:solidFill>
            <a:srgbClr val="0B0B0B"/>
          </a:solidFill>
          <a:ln w="9525">
            <a:solidFill>
              <a:srgbClr val="00729C"/>
            </a:solidFill>
            <a:prstDash val="solid"/>
          </a:ln>
        </p:spPr>
      </p:sp>
      <p:sp>
        <p:nvSpPr>
          <p:cNvPr id="10" name="Text 7"/>
          <p:cNvSpPr/>
          <p:nvPr/>
        </p:nvSpPr>
        <p:spPr>
          <a:xfrm>
            <a:off x="786384"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 FOURTH ACCESS PROFILE</a:t>
            </a:r>
            <a:endParaRPr lang="en-US" sz="950" dirty="0"/>
          </a:p>
        </p:txBody>
      </p:sp>
      <p:sp>
        <p:nvSpPr>
          <p:cNvPr id="11" name="Text 8"/>
          <p:cNvSpPr/>
          <p:nvPr/>
        </p:nvSpPr>
        <p:spPr>
          <a:xfrm>
            <a:off x="786384" y="2953512"/>
            <a:ext cx="3112922" cy="23682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Persistent and non-exclusive like a source. Exhaustible per colour like a prey. And alone among the four in being adaptive in its rate. The analogue is not a decomposer but a mycorrhizal network.</a:t>
            </a:r>
            <a:endParaRPr lang="en-US" sz="1050" dirty="0"/>
          </a:p>
        </p:txBody>
      </p:sp>
      <p:sp>
        <p:nvSpPr>
          <p:cNvPr id="12" name="Shape 9"/>
          <p:cNvSpPr/>
          <p:nvPr/>
        </p:nvSpPr>
        <p:spPr>
          <a:xfrm>
            <a:off x="4319930" y="2331720"/>
            <a:ext cx="3551834" cy="3154680"/>
          </a:xfrm>
          <a:prstGeom prst="rect">
            <a:avLst/>
          </a:prstGeom>
          <a:solidFill>
            <a:srgbClr val="0B0B0B"/>
          </a:solidFill>
          <a:ln w="9525">
            <a:solidFill>
              <a:srgbClr val="00729C"/>
            </a:solidFill>
            <a:prstDash val="solid"/>
          </a:ln>
        </p:spPr>
      </p:sp>
      <p:sp>
        <p:nvSpPr>
          <p:cNvPr id="13" name="Text 10"/>
          <p:cNvSpPr/>
          <p:nvPr/>
        </p:nvSpPr>
        <p:spPr>
          <a:xfrm>
            <a:off x="4539386"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THE COMBINATORS ARE ITS REACTION LANGUAGE</a:t>
            </a:r>
            <a:endParaRPr lang="en-US" sz="950" dirty="0"/>
          </a:p>
        </p:txBody>
      </p:sp>
      <p:sp>
        <p:nvSpPr>
          <p:cNvPr id="14" name="Text 11"/>
          <p:cNvSpPr/>
          <p:nvPr/>
        </p:nvSpPr>
        <p:spPr>
          <a:xfrm>
            <a:off x="4539386" y="2953512"/>
            <a:ext cx="3112922" cy="23682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The financial combinators sit one level down, in cost-accounted form: a persistent issuer and a linear contract. One extension is needed — the observable that sets the rate reads the issuer's own inventory.</a:t>
            </a:r>
            <a:endParaRPr lang="en-US" sz="1050" dirty="0"/>
          </a:p>
        </p:txBody>
      </p:sp>
      <p:sp>
        <p:nvSpPr>
          <p:cNvPr id="15" name="Shape 12"/>
          <p:cNvSpPr/>
          <p:nvPr/>
        </p:nvSpPr>
        <p:spPr>
          <a:xfrm>
            <a:off x="8072933" y="2331720"/>
            <a:ext cx="3551834" cy="3154680"/>
          </a:xfrm>
          <a:prstGeom prst="rect">
            <a:avLst/>
          </a:prstGeom>
          <a:solidFill>
            <a:srgbClr val="0B0B0B"/>
          </a:solidFill>
          <a:ln w="9525">
            <a:solidFill>
              <a:srgbClr val="00729C"/>
            </a:solidFill>
            <a:prstDash val="solid"/>
          </a:ln>
        </p:spPr>
      </p:sp>
      <p:sp>
        <p:nvSpPr>
          <p:cNvPr id="16" name="Text 13"/>
          <p:cNvSpPr/>
          <p:nvPr/>
        </p:nvSpPr>
        <p:spPr>
          <a:xfrm>
            <a:off x="8292389"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ARBITRAGE BECOMES A PROPERTY OF A MARKING</a:t>
            </a:r>
            <a:endParaRPr lang="en-US" sz="950" dirty="0"/>
          </a:p>
        </p:txBody>
      </p:sp>
      <p:sp>
        <p:nvSpPr>
          <p:cNvPr id="17" name="Text 14"/>
          <p:cNvSpPr/>
          <p:nvPr/>
        </p:nvSpPr>
        <p:spPr>
          <a:xfrm>
            <a:off x="8292389" y="2953512"/>
            <a:ext cx="3112922" cy="23682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Because engines hold inventory, per-colour totals are conserved and the rate is the inventory ratio. The log-rate cochain is a function of the marking, so the Hodge split must be taken pointwise.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MEDIUM</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DISTANCE IS A TERM, NOT A PARAMETER</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Rho assumes perfect communication, and does so without loss of generality: a pathway is an interposed process. for(y &lt;- x₁)P | C(x₁,x₂) | x₂!(Q), where C may drop or corrupt.</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ENGINES AND INDIVIDUALS</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2331720"/>
            <a:ext cx="3551834" cy="2148840"/>
          </a:xfrm>
          <a:prstGeom prst="rect">
            <a:avLst/>
          </a:prstGeom>
          <a:solidFill>
            <a:srgbClr val="0B0B0B"/>
          </a:solidFill>
          <a:ln w="9525">
            <a:solidFill>
              <a:srgbClr val="00729C"/>
            </a:solidFill>
            <a:prstDash val="solid"/>
          </a:ln>
        </p:spPr>
      </p:sp>
      <p:sp>
        <p:nvSpPr>
          <p:cNvPr id="9" name="Text 6"/>
          <p:cNvSpPr/>
          <p:nvPr/>
        </p:nvSpPr>
        <p:spPr>
          <a:xfrm>
            <a:off x="786384"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 LADDER OF MEDIA</a:t>
            </a:r>
            <a:endParaRPr lang="en-US" sz="950" dirty="0"/>
          </a:p>
        </p:txBody>
      </p:sp>
      <p:sp>
        <p:nvSpPr>
          <p:cNvPr id="10" name="Text 7"/>
          <p:cNvSpPr/>
          <p:nvPr/>
        </p:nvSpPr>
        <p:spPr>
          <a:xfrm>
            <a:off x="786384" y="295351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relay · lossy · corrupting · reading · converting. The engine is the top rung, so the fourth access profile is a rung rather than a separate kind of thing.</a:t>
            </a:r>
            <a:endParaRPr lang="en-US" sz="1050" dirty="0"/>
          </a:p>
        </p:txBody>
      </p:sp>
      <p:sp>
        <p:nvSpPr>
          <p:cNvPr id="11" name="Shape 8"/>
          <p:cNvSpPr/>
          <p:nvPr/>
        </p:nvSpPr>
        <p:spPr>
          <a:xfrm>
            <a:off x="4319930" y="2331720"/>
            <a:ext cx="3551834" cy="2148840"/>
          </a:xfrm>
          <a:prstGeom prst="rect">
            <a:avLst/>
          </a:prstGeom>
          <a:solidFill>
            <a:srgbClr val="0B0B0B"/>
          </a:solidFill>
          <a:ln w="9525">
            <a:solidFill>
              <a:srgbClr val="00729C"/>
            </a:solidFill>
            <a:prstDash val="solid"/>
          </a:ln>
        </p:spPr>
      </p:sp>
      <p:sp>
        <p:nvSpPr>
          <p:cNvPr id="12" name="Text 9"/>
          <p:cNvSpPr/>
          <p:nvPr/>
        </p:nvSpPr>
        <p:spPr>
          <a:xfrm>
            <a:off x="4539386"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LOSS IS STRANDING, NOT DESTRUCTION</a:t>
            </a:r>
            <a:endParaRPr lang="en-US" sz="950" dirty="0"/>
          </a:p>
        </p:txBody>
      </p:sp>
      <p:sp>
        <p:nvSpPr>
          <p:cNvPr id="13" name="Text 10"/>
          <p:cNvSpPr/>
          <p:nvPr/>
        </p:nvSpPr>
        <p:spPr>
          <a:xfrm>
            <a:off x="4539386" y="295351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 dropped token is stranded rather than destroyed, so ν is conserved and exergy is monotone. θ = θ_toll + θ_loss with θ_loss = −log p — the second law acquires a mechanism.</a:t>
            </a:r>
            <a:endParaRPr lang="en-US" sz="1050" dirty="0"/>
          </a:p>
        </p:txBody>
      </p:sp>
      <p:sp>
        <p:nvSpPr>
          <p:cNvPr id="14" name="Shape 11"/>
          <p:cNvSpPr/>
          <p:nvPr/>
        </p:nvSpPr>
        <p:spPr>
          <a:xfrm>
            <a:off x="8072933" y="2331720"/>
            <a:ext cx="3551834" cy="2148840"/>
          </a:xfrm>
          <a:prstGeom prst="rect">
            <a:avLst/>
          </a:prstGeom>
          <a:solidFill>
            <a:srgbClr val="0B0B0B"/>
          </a:solidFill>
          <a:ln w="9525">
            <a:solidFill>
              <a:srgbClr val="00729C"/>
            </a:solidFill>
            <a:prstDash val="solid"/>
          </a:ln>
        </p:spPr>
      </p:sp>
      <p:sp>
        <p:nvSpPr>
          <p:cNvPr id="15" name="Text 12"/>
          <p:cNvSpPr/>
          <p:nvPr/>
        </p:nvSpPr>
        <p:spPr>
          <a:xfrm>
            <a:off x="8292389" y="247802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THE TOWER</a:t>
            </a:r>
            <a:endParaRPr lang="en-US" sz="950" dirty="0"/>
          </a:p>
        </p:txBody>
      </p:sp>
      <p:sp>
        <p:nvSpPr>
          <p:cNvPr id="16" name="Text 13"/>
          <p:cNvSpPr/>
          <p:nvPr/>
        </p:nvSpPr>
        <p:spPr>
          <a:xfrm>
            <a:off x="8292389" y="295351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Media are processes, so they are nameable, so they form a namespace one level up the reflection tower. The medium namespace of one level is the endpoint namespace of the next. This is the generating step: the outside of one level is the inside of the next.</a:t>
            </a:r>
            <a:endParaRPr lang="en-US" sz="1050" dirty="0"/>
          </a:p>
        </p:txBody>
      </p:sp>
      <p:sp>
        <p:nvSpPr>
          <p:cNvPr id="17" name="Shape 14"/>
          <p:cNvSpPr/>
          <p:nvPr/>
        </p:nvSpPr>
        <p:spPr>
          <a:xfrm>
            <a:off x="566928" y="4617720"/>
            <a:ext cx="11057839" cy="1005840"/>
          </a:xfrm>
          <a:prstGeom prst="rect">
            <a:avLst/>
          </a:prstGeom>
          <a:solidFill>
            <a:srgbClr val="0B0B0B"/>
          </a:solidFill>
          <a:ln w="9525">
            <a:solidFill>
              <a:srgbClr val="00729C"/>
            </a:solidFill>
            <a:prstDash val="solid"/>
          </a:ln>
        </p:spPr>
      </p:sp>
      <p:sp>
        <p:nvSpPr>
          <p:cNvPr id="18" name="Text 15"/>
          <p:cNvSpPr/>
          <p:nvPr/>
        </p:nvSpPr>
        <p:spPr>
          <a:xfrm>
            <a:off x="822960" y="4782312"/>
            <a:ext cx="10545775" cy="219456"/>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INDIVIDUALS ARE POROUS</a:t>
            </a:r>
            <a:endParaRPr lang="en-US" sz="950" dirty="0"/>
          </a:p>
        </p:txBody>
      </p:sp>
      <p:sp>
        <p:nvSpPr>
          <p:cNvPr id="19" name="Text 16"/>
          <p:cNvSpPr/>
          <p:nvPr/>
        </p:nvSpPr>
        <p:spPr>
          <a:xfrm>
            <a:off x="822960" y="5074920"/>
            <a:ext cx="10545775" cy="402336"/>
          </a:xfrm>
          <a:prstGeom prst="rect">
            <a:avLst/>
          </a:prstGeom>
          <a:noFill/>
          <a:ln/>
        </p:spPr>
        <p:txBody>
          <a:bodyPr wrap="square" lIns="0" tIns="0" rIns="0" bIns="0" rtlCol="0" anchor="t"/>
          <a:lstStyle/>
          <a:p>
            <a:pPr indent="0" marL="0">
              <a:lnSpc>
                <a:spcPct val="116000"/>
              </a:lnSpc>
              <a:buNone/>
            </a:pPr>
            <a:r>
              <a:rPr lang="en-US" sz="1100" dirty="0">
                <a:solidFill>
                  <a:srgbClr val="BFBFBF"/>
                </a:solidFill>
                <a:latin typeface="Arial" pitchFamily="34" charset="0"/>
                <a:ea typeface="Arial" pitchFamily="34" charset="-122"/>
                <a:cs typeface="Arial" pitchFamily="34" charset="-120"/>
              </a:rPr>
              <a:t>An individual owns its internal media and does not own its boundary media, since retransmission requires the power to name what failed. Total closure would be fatal — no harvest and no assay — which is the individuation-level analogue of a solved science being a dead ecology. Integration depth is bought with reliability, and reliability is available only on a medium one can repair.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PRICE CODE</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PRICES ARE SELF-CORRECTING EXACTLY WHERE THE ECOLOGY IS DENSE</a:t>
            </a:r>
            <a:endParaRPr lang="en-US" sz="23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The engine graph carries an error-correcting code on prices, and we can say precisely how strong it is.</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A bridge has effective resistance 1 and carries no pricing discipline at all — and bridges fail twice: no cycle to check them, and no owner to repair them.</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ENGINES AND INDIVIDUALS</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148840"/>
            <a:ext cx="11057839" cy="1097280"/>
          </a:xfrm>
          <a:prstGeom prst="rect">
            <a:avLst/>
          </a:prstGeom>
          <a:solidFill>
            <a:srgbClr val="0B0B0B"/>
          </a:solidFill>
          <a:ln w="9525">
            <a:solidFill>
              <a:srgbClr val="00729C"/>
            </a:solidFill>
            <a:prstDash val="solid"/>
          </a:ln>
        </p:spPr>
      </p:sp>
      <p:sp>
        <p:nvSpPr>
          <p:cNvPr id="10" name="Text 7"/>
          <p:cNvSpPr/>
          <p:nvPr/>
        </p:nvSpPr>
        <p:spPr>
          <a:xfrm>
            <a:off x="822960" y="2331720"/>
            <a:ext cx="10545775" cy="365760"/>
          </a:xfrm>
          <a:prstGeom prst="rect">
            <a:avLst/>
          </a:prstGeom>
          <a:noFill/>
          <a:ln/>
        </p:spPr>
        <p:txBody>
          <a:bodyPr wrap="square" lIns="0" tIns="0" rIns="0" bIns="0" rtlCol="0" anchor="t"/>
          <a:lstStyle/>
          <a:p>
            <a:pPr indent="0" marL="0">
              <a:buNone/>
            </a:pPr>
            <a:r>
              <a:rPr lang="en-US" sz="1400" b="1" dirty="0">
                <a:solidFill>
                  <a:srgbClr val="F7E478"/>
                </a:solidFill>
                <a:latin typeface="Courier New" pitchFamily="34" charset="0"/>
                <a:ea typeface="Courier New" pitchFamily="34" charset="-122"/>
                <a:cs typeface="Courier New" pitchFamily="34" charset="-120"/>
              </a:rPr>
              <a:t>‖ syndrome ‖²  =  a² ( 1 − R_eff(e) )                    Σ_e ( 1 − R_eff(e) )  =  β₁</a:t>
            </a:r>
            <a:endParaRPr lang="en-US" sz="1400" dirty="0"/>
          </a:p>
        </p:txBody>
      </p:sp>
      <p:sp>
        <p:nvSpPr>
          <p:cNvPr id="11" name="Text 8"/>
          <p:cNvSpPr/>
          <p:nvPr/>
        </p:nvSpPr>
        <p:spPr>
          <a:xfrm>
            <a:off x="822960" y="2761488"/>
            <a:ext cx="10545775" cy="292608"/>
          </a:xfrm>
          <a:prstGeom prst="rect">
            <a:avLst/>
          </a:prstGeom>
          <a:noFill/>
          <a:ln/>
        </p:spPr>
        <p:txBody>
          <a:bodyPr wrap="square" lIns="0" tIns="0" rIns="0" bIns="0" rtlCol="0" anchor="t"/>
          <a:lstStyle/>
          <a:p>
            <a:pPr indent="0" marL="0">
              <a:buNone/>
            </a:pPr>
            <a:r>
              <a:rPr lang="en-US" sz="1000" dirty="0">
                <a:solidFill>
                  <a:srgbClr val="8C8C8C"/>
                </a:solidFill>
                <a:latin typeface="Arial" pitchFamily="34" charset="0"/>
                <a:ea typeface="Arial" pitchFamily="34" charset="-122"/>
                <a:cs typeface="Arial" pitchFamily="34" charset="-120"/>
              </a:rPr>
              <a:t>detection strength of a single corrupted rate                    Foster's theorem: the total detection budget is the first Betti number</a:t>
            </a:r>
            <a:endParaRPr lang="en-US" sz="1000" dirty="0"/>
          </a:p>
        </p:txBody>
      </p:sp>
      <p:sp>
        <p:nvSpPr>
          <p:cNvPr id="12" name="Shape 9"/>
          <p:cNvSpPr/>
          <p:nvPr/>
        </p:nvSpPr>
        <p:spPr>
          <a:xfrm>
            <a:off x="566928" y="3429000"/>
            <a:ext cx="3551834" cy="2148840"/>
          </a:xfrm>
          <a:prstGeom prst="rect">
            <a:avLst/>
          </a:prstGeom>
          <a:solidFill>
            <a:srgbClr val="0B0B0B"/>
          </a:solidFill>
          <a:ln w="9525">
            <a:solidFill>
              <a:srgbClr val="00729C"/>
            </a:solidFill>
            <a:prstDash val="solid"/>
          </a:ln>
        </p:spPr>
      </p:sp>
      <p:sp>
        <p:nvSpPr>
          <p:cNvPr id="13" name="Text 10"/>
          <p:cNvSpPr/>
          <p:nvPr/>
        </p:nvSpPr>
        <p:spPr>
          <a:xfrm>
            <a:off x="786384" y="357530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THE BUDGET IS FIXED; THE GEOMETRY DISTRIBUTES IT</a:t>
            </a:r>
            <a:endParaRPr lang="en-US" sz="950" dirty="0"/>
          </a:p>
        </p:txBody>
      </p:sp>
      <p:sp>
        <p:nvSpPr>
          <p:cNvPr id="14" name="Text 11"/>
          <p:cNvSpPr/>
          <p:nvPr/>
        </p:nvSpPr>
        <p:spPr>
          <a:xfrm>
            <a:off x="786384" y="405079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Total detection strength across all engines is exactly β₁ — the number of independent cycles. Adding engines does not create discipline; it reallocates a fixed amount of it.</a:t>
            </a:r>
            <a:endParaRPr lang="en-US" sz="1050" dirty="0"/>
          </a:p>
        </p:txBody>
      </p:sp>
      <p:sp>
        <p:nvSpPr>
          <p:cNvPr id="15" name="Shape 12"/>
          <p:cNvSpPr/>
          <p:nvPr/>
        </p:nvSpPr>
        <p:spPr>
          <a:xfrm>
            <a:off x="4319930" y="3429000"/>
            <a:ext cx="3551834" cy="2148840"/>
          </a:xfrm>
          <a:prstGeom prst="rect">
            <a:avLst/>
          </a:prstGeom>
          <a:solidFill>
            <a:srgbClr val="0B0B0B"/>
          </a:solidFill>
          <a:ln w="9525">
            <a:solidFill>
              <a:srgbClr val="00729C"/>
            </a:solidFill>
            <a:prstDash val="solid"/>
          </a:ln>
        </p:spPr>
      </p:sp>
      <p:sp>
        <p:nvSpPr>
          <p:cNvPr id="16" name="Text 13"/>
          <p:cNvSpPr/>
          <p:nvPr/>
        </p:nvSpPr>
        <p:spPr>
          <a:xfrm>
            <a:off x="4539386" y="357530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SERIES ENGINES ARE CONFUSABLE</a:t>
            </a:r>
            <a:endParaRPr lang="en-US" sz="950" dirty="0"/>
          </a:p>
        </p:txBody>
      </p:sp>
      <p:sp>
        <p:nvSpPr>
          <p:cNvPr id="17" name="Text 14"/>
          <p:cNvSpPr/>
          <p:nvPr/>
        </p:nvSpPr>
        <p:spPr>
          <a:xfrm>
            <a:off x="4539386" y="405079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Two engines in series cannot be told apart by the code. Parallel ones can. Redundancy of pathway is what buys distinguishability, which is the graph-theoretic form of the same result.</a:t>
            </a:r>
            <a:endParaRPr lang="en-US" sz="1050" dirty="0"/>
          </a:p>
        </p:txBody>
      </p:sp>
      <p:sp>
        <p:nvSpPr>
          <p:cNvPr id="18" name="Shape 15"/>
          <p:cNvSpPr/>
          <p:nvPr/>
        </p:nvSpPr>
        <p:spPr>
          <a:xfrm>
            <a:off x="8072933" y="3429000"/>
            <a:ext cx="3551834" cy="2148840"/>
          </a:xfrm>
          <a:prstGeom prst="rect">
            <a:avLst/>
          </a:prstGeom>
          <a:solidFill>
            <a:srgbClr val="0B0B0B"/>
          </a:solidFill>
          <a:ln w="9525">
            <a:solidFill>
              <a:srgbClr val="00729C"/>
            </a:solidFill>
            <a:prstDash val="solid"/>
          </a:ln>
        </p:spPr>
      </p:sp>
      <p:sp>
        <p:nvSpPr>
          <p:cNvPr id="19" name="Text 16"/>
          <p:cNvSpPr/>
          <p:nvPr/>
        </p:nvSpPr>
        <p:spPr>
          <a:xfrm>
            <a:off x="8292389" y="357530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AND MERGER DELETES THE CODE</a:t>
            </a:r>
            <a:endParaRPr lang="en-US" sz="950" dirty="0"/>
          </a:p>
        </p:txBody>
      </p:sp>
      <p:sp>
        <p:nvSpPr>
          <p:cNvPr id="20" name="Text 17"/>
          <p:cNvSpPr/>
          <p:nvPr/>
        </p:nvSpPr>
        <p:spPr>
          <a:xfrm>
            <a:off x="8292389" y="4050792"/>
            <a:ext cx="3112922" cy="136245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Closing a region sets β₁ = 0 and destroys factorisation with it. Containment and pricing discipline are traded against each other, which is the tension the next slide resolves.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INDIVIDUATION</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ERROR CORRECTION IS WHAT INDIVIDUATES</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With name collision as the error channel and re-rooting as repair, a region may close over its namespace — merge — exactly when its isoperimetric ratio clears a threshold.</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Ownership is what buys depth, so the definition of an individual is not a stipulation. It is a fixed point, and the circularity is the fractality.</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ENGINES AND INDIVIDUALS</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566928" y="2148840"/>
            <a:ext cx="11057839" cy="1005840"/>
          </a:xfrm>
          <a:prstGeom prst="rect">
            <a:avLst/>
          </a:prstGeom>
          <a:solidFill>
            <a:srgbClr val="0B0B0B"/>
          </a:solidFill>
          <a:ln w="9525">
            <a:solidFill>
              <a:srgbClr val="00729C"/>
            </a:solidFill>
            <a:prstDash val="solid"/>
          </a:ln>
        </p:spPr>
      </p:sp>
      <p:sp>
        <p:nvSpPr>
          <p:cNvPr id="10" name="Text 7"/>
          <p:cNvSpPr/>
          <p:nvPr/>
        </p:nvSpPr>
        <p:spPr>
          <a:xfrm>
            <a:off x="822960" y="2377440"/>
            <a:ext cx="10545775" cy="365760"/>
          </a:xfrm>
          <a:prstGeom prst="rect">
            <a:avLst/>
          </a:prstGeom>
          <a:noFill/>
          <a:ln/>
        </p:spPr>
        <p:txBody>
          <a:bodyPr wrap="square" lIns="0" tIns="0" rIns="0" bIns="0" rtlCol="0" anchor="t"/>
          <a:lstStyle/>
          <a:p>
            <a:pPr indent="0" marL="0">
              <a:buNone/>
            </a:pPr>
            <a:r>
              <a:rPr lang="en-US" sz="1200" b="1" dirty="0">
                <a:solidFill>
                  <a:srgbClr val="F7E478"/>
                </a:solidFill>
                <a:latin typeface="Courier New" pitchFamily="34" charset="0"/>
                <a:ea typeface="Courier New" pitchFamily="34" charset="-122"/>
                <a:cs typeface="Courier New" pitchFamily="34" charset="-120"/>
              </a:rPr>
              <a:t>h(B)  ≥  ( ε θ / ρ ) · r              polynomial growth  ⟹  r* = √( ρ / ε θ )              an expander  ⟹  r* linear, population exponential</a:t>
            </a:r>
            <a:endParaRPr lang="en-US" sz="1200" dirty="0"/>
          </a:p>
        </p:txBody>
      </p:sp>
      <p:sp>
        <p:nvSpPr>
          <p:cNvPr id="11" name="Shape 8"/>
          <p:cNvSpPr/>
          <p:nvPr/>
        </p:nvSpPr>
        <p:spPr>
          <a:xfrm>
            <a:off x="566928" y="3337560"/>
            <a:ext cx="3551834" cy="2240280"/>
          </a:xfrm>
          <a:prstGeom prst="rect">
            <a:avLst/>
          </a:prstGeom>
          <a:solidFill>
            <a:srgbClr val="0B0B0B"/>
          </a:solidFill>
          <a:ln w="9525">
            <a:solidFill>
              <a:srgbClr val="00729C"/>
            </a:solidFill>
            <a:prstDash val="solid"/>
          </a:ln>
        </p:spPr>
      </p:sp>
      <p:sp>
        <p:nvSpPr>
          <p:cNvPr id="12" name="Text 9"/>
          <p:cNvSpPr/>
          <p:nvPr/>
        </p:nvSpPr>
        <p:spPr>
          <a:xfrm>
            <a:off x="786384" y="348386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THE STRUCTURAL FORM: PARTIAL CLOSURE</a:t>
            </a:r>
            <a:endParaRPr lang="en-US" sz="950" dirty="0"/>
          </a:p>
        </p:txBody>
      </p:sp>
      <p:sp>
        <p:nvSpPr>
          <p:cNvPr id="13" name="Text 10"/>
          <p:cNvSpPr/>
          <p:nvPr/>
        </p:nvSpPr>
        <p:spPr>
          <a:xfrm>
            <a:off x="786384" y="3959352"/>
            <a:ext cx="3112922" cy="14538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An individual is one whose internal medium namespace is closed and whose boundary medium namespace is open. Closure is what makes repair possible; porosity requires redex pathways, and a boundary channel without one is a stranding site.</a:t>
            </a:r>
            <a:endParaRPr lang="en-US" sz="1050" dirty="0"/>
          </a:p>
        </p:txBody>
      </p:sp>
      <p:sp>
        <p:nvSpPr>
          <p:cNvPr id="14" name="Shape 11"/>
          <p:cNvSpPr/>
          <p:nvPr/>
        </p:nvSpPr>
        <p:spPr>
          <a:xfrm>
            <a:off x="4319930" y="3337560"/>
            <a:ext cx="3551834" cy="2240280"/>
          </a:xfrm>
          <a:prstGeom prst="rect">
            <a:avLst/>
          </a:prstGeom>
          <a:solidFill>
            <a:srgbClr val="0B0B0B"/>
          </a:solidFill>
          <a:ln w="9525">
            <a:solidFill>
              <a:srgbClr val="00729C"/>
            </a:solidFill>
            <a:prstDash val="solid"/>
          </a:ln>
        </p:spPr>
      </p:sp>
      <p:sp>
        <p:nvSpPr>
          <p:cNvPr id="15" name="Text 12"/>
          <p:cNvSpPr/>
          <p:nvPr/>
        </p:nvSpPr>
        <p:spPr>
          <a:xfrm>
            <a:off x="4539386" y="348386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DEEP INTEGRATION IS EXPONENTIALLY FRAGILE</a:t>
            </a:r>
            <a:endParaRPr lang="en-US" sz="950" dirty="0"/>
          </a:p>
        </p:txBody>
      </p:sp>
      <p:sp>
        <p:nvSpPr>
          <p:cNvPr id="16" name="Text 13"/>
          <p:cNvSpPr/>
          <p:nvPr/>
        </p:nvSpPr>
        <p:spPr>
          <a:xfrm>
            <a:off x="4539386" y="3959352"/>
            <a:ext cx="3112922" cy="14538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Reliability across d hops goes as p^d, so integration depth is purchased. At p = .999 / .99 / .95 / .90 / .75 the optimal depths are 5 / 5 / 3 / 3 / 2 and the net values 86.4 / 82.1 / 69.0 / 57.8 / 38.2.</a:t>
            </a:r>
            <a:endParaRPr lang="en-US" sz="1050" dirty="0"/>
          </a:p>
        </p:txBody>
      </p:sp>
      <p:sp>
        <p:nvSpPr>
          <p:cNvPr id="17" name="Shape 14"/>
          <p:cNvSpPr/>
          <p:nvPr/>
        </p:nvSpPr>
        <p:spPr>
          <a:xfrm>
            <a:off x="8072933" y="3337560"/>
            <a:ext cx="3551834" cy="2240280"/>
          </a:xfrm>
          <a:prstGeom prst="rect">
            <a:avLst/>
          </a:prstGeom>
          <a:solidFill>
            <a:srgbClr val="0B0B0B"/>
          </a:solidFill>
          <a:ln w="9525">
            <a:solidFill>
              <a:srgbClr val="00729C"/>
            </a:solidFill>
            <a:prstDash val="solid"/>
          </a:ln>
        </p:spPr>
      </p:sp>
      <p:sp>
        <p:nvSpPr>
          <p:cNvPr id="18" name="Text 15"/>
          <p:cNvSpPr/>
          <p:nvPr/>
        </p:nvSpPr>
        <p:spPr>
          <a:xfrm>
            <a:off x="8292389" y="3483864"/>
            <a:ext cx="3112922" cy="402336"/>
          </a:xfrm>
          <a:prstGeom prst="rect">
            <a:avLst/>
          </a:prstGeom>
          <a:noFill/>
          <a:ln/>
        </p:spPr>
        <p:txBody>
          <a:bodyPr wrap="square" lIns="0" tIns="0" rIns="0" bIns="0" rtlCol="0" anchor="t"/>
          <a:lstStyle/>
          <a:p>
            <a:pPr indent="0" marL="0">
              <a:lnSpc>
                <a:spcPct val="115000"/>
              </a:lnSpc>
              <a:buNone/>
            </a:pPr>
            <a:r>
              <a:rPr lang="en-US" sz="950" b="1" spc="140" kern="0" dirty="0">
                <a:solidFill>
                  <a:srgbClr val="00B0F0"/>
                </a:solidFill>
                <a:latin typeface="Arial" pitchFamily="34" charset="0"/>
                <a:ea typeface="Arial" pitchFamily="34" charset="-122"/>
                <a:cs typeface="Arial" pitchFamily="34" charset="-120"/>
              </a:rPr>
              <a:t>LEVELS ARE FORCED, NOT PERMITTED</a:t>
            </a:r>
            <a:endParaRPr lang="en-US" sz="950" dirty="0"/>
          </a:p>
        </p:txBody>
      </p:sp>
      <p:sp>
        <p:nvSpPr>
          <p:cNvPr id="19" name="Text 16"/>
          <p:cNvSpPr/>
          <p:nvPr/>
        </p:nvSpPr>
        <p:spPr>
          <a:xfrm>
            <a:off x="8292389" y="3959352"/>
            <a:ext cx="3112922" cy="1453896"/>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A population exceeding |B(r*)| cannot be maintained as one closed namespace, so the only way to keep scaling is replication of r*-sized units composed with engines. The hierarchy is a sequence of critical radii.</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HIERARCHY</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LEVELS ARE A SHUTOFF SEQUENCE</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Price the maintenance of each type of overlap. As θ rises the components of the grading vector extinguish in a fixed order, and each extinction is a level boundary.</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The sequence terminates where θ → ∞ and even the cheapest channel prices out. Probe overlap goes last — which agrees, independently, with the incommensurability theorem.</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ENGINES AND INDIVIDUALS</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7452360" cy="914400"/>
        </p:xfrm>
        <a:graphic>
          <a:graphicData uri="http://schemas.openxmlformats.org/drawingml/2006/table">
            <a:tbl>
              <a:tblPr/>
              <a:tblGrid>
                <a:gridCol w="1965960"/>
                <a:gridCol w="1325880"/>
                <a:gridCol w="2423160"/>
                <a:gridCol w="1737360"/>
              </a:tblGrid>
              <a:tr h="329184">
                <a:tc>
                  <a:txBody>
                    <a:bodyPr/>
                    <a:lstStyle/>
                    <a:p>
                      <a:pPr indent="0" marL="0">
                        <a:buNone/>
                      </a:pPr>
                      <a:r>
                        <a:rPr lang="en-US" sz="1050" b="1" dirty="0">
                          <a:solidFill>
                            <a:srgbClr val="00B0F0"/>
                          </a:solidFill>
                          <a:latin typeface="Arial" pitchFamily="34" charset="0"/>
                          <a:ea typeface="Arial" pitchFamily="34" charset="-122"/>
                          <a:cs typeface="Arial" pitchFamily="34" charset="-120"/>
                        </a:rPr>
                        <a:t>BOUNDARY</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b="1" dirty="0">
                          <a:solidFill>
                            <a:srgbClr val="00B0F0"/>
                          </a:solidFill>
                          <a:latin typeface="Arial" pitchFamily="34" charset="0"/>
                          <a:ea typeface="Arial" pitchFamily="34" charset="-122"/>
                          <a:cs typeface="Arial" pitchFamily="34" charset="-120"/>
                        </a:rPr>
                        <a:t>OPERATOR</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b="1" dirty="0">
                          <a:solidFill>
                            <a:srgbClr val="00B0F0"/>
                          </a:solidFill>
                          <a:latin typeface="Arial" pitchFamily="34" charset="0"/>
                          <a:ea typeface="Arial" pitchFamily="34" charset="-122"/>
                          <a:cs typeface="Arial" pitchFamily="34" charset="-120"/>
                        </a:rPr>
                        <a:t>SURVIVING OVERLAP</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b="1" dirty="0">
                          <a:solidFill>
                            <a:srgbClr val="00B0F0"/>
                          </a:solidFill>
                          <a:latin typeface="Arial" pitchFamily="34" charset="0"/>
                          <a:ea typeface="Arial" pitchFamily="34" charset="-122"/>
                          <a:cs typeface="Arial" pitchFamily="34" charset="-120"/>
                        </a:rPr>
                        <a:t>RELATION</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29184">
                <a:tc>
                  <a:txBody>
                    <a:bodyPr/>
                    <a:lstStyle/>
                    <a:p>
                      <a:pPr indent="0" marL="0">
                        <a:buNone/>
                      </a:pPr>
                      <a:r>
                        <a:rPr lang="en-US" sz="1050" dirty="0">
                          <a:solidFill>
                            <a:srgbClr val="BFBFBF"/>
                          </a:solidFill>
                          <a:latin typeface="Arial" pitchFamily="34" charset="0"/>
                          <a:ea typeface="Arial" pitchFamily="34" charset="-122"/>
                          <a:cs typeface="Arial" pitchFamily="34" charset="-120"/>
                        </a:rPr>
                        <a:t>within a skill set</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merger</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all</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one budget, one namespace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29184">
                <a:tc>
                  <a:txBody>
                    <a:bodyPr/>
                    <a:lstStyle/>
                    <a:p>
                      <a:pPr indent="0" marL="0">
                        <a:buNone/>
                      </a:pPr>
                      <a:r>
                        <a:rPr lang="en-US" sz="1050" dirty="0">
                          <a:solidFill>
                            <a:srgbClr val="BFBFBF"/>
                          </a:solidFill>
                          <a:latin typeface="Arial" pitchFamily="34" charset="0"/>
                          <a:ea typeface="Arial" pitchFamily="34" charset="-122"/>
                          <a:cs typeface="Arial" pitchFamily="34" charset="-120"/>
                        </a:rPr>
                        <a:t>organism / organism</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 + engine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Met (transfer), Src, Prb, Mat</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kin, trade, culture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29184">
                <a:tc>
                  <a:txBody>
                    <a:bodyPr/>
                    <a:lstStyle/>
                    <a:p>
                      <a:pPr indent="0" marL="0">
                        <a:buNone/>
                      </a:pPr>
                      <a:r>
                        <a:rPr lang="en-US" sz="1050" dirty="0">
                          <a:solidFill>
                            <a:srgbClr val="BFBFBF"/>
                          </a:solidFill>
                          <a:latin typeface="Arial" pitchFamily="34" charset="0"/>
                          <a:ea typeface="Arial" pitchFamily="34" charset="-122"/>
                          <a:cs typeface="Arial" pitchFamily="34" charset="-120"/>
                        </a:rPr>
                        <a:t>deme / deme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 + engine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Src, Prb, Mat</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competition, culture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29184">
                <a:tc>
                  <a:txBody>
                    <a:bodyPr/>
                    <a:lstStyle/>
                    <a:p>
                      <a:pPr indent="0" marL="0">
                        <a:buNone/>
                      </a:pPr>
                      <a:r>
                        <a:rPr lang="en-US" sz="1050" dirty="0">
                          <a:solidFill>
                            <a:srgbClr val="BFBFBF"/>
                          </a:solidFill>
                          <a:latin typeface="Arial" pitchFamily="34" charset="0"/>
                          <a:ea typeface="Arial" pitchFamily="34" charset="-122"/>
                          <a:cs typeface="Arial" pitchFamily="34" charset="-120"/>
                        </a:rPr>
                        <a:t>species / species</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 + engine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Src, Prb</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predation, eavesdropping</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29184">
                <a:tc>
                  <a:txBody>
                    <a:bodyPr/>
                    <a:lstStyle/>
                    <a:p>
                      <a:pPr indent="0" marL="0">
                        <a:buNone/>
                      </a:pPr>
                      <a:r>
                        <a:rPr lang="en-US" sz="1050" dirty="0">
                          <a:solidFill>
                            <a:srgbClr val="BFBFBF"/>
                          </a:solidFill>
                          <a:latin typeface="Arial" pitchFamily="34" charset="0"/>
                          <a:ea typeface="Arial" pitchFamily="34" charset="-122"/>
                          <a:cs typeface="Arial" pitchFamily="34" charset="-120"/>
                        </a:rPr>
                        <a:t>biosphere / biosphere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 only</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Prb</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BFBFBF"/>
                          </a:solidFill>
                          <a:latin typeface="Arial" pitchFamily="34" charset="0"/>
                          <a:ea typeface="Arial" pitchFamily="34" charset="-122"/>
                          <a:cs typeface="Arial" pitchFamily="34" charset="-120"/>
                        </a:rPr>
                        <a:t>signals</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r h="329184">
                <a:tc>
                  <a:txBody>
                    <a:bodyPr/>
                    <a:lstStyle/>
                    <a:p>
                      <a:pPr indent="0" marL="0">
                        <a:buNone/>
                      </a:pPr>
                      <a:r>
                        <a:rPr lang="en-US" sz="1050" dirty="0">
                          <a:solidFill>
                            <a:srgbClr val="8C8C8C"/>
                          </a:solidFill>
                          <a:latin typeface="Arial" pitchFamily="34" charset="0"/>
                          <a:ea typeface="Arial" pitchFamily="34" charset="-122"/>
                          <a:cs typeface="Arial" pitchFamily="34" charset="-120"/>
                        </a:rPr>
                        <a:t>beyond d*</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8C8C8C"/>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8C8C8C"/>
                          </a:solidFill>
                          <a:latin typeface="Arial" pitchFamily="34" charset="0"/>
                          <a:ea typeface="Arial" pitchFamily="34" charset="-122"/>
                          <a:cs typeface="Arial" pitchFamily="34" charset="-120"/>
                        </a:rPr>
                        <a:t>none</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c>
                  <a:txBody>
                    <a:bodyPr/>
                    <a:lstStyle/>
                    <a:p>
                      <a:pPr indent="0" marL="0">
                        <a:buNone/>
                      </a:pPr>
                      <a:r>
                        <a:rPr lang="en-US" sz="1050" dirty="0">
                          <a:solidFill>
                            <a:srgbClr val="8C8C8C"/>
                          </a:solidFill>
                          <a:latin typeface="Arial" pitchFamily="34" charset="0"/>
                          <a:ea typeface="Arial" pitchFamily="34" charset="-122"/>
                          <a:cs typeface="Arial" pitchFamily="34" charset="-120"/>
                        </a:rPr>
                        <a:t>nothing</a:t>
                      </a:r>
                      <a:endParaRPr lang="en-US" sz="1050" dirty="0">
                        <a:latin typeface="Arial" charset="0"/>
                        <a:ea typeface="Arial" charset="0"/>
                        <a:cs typeface="Arial" charset="0"/>
                      </a:endParaRPr>
                    </a:p>
                  </a:txBody>
                  <a:tcPr marL="76200" marR="76200" marT="76200" marB="76200" anchor="ctr">
                    <a:lnL w="6350" cap="flat" cmpd="sng" algn="ctr">
                      <a:solidFill>
                        <a:srgbClr val="1C1C1C"/>
                      </a:solidFill>
                      <a:prstDash val="solid"/>
                      <a:round/>
                      <a:headEnd type="none" w="med" len="med"/>
                      <a:tailEnd type="none" w="med" len="med"/>
                    </a:lnL>
                    <a:lnR w="6350" cap="flat" cmpd="sng" algn="ctr">
                      <a:solidFill>
                        <a:srgbClr val="1C1C1C"/>
                      </a:solidFill>
                      <a:prstDash val="solid"/>
                      <a:round/>
                      <a:headEnd type="none" w="med" len="med"/>
                      <a:tailEnd type="none" w="med" len="med"/>
                    </a:lnR>
                    <a:lnT w="6350" cap="flat" cmpd="sng" algn="ctr">
                      <a:solidFill>
                        <a:srgbClr val="1C1C1C"/>
                      </a:solidFill>
                      <a:prstDash val="solid"/>
                      <a:round/>
                      <a:headEnd type="none" w="med" len="med"/>
                      <a:tailEnd type="none" w="med" len="med"/>
                    </a:lnT>
                    <a:lnB w="6350" cap="flat" cmpd="sng" algn="ctr">
                      <a:solidFill>
                        <a:srgbClr val="1C1C1C"/>
                      </a:solidFill>
                      <a:prstDash val="solid"/>
                      <a:round/>
                      <a:headEnd type="none" w="med" len="med"/>
                      <a:tailEnd type="none" w="med" len="med"/>
                    </a:lnB>
                    <a:solidFill>
                      <a:srgbClr val="0B0B0B"/>
                    </a:solidFill>
                  </a:tcPr>
                </a:tc>
              </a:tr>
            </a:tbl>
          </a:graphicData>
        </a:graphic>
      </p:graphicFrame>
      <p:sp>
        <p:nvSpPr>
          <p:cNvPr id="10" name="Shape 6"/>
          <p:cNvSpPr/>
          <p:nvPr/>
        </p:nvSpPr>
        <p:spPr>
          <a:xfrm>
            <a:off x="8293608" y="2240280"/>
            <a:ext cx="3331159" cy="2788920"/>
          </a:xfrm>
          <a:prstGeom prst="rect">
            <a:avLst/>
          </a:prstGeom>
          <a:solidFill>
            <a:srgbClr val="0B0B0B"/>
          </a:solidFill>
          <a:ln w="9525">
            <a:solidFill>
              <a:srgbClr val="00729C"/>
            </a:solidFill>
            <a:prstDash val="solid"/>
          </a:ln>
        </p:spPr>
      </p:sp>
      <p:sp>
        <p:nvSpPr>
          <p:cNvPr id="11" name="Text 7"/>
          <p:cNvSpPr/>
          <p:nvPr/>
        </p:nvSpPr>
        <p:spPr>
          <a:xfrm>
            <a:off x="8549640" y="2423160"/>
            <a:ext cx="2819095" cy="237744"/>
          </a:xfrm>
          <a:prstGeom prst="rect">
            <a:avLst/>
          </a:prstGeom>
          <a:noFill/>
          <a:ln/>
        </p:spPr>
        <p:txBody>
          <a:bodyPr wrap="square" lIns="0" tIns="0" rIns="0" bIns="0" rtlCol="0" anchor="t"/>
          <a:lstStyle/>
          <a:p>
            <a:pPr indent="0" marL="0">
              <a:buNone/>
            </a:pPr>
            <a:r>
              <a:rPr lang="en-US" sz="950" b="1" spc="140" kern="0" dirty="0">
                <a:solidFill>
                  <a:srgbClr val="F7E478"/>
                </a:solidFill>
                <a:latin typeface="Arial" pitchFamily="34" charset="0"/>
                <a:ea typeface="Arial" pitchFamily="34" charset="-122"/>
                <a:cs typeface="Arial" pitchFamily="34" charset="-120"/>
              </a:rPr>
              <a:t>AN ORCA</a:t>
            </a:r>
            <a:endParaRPr lang="en-US" sz="950" dirty="0"/>
          </a:p>
        </p:txBody>
      </p:sp>
      <p:sp>
        <p:nvSpPr>
          <p:cNvPr id="12" name="Text 8"/>
          <p:cNvSpPr/>
          <p:nvPr/>
        </p:nvSpPr>
        <p:spPr>
          <a:xfrm>
            <a:off x="8549640" y="2743200"/>
            <a:ext cx="2819095" cy="2148840"/>
          </a:xfrm>
          <a:prstGeom prst="rect">
            <a:avLst/>
          </a:prstGeom>
          <a:noFill/>
          <a:ln/>
        </p:spPr>
        <p:txBody>
          <a:bodyPr wrap="square" lIns="0" tIns="0" rIns="0" bIns="0" rtlCol="0" anchor="t"/>
          <a:lstStyle/>
          <a:p>
            <a:pPr indent="0" marL="0">
              <a:lnSpc>
                <a:spcPct val="114000"/>
              </a:lnSpc>
              <a:buNone/>
            </a:pPr>
            <a:r>
              <a:rPr lang="en-US" sz="1050" dirty="0">
                <a:solidFill>
                  <a:srgbClr val="BFBFBF"/>
                </a:solidFill>
                <a:latin typeface="Arial" pitchFamily="34" charset="0"/>
                <a:ea typeface="Arial" pitchFamily="34" charset="-122"/>
                <a:cs typeface="Arial" pitchFamily="34" charset="-120"/>
              </a:rPr>
              <a:t>Hunting, place in the pod, mating, care of young: each skill backed by an ecology-as-learner reasoning through its own subdomain.</a:t>
            </a:r>
            <a:endParaRPr lang="en-US" sz="1050" dirty="0"/>
          </a:p>
          <a:p>
            <a:pPr indent="0" marL="0">
              <a:lnSpc>
                <a:spcPct val="114000"/>
              </a:lnSpc>
              <a:buNone/>
            </a:pPr>
            <a:endParaRPr lang="en-US" sz="1050" dirty="0"/>
          </a:p>
          <a:p>
            <a:pPr indent="0" marL="0">
              <a:lnSpc>
                <a:spcPct val="114000"/>
              </a:lnSpc>
              <a:buNone/>
            </a:pPr>
            <a:r>
              <a:rPr lang="en-US" sz="1050" dirty="0">
                <a:solidFill>
                  <a:srgbClr val="BFBFBF"/>
                </a:solidFill>
                <a:latin typeface="Arial" pitchFamily="34" charset="0"/>
                <a:ea typeface="Arial" pitchFamily="34" charset="-122"/>
                <a:cs typeface="Arial" pitchFamily="34" charset="-120"/>
              </a:rPr>
              <a:t>The orca's boundary media — calls, touch, the water — are the pod's internal media, and the pod is an individual exactly to the extent that it can name and repair them. The tower of media and the tower of individuals are the same tower.</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THE SPINE, CLOSED</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AN INDIVIDUAL IS A SCIENTIST</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Not a fifth kind of thing. Being a scientist is a formula — a depth-≥2 dialogue loop through a both-type channel — so the return edge is the one claim in this diagram a model checker could be handed.</a:t>
            </a:r>
            <a:endParaRPr lang="en-US" sz="1200" dirty="0"/>
          </a:p>
        </p:txBody>
      </p:sp>
      <p:sp>
        <p:nvSpPr>
          <p:cNvPr id="5" name="Text 3"/>
          <p:cNvSpPr/>
          <p:nvPr/>
        </p:nvSpPr>
        <p:spPr>
          <a:xfrm>
            <a:off x="566928" y="5705856"/>
            <a:ext cx="11057839" cy="420624"/>
          </a:xfrm>
          <a:prstGeom prst="rect">
            <a:avLst/>
          </a:prstGeom>
          <a:noFill/>
          <a:ln/>
        </p:spPr>
        <p:txBody>
          <a:bodyPr wrap="square" lIns="0" tIns="0" rIns="0" bIns="0" rtlCol="0" anchor="t"/>
          <a:lstStyle/>
          <a:p>
            <a:pPr indent="0" marL="0">
              <a:lnSpc>
                <a:spcPct val="105000"/>
              </a:lnSpc>
              <a:buNone/>
            </a:pPr>
            <a:r>
              <a:rPr lang="en-US" sz="1150" i="1" dirty="0">
                <a:solidFill>
                  <a:srgbClr val="F7E478"/>
                </a:solidFill>
                <a:latin typeface="Arial" pitchFamily="34" charset="0"/>
                <a:ea typeface="Arial" pitchFamily="34" charset="-122"/>
                <a:cs typeface="Arial" pitchFamily="34" charset="-120"/>
              </a:rPr>
              <a:t>Every boundary is a medium, owned by the ring outside it. The rings are dashed because perfect closure is death — and an individual satisfies the formula only if it stayed open.</a:t>
            </a:r>
            <a:endParaRPr lang="en-US" sz="1150" dirty="0"/>
          </a:p>
        </p:txBody>
      </p:sp>
      <p:pic>
        <p:nvPicPr>
          <p:cNvPr id="6"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7" name="Text 4"/>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THE SPINE, CLOSED</a:t>
            </a:r>
            <a:endParaRPr lang="en-US" sz="800" dirty="0"/>
          </a:p>
        </p:txBody>
      </p:sp>
      <p:sp>
        <p:nvSpPr>
          <p:cNvPr id="8" name="Text 5"/>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9" name="Shape 6"/>
          <p:cNvSpPr/>
          <p:nvPr/>
        </p:nvSpPr>
        <p:spPr>
          <a:xfrm>
            <a:off x="1490472" y="2249424"/>
            <a:ext cx="3328416" cy="3328416"/>
          </a:xfrm>
          <a:prstGeom prst="ellipse">
            <a:avLst/>
          </a:prstGeom>
          <a:solidFill>
            <a:srgbClr val="0A0A0A"/>
          </a:solidFill>
          <a:ln w="11430">
            <a:solidFill>
              <a:srgbClr val="00729C"/>
            </a:solidFill>
            <a:prstDash val="dash"/>
          </a:ln>
        </p:spPr>
      </p:sp>
      <p:sp>
        <p:nvSpPr>
          <p:cNvPr id="10" name="Shape 7"/>
          <p:cNvSpPr/>
          <p:nvPr/>
        </p:nvSpPr>
        <p:spPr>
          <a:xfrm>
            <a:off x="1892808" y="2651760"/>
            <a:ext cx="2523744" cy="2523744"/>
          </a:xfrm>
          <a:prstGeom prst="ellipse">
            <a:avLst/>
          </a:prstGeom>
          <a:solidFill>
            <a:srgbClr val="101010"/>
          </a:solidFill>
          <a:ln w="11430">
            <a:solidFill>
              <a:srgbClr val="00729C"/>
            </a:solidFill>
            <a:prstDash val="dash"/>
          </a:ln>
        </p:spPr>
      </p:sp>
      <p:sp>
        <p:nvSpPr>
          <p:cNvPr id="11" name="Shape 8"/>
          <p:cNvSpPr/>
          <p:nvPr/>
        </p:nvSpPr>
        <p:spPr>
          <a:xfrm>
            <a:off x="2295144" y="3054096"/>
            <a:ext cx="1719072" cy="1719072"/>
          </a:xfrm>
          <a:prstGeom prst="ellipse">
            <a:avLst/>
          </a:prstGeom>
          <a:solidFill>
            <a:srgbClr val="151515"/>
          </a:solidFill>
          <a:ln w="11430">
            <a:solidFill>
              <a:srgbClr val="00729C"/>
            </a:solidFill>
            <a:prstDash val="dash"/>
          </a:ln>
        </p:spPr>
      </p:sp>
      <p:sp>
        <p:nvSpPr>
          <p:cNvPr id="12" name="Shape 9"/>
          <p:cNvSpPr/>
          <p:nvPr/>
        </p:nvSpPr>
        <p:spPr>
          <a:xfrm>
            <a:off x="2697480" y="3456432"/>
            <a:ext cx="914400" cy="914400"/>
          </a:xfrm>
          <a:prstGeom prst="ellipse">
            <a:avLst/>
          </a:prstGeom>
          <a:solidFill>
            <a:srgbClr val="11242C"/>
          </a:solidFill>
          <a:ln w="11430">
            <a:solidFill>
              <a:srgbClr val="00B0F0"/>
            </a:solidFill>
            <a:prstDash val="dash"/>
          </a:ln>
        </p:spPr>
      </p:sp>
      <p:sp>
        <p:nvSpPr>
          <p:cNvPr id="13" name="Text 10"/>
          <p:cNvSpPr/>
          <p:nvPr/>
        </p:nvSpPr>
        <p:spPr>
          <a:xfrm>
            <a:off x="1874520" y="2432304"/>
            <a:ext cx="2560320"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Individual</a:t>
            </a:r>
            <a:endParaRPr lang="en-US" sz="1150" dirty="0"/>
          </a:p>
        </p:txBody>
      </p:sp>
      <p:sp>
        <p:nvSpPr>
          <p:cNvPr id="14" name="Text 11"/>
          <p:cNvSpPr/>
          <p:nvPr/>
        </p:nvSpPr>
        <p:spPr>
          <a:xfrm>
            <a:off x="1874520" y="2834640"/>
            <a:ext cx="2560320"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Learner</a:t>
            </a:r>
            <a:endParaRPr lang="en-US" sz="1150" dirty="0"/>
          </a:p>
        </p:txBody>
      </p:sp>
      <p:sp>
        <p:nvSpPr>
          <p:cNvPr id="15" name="Text 12"/>
          <p:cNvSpPr/>
          <p:nvPr/>
        </p:nvSpPr>
        <p:spPr>
          <a:xfrm>
            <a:off x="1874520" y="3236976"/>
            <a:ext cx="2560320"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Lineage</a:t>
            </a:r>
            <a:endParaRPr lang="en-US" sz="1150" dirty="0"/>
          </a:p>
        </p:txBody>
      </p:sp>
      <p:sp>
        <p:nvSpPr>
          <p:cNvPr id="16" name="Text 13"/>
          <p:cNvSpPr/>
          <p:nvPr/>
        </p:nvSpPr>
        <p:spPr>
          <a:xfrm>
            <a:off x="1874520" y="3785616"/>
            <a:ext cx="2560320" cy="256032"/>
          </a:xfrm>
          <a:prstGeom prst="rect">
            <a:avLst/>
          </a:prstGeom>
          <a:noFill/>
          <a:ln/>
        </p:spPr>
        <p:txBody>
          <a:bodyPr wrap="square" lIns="0" tIns="0" rIns="0" bIns="0" rtlCol="0" anchor="ctr"/>
          <a:lstStyle/>
          <a:p>
            <a:pPr algn="ctr" indent="0" marL="0">
              <a:buNone/>
            </a:pPr>
            <a:r>
              <a:rPr lang="en-US" sz="1150" b="1" dirty="0">
                <a:solidFill>
                  <a:srgbClr val="00B0F0"/>
                </a:solidFill>
                <a:latin typeface="Arial" pitchFamily="34" charset="0"/>
                <a:ea typeface="Arial" pitchFamily="34" charset="-122"/>
                <a:cs typeface="Arial" pitchFamily="34" charset="-120"/>
              </a:rPr>
              <a:t>Scientist</a:t>
            </a:r>
            <a:endParaRPr lang="en-US" sz="1150" dirty="0"/>
          </a:p>
        </p:txBody>
      </p:sp>
      <p:sp>
        <p:nvSpPr>
          <p:cNvPr id="17" name="Shape 14"/>
          <p:cNvSpPr/>
          <p:nvPr/>
        </p:nvSpPr>
        <p:spPr>
          <a:xfrm>
            <a:off x="8750808" y="3017520"/>
            <a:ext cx="1792224" cy="1792224"/>
          </a:xfrm>
          <a:prstGeom prst="ellipse">
            <a:avLst/>
          </a:prstGeom>
          <a:solidFill>
            <a:srgbClr val="0A0A0A"/>
          </a:solidFill>
          <a:ln w="11430">
            <a:solidFill>
              <a:srgbClr val="00729C"/>
            </a:solidFill>
            <a:prstDash val="dash"/>
          </a:ln>
        </p:spPr>
      </p:sp>
      <p:sp>
        <p:nvSpPr>
          <p:cNvPr id="18" name="Shape 15"/>
          <p:cNvSpPr/>
          <p:nvPr/>
        </p:nvSpPr>
        <p:spPr>
          <a:xfrm>
            <a:off x="8970264" y="3236976"/>
            <a:ext cx="1353312" cy="1353312"/>
          </a:xfrm>
          <a:prstGeom prst="ellipse">
            <a:avLst/>
          </a:prstGeom>
          <a:solidFill>
            <a:srgbClr val="101010"/>
          </a:solidFill>
          <a:ln w="11430">
            <a:solidFill>
              <a:srgbClr val="00729C"/>
            </a:solidFill>
            <a:prstDash val="dash"/>
          </a:ln>
        </p:spPr>
      </p:sp>
      <p:sp>
        <p:nvSpPr>
          <p:cNvPr id="19" name="Shape 16"/>
          <p:cNvSpPr/>
          <p:nvPr/>
        </p:nvSpPr>
        <p:spPr>
          <a:xfrm>
            <a:off x="9189720" y="3456432"/>
            <a:ext cx="914400" cy="914400"/>
          </a:xfrm>
          <a:prstGeom prst="ellipse">
            <a:avLst/>
          </a:prstGeom>
          <a:solidFill>
            <a:srgbClr val="151515"/>
          </a:solidFill>
          <a:ln w="11430">
            <a:solidFill>
              <a:srgbClr val="00729C"/>
            </a:solidFill>
            <a:prstDash val="dash"/>
          </a:ln>
        </p:spPr>
      </p:sp>
      <p:sp>
        <p:nvSpPr>
          <p:cNvPr id="20" name="Shape 17"/>
          <p:cNvSpPr/>
          <p:nvPr/>
        </p:nvSpPr>
        <p:spPr>
          <a:xfrm>
            <a:off x="9409176" y="3675888"/>
            <a:ext cx="475488" cy="475488"/>
          </a:xfrm>
          <a:prstGeom prst="ellipse">
            <a:avLst/>
          </a:prstGeom>
          <a:solidFill>
            <a:srgbClr val="11242C"/>
          </a:solidFill>
          <a:ln w="11430">
            <a:solidFill>
              <a:srgbClr val="00B0F0"/>
            </a:solidFill>
            <a:prstDash val="dash"/>
          </a:ln>
        </p:spPr>
      </p:sp>
      <p:sp>
        <p:nvSpPr>
          <p:cNvPr id="21" name="Shape 18"/>
          <p:cNvSpPr/>
          <p:nvPr/>
        </p:nvSpPr>
        <p:spPr>
          <a:xfrm>
            <a:off x="5029200" y="3913632"/>
            <a:ext cx="3675888" cy="0"/>
          </a:xfrm>
          <a:prstGeom prst="line">
            <a:avLst/>
          </a:prstGeom>
          <a:noFill/>
          <a:ln w="19050">
            <a:solidFill>
              <a:srgbClr val="F7E478"/>
            </a:solidFill>
            <a:prstDash val="solid"/>
            <a:tailEnd type="triangle"/>
          </a:ln>
        </p:spPr>
      </p:sp>
      <p:sp>
        <p:nvSpPr>
          <p:cNvPr id="22" name="Text 19"/>
          <p:cNvSpPr/>
          <p:nvPr/>
        </p:nvSpPr>
        <p:spPr>
          <a:xfrm>
            <a:off x="5074920" y="3474720"/>
            <a:ext cx="3611880" cy="310896"/>
          </a:xfrm>
          <a:prstGeom prst="rect">
            <a:avLst/>
          </a:prstGeom>
          <a:noFill/>
          <a:ln/>
        </p:spPr>
        <p:txBody>
          <a:bodyPr wrap="square" lIns="0" tIns="0" rIns="0" bIns="0" rtlCol="0" anchor="ctr"/>
          <a:lstStyle/>
          <a:p>
            <a:pPr algn="ctr" indent="0" marL="0">
              <a:buNone/>
            </a:pPr>
            <a:r>
              <a:rPr lang="en-US" sz="1150" i="1" dirty="0">
                <a:solidFill>
                  <a:srgbClr val="F7E478"/>
                </a:solidFill>
                <a:latin typeface="Arial" pitchFamily="34" charset="0"/>
                <a:ea typeface="Arial" pitchFamily="34" charset="-122"/>
                <a:cs typeface="Arial" pitchFamily="34" charset="-120"/>
              </a:rPr>
              <a:t>…becomes the scientist of the next level</a:t>
            </a:r>
            <a:endParaRPr lang="en-US" sz="1150" dirty="0"/>
          </a:p>
        </p:txBody>
      </p:sp>
      <p:sp>
        <p:nvSpPr>
          <p:cNvPr id="23" name="Text 20"/>
          <p:cNvSpPr/>
          <p:nvPr/>
        </p:nvSpPr>
        <p:spPr>
          <a:xfrm>
            <a:off x="5074920" y="4041648"/>
            <a:ext cx="3611880" cy="310896"/>
          </a:xfrm>
          <a:prstGeom prst="rect">
            <a:avLst/>
          </a:prstGeom>
          <a:noFill/>
          <a:ln/>
        </p:spPr>
        <p:txBody>
          <a:bodyPr wrap="square" lIns="0" tIns="0" rIns="0" bIns="0" rtlCol="0" anchor="ctr"/>
          <a:lstStyle/>
          <a:p>
            <a:pPr algn="ctr" indent="0" marL="0">
              <a:buNone/>
            </a:pPr>
            <a:r>
              <a:rPr lang="en-US" sz="1050" dirty="0">
                <a:solidFill>
                  <a:srgbClr val="8C8C8C"/>
                </a:solidFill>
                <a:latin typeface="Arial" pitchFamily="34" charset="0"/>
                <a:ea typeface="Arial" pitchFamily="34" charset="-122"/>
                <a:cs typeface="Arial" pitchFamily="34" charset="-120"/>
              </a:rPr>
              <a:t>and the whole ladder re-runs beneath it</a:t>
            </a:r>
            <a:endParaRPr lang="en-US" sz="1050" dirty="0"/>
          </a:p>
        </p:txBody>
      </p:sp>
      <p:sp>
        <p:nvSpPr>
          <p:cNvPr id="24" name="Text 21"/>
          <p:cNvSpPr/>
          <p:nvPr/>
        </p:nvSpPr>
        <p:spPr>
          <a:xfrm>
            <a:off x="8366760" y="4956048"/>
            <a:ext cx="2560320" cy="274320"/>
          </a:xfrm>
          <a:prstGeom prst="rect">
            <a:avLst/>
          </a:prstGeom>
          <a:noFill/>
          <a:ln/>
        </p:spPr>
        <p:txBody>
          <a:bodyPr wrap="square" lIns="0" tIns="0" rIns="0" bIns="0" rtlCol="0" anchor="ctr"/>
          <a:lstStyle/>
          <a:p>
            <a:pPr algn="ctr" indent="0" marL="0">
              <a:buNone/>
            </a:pPr>
            <a:r>
              <a:rPr lang="en-US" sz="1050" dirty="0">
                <a:solidFill>
                  <a:srgbClr val="8C8C8C"/>
                </a:solidFill>
                <a:latin typeface="Arial" pitchFamily="34" charset="0"/>
                <a:ea typeface="Arial" pitchFamily="34" charset="-122"/>
                <a:cs typeface="Arial" pitchFamily="34" charset="-120"/>
              </a:rPr>
              <a:t>one stratum up</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00" b="1" spc="220" kern="0" dirty="0">
                <a:solidFill>
                  <a:srgbClr val="00B0F0"/>
                </a:solidFill>
                <a:latin typeface="Arial" pitchFamily="34" charset="0"/>
                <a:ea typeface="Arial" pitchFamily="34" charset="-122"/>
                <a:cs typeface="Arial" pitchFamily="34" charset="-120"/>
              </a:rPr>
              <a:t>EMBODIMENT</a:t>
            </a:r>
            <a:endParaRPr lang="en-US" sz="1000" dirty="0"/>
          </a:p>
        </p:txBody>
      </p:sp>
      <p:sp>
        <p:nvSpPr>
          <p:cNvPr id="3" name="Text 1"/>
          <p:cNvSpPr/>
          <p:nvPr/>
        </p:nvSpPr>
        <p:spPr>
          <a:xfrm>
            <a:off x="566928" y="603504"/>
            <a:ext cx="11057839"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TRANSFORMERS AS TRANSDUCERS</a:t>
            </a:r>
            <a:endParaRPr lang="en-US" sz="3000" dirty="0"/>
          </a:p>
        </p:txBody>
      </p:sp>
      <p:sp>
        <p:nvSpPr>
          <p:cNvPr id="4" name="Text 2"/>
          <p:cNvSpPr/>
          <p:nvPr/>
        </p:nvSpPr>
        <p:spPr>
          <a:xfrm>
            <a:off x="566928" y="1225296"/>
            <a:ext cx="11057839" cy="475488"/>
          </a:xfrm>
          <a:prstGeom prst="rect">
            <a:avLst/>
          </a:prstGeom>
          <a:noFill/>
          <a:ln/>
        </p:spPr>
        <p:txBody>
          <a:bodyPr wrap="square" lIns="0" tIns="0" rIns="0" bIns="0" rtlCol="0" anchor="t"/>
          <a:lstStyle/>
          <a:p>
            <a:pPr indent="0" marL="0">
              <a:lnSpc>
                <a:spcPct val="110000"/>
              </a:lnSpc>
              <a:buNone/>
            </a:pPr>
            <a:r>
              <a:rPr lang="en-US" sz="1200" dirty="0">
                <a:solidFill>
                  <a:srgbClr val="BFBFBF"/>
                </a:solidFill>
                <a:latin typeface="Arial" pitchFamily="34" charset="0"/>
                <a:ea typeface="Arial" pitchFamily="34" charset="-122"/>
                <a:cs typeface="Arial" pitchFamily="34" charset="-120"/>
              </a:rPr>
              <a:t>Posit a perceptual front end encoding the world as a population of computations and stacks. We are not proposing an interface — we are asking what follows if one exists.</a:t>
            </a:r>
            <a:endParaRPr lang="en-US" sz="1200" dirty="0"/>
          </a:p>
        </p:txBody>
      </p:sp>
      <p:pic>
        <p:nvPicPr>
          <p:cNvPr id="5" name="Image 0" descr="preencoded.png">    </p:cNvPr>
          <p:cNvPicPr>
            <a:picLocks noChangeAspect="1"/>
          </p:cNvPicPr>
          <p:nvPr/>
        </p:nvPicPr>
        <p:blipFill>
          <a:blip r:embed="rId1"/>
          <a:stretch>
            <a:fillRect/>
          </a:stretch>
        </p:blipFill>
        <p:spPr>
          <a:xfrm>
            <a:off x="566928" y="6281928"/>
            <a:ext cx="791870" cy="182880"/>
          </a:xfrm>
          <a:prstGeom prst="rect">
            <a:avLst/>
          </a:prstGeom>
        </p:spPr>
      </p:pic>
      <p:sp>
        <p:nvSpPr>
          <p:cNvPr id="6" name="Text 3"/>
          <p:cNvSpPr/>
          <p:nvPr/>
        </p:nvSpPr>
        <p:spPr>
          <a:xfrm>
            <a:off x="1463040" y="6272784"/>
            <a:ext cx="5486400" cy="201168"/>
          </a:xfrm>
          <a:prstGeom prst="rect">
            <a:avLst/>
          </a:prstGeom>
          <a:noFill/>
          <a:ln/>
        </p:spPr>
        <p:txBody>
          <a:bodyPr wrap="square" lIns="0" tIns="0" rIns="0" bIns="0" rtlCol="0" anchor="ctr"/>
          <a:lstStyle/>
          <a:p>
            <a:pPr indent="0" marL="0">
              <a:buNone/>
            </a:pPr>
            <a:r>
              <a:rPr lang="en-US" sz="800" spc="140" kern="0" dirty="0">
                <a:solidFill>
                  <a:srgbClr val="595959"/>
                </a:solidFill>
                <a:latin typeface="Arial" pitchFamily="34" charset="0"/>
                <a:ea typeface="Arial" pitchFamily="34" charset="-122"/>
                <a:cs typeface="Arial" pitchFamily="34" charset="-120"/>
              </a:rPr>
              <a:t>EMBODIMENT</a:t>
            </a:r>
            <a:endParaRPr lang="en-US" sz="800" dirty="0"/>
          </a:p>
        </p:txBody>
      </p:sp>
      <p:sp>
        <p:nvSpPr>
          <p:cNvPr id="7" name="Text 4"/>
          <p:cNvSpPr/>
          <p:nvPr/>
        </p:nvSpPr>
        <p:spPr>
          <a:xfrm>
            <a:off x="6949440" y="6272784"/>
            <a:ext cx="4675327" cy="201168"/>
          </a:xfrm>
          <a:prstGeom prst="rect">
            <a:avLst/>
          </a:prstGeom>
          <a:noFill/>
          <a:ln/>
        </p:spPr>
        <p:txBody>
          <a:bodyPr wrap="square" lIns="0" tIns="0" rIns="0" bIns="0" rtlCol="0" anchor="ctr"/>
          <a:lstStyle/>
          <a:p>
            <a:pPr algn="r" indent="0" marL="0">
              <a:buNone/>
            </a:pPr>
            <a:r>
              <a:rPr lang="en-US" sz="800" spc="140" kern="0" dirty="0">
                <a:solidFill>
                  <a:srgbClr val="595959"/>
                </a:solidFill>
                <a:latin typeface="Arial" pitchFamily="34" charset="0"/>
                <a:ea typeface="Arial" pitchFamily="34" charset="-122"/>
                <a:cs typeface="Arial" pitchFamily="34" charset="-120"/>
              </a:rPr>
              <a:t>F1R3FLY.IO  ·  SUMMARY DECK  ·  2026</a:t>
            </a:r>
            <a:endParaRPr lang="en-US" sz="800" dirty="0"/>
          </a:p>
        </p:txBody>
      </p:sp>
      <p:sp>
        <p:nvSpPr>
          <p:cNvPr id="8" name="Shape 5"/>
          <p:cNvSpPr/>
          <p:nvPr/>
        </p:nvSpPr>
        <p:spPr>
          <a:xfrm>
            <a:off x="566928" y="2103120"/>
            <a:ext cx="2606040" cy="1600200"/>
          </a:xfrm>
          <a:prstGeom prst="rect">
            <a:avLst/>
          </a:prstGeom>
          <a:solidFill>
            <a:srgbClr val="0B0B0B"/>
          </a:solidFill>
          <a:ln w="9525">
            <a:solidFill>
              <a:srgbClr val="00729C"/>
            </a:solidFill>
            <a:prstDash val="solid"/>
          </a:ln>
        </p:spPr>
      </p:sp>
      <p:sp>
        <p:nvSpPr>
          <p:cNvPr id="9" name="Text 6"/>
          <p:cNvSpPr/>
          <p:nvPr/>
        </p:nvSpPr>
        <p:spPr>
          <a:xfrm>
            <a:off x="749808" y="2578608"/>
            <a:ext cx="224028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THE WORLD</a:t>
            </a:r>
            <a:endParaRPr lang="en-US" sz="1400" dirty="0"/>
          </a:p>
        </p:txBody>
      </p:sp>
      <p:sp>
        <p:nvSpPr>
          <p:cNvPr id="10" name="Text 7"/>
          <p:cNvSpPr/>
          <p:nvPr/>
        </p:nvSpPr>
        <p:spPr>
          <a:xfrm>
            <a:off x="749808" y="2944368"/>
            <a:ext cx="2240280" cy="274320"/>
          </a:xfrm>
          <a:prstGeom prst="rect">
            <a:avLst/>
          </a:prstGeom>
          <a:noFill/>
          <a:ln/>
        </p:spPr>
        <p:txBody>
          <a:bodyPr wrap="square" lIns="0" tIns="0" rIns="0" bIns="0" rtlCol="0" anchor="ctr"/>
          <a:lstStyle/>
          <a:p>
            <a:pPr algn="ctr" indent="0" marL="0">
              <a:buNone/>
            </a:pPr>
            <a:r>
              <a:rPr lang="en-US" sz="1050" i="1" dirty="0">
                <a:solidFill>
                  <a:srgbClr val="8C8C8C"/>
                </a:solidFill>
                <a:latin typeface="Arial" pitchFamily="34" charset="0"/>
                <a:ea typeface="Arial" pitchFamily="34" charset="-122"/>
                <a:cs typeface="Arial" pitchFamily="34" charset="-120"/>
              </a:rPr>
              <a:t>not presented as processes</a:t>
            </a:r>
            <a:endParaRPr lang="en-US" sz="1050" dirty="0"/>
          </a:p>
        </p:txBody>
      </p:sp>
      <p:sp>
        <p:nvSpPr>
          <p:cNvPr id="11" name="Shape 8"/>
          <p:cNvSpPr/>
          <p:nvPr/>
        </p:nvSpPr>
        <p:spPr>
          <a:xfrm>
            <a:off x="3282696" y="2903220"/>
            <a:ext cx="374904" cy="0"/>
          </a:xfrm>
          <a:prstGeom prst="line">
            <a:avLst/>
          </a:prstGeom>
          <a:noFill/>
          <a:ln w="19050">
            <a:solidFill>
              <a:srgbClr val="00B0F0"/>
            </a:solidFill>
            <a:prstDash val="solid"/>
            <a:tailEnd type="triangle"/>
          </a:ln>
        </p:spPr>
      </p:sp>
      <p:sp>
        <p:nvSpPr>
          <p:cNvPr id="12" name="Text 9"/>
          <p:cNvSpPr/>
          <p:nvPr/>
        </p:nvSpPr>
        <p:spPr>
          <a:xfrm>
            <a:off x="3191256" y="2519172"/>
            <a:ext cx="557784"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percept</a:t>
            </a:r>
            <a:endParaRPr lang="en-US" sz="900" dirty="0"/>
          </a:p>
        </p:txBody>
      </p:sp>
      <p:sp>
        <p:nvSpPr>
          <p:cNvPr id="13" name="Shape 10"/>
          <p:cNvSpPr/>
          <p:nvPr/>
        </p:nvSpPr>
        <p:spPr>
          <a:xfrm>
            <a:off x="3767328" y="2103120"/>
            <a:ext cx="3017520" cy="1600200"/>
          </a:xfrm>
          <a:prstGeom prst="rect">
            <a:avLst/>
          </a:prstGeom>
          <a:solidFill>
            <a:srgbClr val="0A1A22"/>
          </a:solidFill>
          <a:ln w="9525">
            <a:solidFill>
              <a:srgbClr val="00729C"/>
            </a:solidFill>
            <a:prstDash val="solid"/>
          </a:ln>
        </p:spPr>
      </p:sp>
      <p:sp>
        <p:nvSpPr>
          <p:cNvPr id="14" name="Text 11"/>
          <p:cNvSpPr/>
          <p:nvPr/>
        </p:nvSpPr>
        <p:spPr>
          <a:xfrm>
            <a:off x="3950208" y="2395728"/>
            <a:ext cx="2651760" cy="310896"/>
          </a:xfrm>
          <a:prstGeom prst="rect">
            <a:avLst/>
          </a:prstGeom>
          <a:noFill/>
          <a:ln/>
        </p:spPr>
        <p:txBody>
          <a:bodyPr wrap="square" lIns="0" tIns="0" rIns="0" bIns="0" rtlCol="0" anchor="ctr"/>
          <a:lstStyle/>
          <a:p>
            <a:pPr algn="ctr" indent="0" marL="0">
              <a:buNone/>
            </a:pPr>
            <a:r>
              <a:rPr lang="en-US" sz="1400" b="1" dirty="0">
                <a:solidFill>
                  <a:srgbClr val="00B0F0"/>
                </a:solidFill>
                <a:latin typeface="Arial" pitchFamily="34" charset="0"/>
                <a:ea typeface="Arial" pitchFamily="34" charset="-122"/>
                <a:cs typeface="Arial" pitchFamily="34" charset="-120"/>
              </a:rPr>
              <a:t>TRANSFORMER</a:t>
            </a:r>
            <a:endParaRPr lang="en-US" sz="1400" dirty="0"/>
          </a:p>
        </p:txBody>
      </p:sp>
      <p:sp>
        <p:nvSpPr>
          <p:cNvPr id="15" name="Text 12"/>
          <p:cNvSpPr/>
          <p:nvPr/>
        </p:nvSpPr>
        <p:spPr>
          <a:xfrm>
            <a:off x="3950208" y="2706624"/>
            <a:ext cx="2651760" cy="256032"/>
          </a:xfrm>
          <a:prstGeom prst="rect">
            <a:avLst/>
          </a:prstGeom>
          <a:noFill/>
          <a:ln/>
        </p:spPr>
        <p:txBody>
          <a:bodyPr wrap="square" lIns="0" tIns="0" rIns="0" bIns="0" rtlCol="0" anchor="ctr"/>
          <a:lstStyle/>
          <a:p>
            <a:pPr algn="ctr" indent="0" marL="0">
              <a:buNone/>
            </a:pPr>
            <a:r>
              <a:rPr lang="en-US" sz="1100" i="1" dirty="0">
                <a:solidFill>
                  <a:srgbClr val="F7E478"/>
                </a:solidFill>
                <a:latin typeface="Arial" pitchFamily="34" charset="0"/>
                <a:ea typeface="Arial" pitchFamily="34" charset="-122"/>
                <a:cs typeface="Arial" pitchFamily="34" charset="-120"/>
              </a:rPr>
              <a:t>the transducer</a:t>
            </a:r>
            <a:endParaRPr lang="en-US" sz="1100" dirty="0"/>
          </a:p>
        </p:txBody>
      </p:sp>
      <p:sp>
        <p:nvSpPr>
          <p:cNvPr id="16" name="Text 13"/>
          <p:cNvSpPr/>
          <p:nvPr/>
        </p:nvSpPr>
        <p:spPr>
          <a:xfrm>
            <a:off x="4005072" y="3017520"/>
            <a:ext cx="2542032" cy="594360"/>
          </a:xfrm>
          <a:prstGeom prst="rect">
            <a:avLst/>
          </a:prstGeom>
          <a:noFill/>
          <a:ln/>
        </p:spPr>
        <p:txBody>
          <a:bodyPr wrap="square" lIns="0" tIns="0" rIns="0" bIns="0" rtlCol="0" anchor="t"/>
          <a:lstStyle/>
          <a:p>
            <a:pPr algn="ctr" indent="0" marL="0">
              <a:lnSpc>
                <a:spcPct val="110000"/>
              </a:lnSpc>
              <a:buNone/>
            </a:pPr>
            <a:r>
              <a:rPr lang="en-US" sz="1000" dirty="0">
                <a:solidFill>
                  <a:srgbClr val="BFBFBF"/>
                </a:solidFill>
                <a:latin typeface="Arial" pitchFamily="34" charset="0"/>
                <a:ea typeface="Arial" pitchFamily="34" charset="-122"/>
                <a:cs typeface="Arial" pitchFamily="34" charset="-120"/>
              </a:rPr>
              <a:t>Not to learn — to render the environment as loci with surfaces, stacks, and addressable channels.</a:t>
            </a:r>
            <a:endParaRPr lang="en-US" sz="1000" dirty="0"/>
          </a:p>
        </p:txBody>
      </p:sp>
      <p:sp>
        <p:nvSpPr>
          <p:cNvPr id="17" name="Shape 14"/>
          <p:cNvSpPr/>
          <p:nvPr/>
        </p:nvSpPr>
        <p:spPr>
          <a:xfrm>
            <a:off x="6894576" y="2903220"/>
            <a:ext cx="374904" cy="0"/>
          </a:xfrm>
          <a:prstGeom prst="line">
            <a:avLst/>
          </a:prstGeom>
          <a:noFill/>
          <a:ln w="19050">
            <a:solidFill>
              <a:srgbClr val="00B0F0"/>
            </a:solidFill>
            <a:prstDash val="solid"/>
            <a:tailEnd type="triangle"/>
          </a:ln>
        </p:spPr>
      </p:sp>
      <p:sp>
        <p:nvSpPr>
          <p:cNvPr id="18" name="Text 15"/>
          <p:cNvSpPr/>
          <p:nvPr/>
        </p:nvSpPr>
        <p:spPr>
          <a:xfrm>
            <a:off x="6739128" y="2519172"/>
            <a:ext cx="68580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typed as processes</a:t>
            </a:r>
            <a:endParaRPr lang="en-US" sz="900" dirty="0"/>
          </a:p>
        </p:txBody>
      </p:sp>
      <p:sp>
        <p:nvSpPr>
          <p:cNvPr id="19" name="Shape 16"/>
          <p:cNvSpPr/>
          <p:nvPr/>
        </p:nvSpPr>
        <p:spPr>
          <a:xfrm>
            <a:off x="7379208" y="2103120"/>
            <a:ext cx="4245559" cy="1600200"/>
          </a:xfrm>
          <a:prstGeom prst="rect">
            <a:avLst/>
          </a:prstGeom>
          <a:solidFill>
            <a:srgbClr val="0B0B0B"/>
          </a:solidFill>
          <a:ln w="9525">
            <a:solidFill>
              <a:srgbClr val="00729C"/>
            </a:solidFill>
            <a:prstDash val="solid"/>
          </a:ln>
        </p:spPr>
      </p:sp>
      <p:sp>
        <p:nvSpPr>
          <p:cNvPr id="20" name="Text 17"/>
          <p:cNvSpPr/>
          <p:nvPr/>
        </p:nvSpPr>
        <p:spPr>
          <a:xfrm>
            <a:off x="7562088" y="2249424"/>
            <a:ext cx="3879799"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THE ECOLOGY</a:t>
            </a:r>
            <a:endParaRPr lang="en-US" sz="1300" dirty="0"/>
          </a:p>
        </p:txBody>
      </p:sp>
      <p:sp>
        <p:nvSpPr>
          <p:cNvPr id="21" name="Shape 18"/>
          <p:cNvSpPr/>
          <p:nvPr/>
        </p:nvSpPr>
        <p:spPr>
          <a:xfrm>
            <a:off x="7653528" y="2606040"/>
            <a:ext cx="512064" cy="512064"/>
          </a:xfrm>
          <a:prstGeom prst="ellipse">
            <a:avLst/>
          </a:prstGeom>
          <a:solidFill>
            <a:srgbClr val="0A1A22"/>
          </a:solidFill>
          <a:ln w="12700">
            <a:solidFill>
              <a:srgbClr val="00B0F0"/>
            </a:solidFill>
            <a:prstDash val="solid"/>
          </a:ln>
        </p:spPr>
      </p:sp>
      <p:sp>
        <p:nvSpPr>
          <p:cNvPr id="22" name="Text 19"/>
          <p:cNvSpPr/>
          <p:nvPr/>
        </p:nvSpPr>
        <p:spPr>
          <a:xfrm>
            <a:off x="7653528" y="2606040"/>
            <a:ext cx="512064" cy="512064"/>
          </a:xfrm>
          <a:prstGeom prst="rect">
            <a:avLst/>
          </a:prstGeom>
          <a:noFill/>
          <a:ln/>
        </p:spPr>
        <p:txBody>
          <a:bodyPr wrap="square" lIns="0" tIns="0" rIns="0" bIns="0" rtlCol="0" anchor="ctr"/>
          <a:lstStyle/>
          <a:p>
            <a:pPr algn="ctr" indent="0" marL="0">
              <a:buNone/>
            </a:pPr>
            <a:r>
              <a:rPr lang="en-US" sz="1200" b="1" dirty="0">
                <a:solidFill>
                  <a:srgbClr val="00B0F0"/>
                </a:solidFill>
                <a:latin typeface="Arial" pitchFamily="34" charset="0"/>
                <a:ea typeface="Arial" pitchFamily="34" charset="-122"/>
                <a:cs typeface="Arial" pitchFamily="34" charset="-120"/>
              </a:rPr>
              <a:t>S</a:t>
            </a:r>
            <a:endParaRPr lang="en-US" sz="1200" dirty="0"/>
          </a:p>
        </p:txBody>
      </p:sp>
      <p:sp>
        <p:nvSpPr>
          <p:cNvPr id="23" name="Shape 20"/>
          <p:cNvSpPr/>
          <p:nvPr/>
        </p:nvSpPr>
        <p:spPr>
          <a:xfrm>
            <a:off x="8366760" y="2606040"/>
            <a:ext cx="512064" cy="512064"/>
          </a:xfrm>
          <a:prstGeom prst="ellipse">
            <a:avLst/>
          </a:prstGeom>
          <a:solidFill>
            <a:srgbClr val="0A1A22"/>
          </a:solidFill>
          <a:ln w="12700">
            <a:solidFill>
              <a:srgbClr val="00B0F0"/>
            </a:solidFill>
            <a:prstDash val="solid"/>
          </a:ln>
        </p:spPr>
      </p:sp>
      <p:sp>
        <p:nvSpPr>
          <p:cNvPr id="24" name="Text 21"/>
          <p:cNvSpPr/>
          <p:nvPr/>
        </p:nvSpPr>
        <p:spPr>
          <a:xfrm>
            <a:off x="8366760" y="2606040"/>
            <a:ext cx="512064" cy="512064"/>
          </a:xfrm>
          <a:prstGeom prst="rect">
            <a:avLst/>
          </a:prstGeom>
          <a:noFill/>
          <a:ln/>
        </p:spPr>
        <p:txBody>
          <a:bodyPr wrap="square" lIns="0" tIns="0" rIns="0" bIns="0" rtlCol="0" anchor="ctr"/>
          <a:lstStyle/>
          <a:p>
            <a:pPr algn="ctr" indent="0" marL="0">
              <a:buNone/>
            </a:pPr>
            <a:r>
              <a:rPr lang="en-US" sz="1200" b="1" dirty="0">
                <a:solidFill>
                  <a:srgbClr val="00B0F0"/>
                </a:solidFill>
                <a:latin typeface="Arial" pitchFamily="34" charset="0"/>
                <a:ea typeface="Arial" pitchFamily="34" charset="-122"/>
                <a:cs typeface="Arial" pitchFamily="34" charset="-120"/>
              </a:rPr>
              <a:t>S</a:t>
            </a:r>
            <a:endParaRPr lang="en-US" sz="1200" dirty="0"/>
          </a:p>
        </p:txBody>
      </p:sp>
      <p:sp>
        <p:nvSpPr>
          <p:cNvPr id="25" name="Shape 22"/>
          <p:cNvSpPr/>
          <p:nvPr/>
        </p:nvSpPr>
        <p:spPr>
          <a:xfrm>
            <a:off x="9079992" y="2606040"/>
            <a:ext cx="512064" cy="512064"/>
          </a:xfrm>
          <a:prstGeom prst="ellipse">
            <a:avLst/>
          </a:prstGeom>
          <a:solidFill>
            <a:srgbClr val="0A1A22"/>
          </a:solidFill>
          <a:ln w="12700">
            <a:solidFill>
              <a:srgbClr val="00B0F0"/>
            </a:solidFill>
            <a:prstDash val="solid"/>
          </a:ln>
        </p:spPr>
      </p:sp>
      <p:sp>
        <p:nvSpPr>
          <p:cNvPr id="26" name="Text 23"/>
          <p:cNvSpPr/>
          <p:nvPr/>
        </p:nvSpPr>
        <p:spPr>
          <a:xfrm>
            <a:off x="9079992" y="2606040"/>
            <a:ext cx="512064" cy="512064"/>
          </a:xfrm>
          <a:prstGeom prst="rect">
            <a:avLst/>
          </a:prstGeom>
          <a:noFill/>
          <a:ln/>
        </p:spPr>
        <p:txBody>
          <a:bodyPr wrap="square" lIns="0" tIns="0" rIns="0" bIns="0" rtlCol="0" anchor="ctr"/>
          <a:lstStyle/>
          <a:p>
            <a:pPr algn="ctr" indent="0" marL="0">
              <a:buNone/>
            </a:pPr>
            <a:r>
              <a:rPr lang="en-US" sz="1200" b="1" dirty="0">
                <a:solidFill>
                  <a:srgbClr val="00B0F0"/>
                </a:solidFill>
                <a:latin typeface="Arial" pitchFamily="34" charset="0"/>
                <a:ea typeface="Arial" pitchFamily="34" charset="-122"/>
                <a:cs typeface="Arial" pitchFamily="34" charset="-120"/>
              </a:rPr>
              <a:t>S</a:t>
            </a:r>
            <a:endParaRPr lang="en-US" sz="1200" dirty="0"/>
          </a:p>
        </p:txBody>
      </p:sp>
      <p:sp>
        <p:nvSpPr>
          <p:cNvPr id="27" name="Shape 24"/>
          <p:cNvSpPr/>
          <p:nvPr/>
        </p:nvSpPr>
        <p:spPr>
          <a:xfrm>
            <a:off x="7763256" y="3236976"/>
            <a:ext cx="457200" cy="310896"/>
          </a:xfrm>
          <a:prstGeom prst="rect">
            <a:avLst/>
          </a:prstGeom>
          <a:solidFill>
            <a:srgbClr val="241D06"/>
          </a:solidFill>
          <a:ln w="12700">
            <a:solidFill>
              <a:srgbClr val="F7E478"/>
            </a:solidFill>
            <a:prstDash val="solid"/>
          </a:ln>
        </p:spPr>
      </p:sp>
      <p:sp>
        <p:nvSpPr>
          <p:cNvPr id="28" name="Text 25"/>
          <p:cNvSpPr/>
          <p:nvPr/>
        </p:nvSpPr>
        <p:spPr>
          <a:xfrm>
            <a:off x="7763256" y="3236976"/>
            <a:ext cx="457200" cy="310896"/>
          </a:xfrm>
          <a:prstGeom prst="rect">
            <a:avLst/>
          </a:prstGeom>
          <a:noFill/>
          <a:ln/>
        </p:spPr>
        <p:txBody>
          <a:bodyPr wrap="square" lIns="0" tIns="0" rIns="0" bIns="0" rtlCol="0" anchor="ctr"/>
          <a:lstStyle/>
          <a:p>
            <a:pPr algn="ctr" indent="0" marL="0">
              <a:buNone/>
            </a:pPr>
            <a:r>
              <a:rPr lang="en-US" sz="1100" b="1" dirty="0">
                <a:solidFill>
                  <a:srgbClr val="F7E478"/>
                </a:solidFill>
                <a:latin typeface="Arial" pitchFamily="34" charset="0"/>
                <a:ea typeface="Arial" pitchFamily="34" charset="-122"/>
                <a:cs typeface="Arial" pitchFamily="34" charset="-120"/>
              </a:rPr>
              <a:t>Θ</a:t>
            </a:r>
            <a:endParaRPr lang="en-US" sz="1100" dirty="0"/>
          </a:p>
        </p:txBody>
      </p:sp>
      <p:sp>
        <p:nvSpPr>
          <p:cNvPr id="29" name="Shape 26"/>
          <p:cNvSpPr/>
          <p:nvPr/>
        </p:nvSpPr>
        <p:spPr>
          <a:xfrm>
            <a:off x="8586216" y="3236976"/>
            <a:ext cx="457200" cy="310896"/>
          </a:xfrm>
          <a:prstGeom prst="rect">
            <a:avLst/>
          </a:prstGeom>
          <a:solidFill>
            <a:srgbClr val="241D06"/>
          </a:solidFill>
          <a:ln w="12700">
            <a:solidFill>
              <a:srgbClr val="F7E478"/>
            </a:solidFill>
            <a:prstDash val="solid"/>
          </a:ln>
        </p:spPr>
      </p:sp>
      <p:sp>
        <p:nvSpPr>
          <p:cNvPr id="30" name="Text 27"/>
          <p:cNvSpPr/>
          <p:nvPr/>
        </p:nvSpPr>
        <p:spPr>
          <a:xfrm>
            <a:off x="8586216" y="3236976"/>
            <a:ext cx="457200" cy="310896"/>
          </a:xfrm>
          <a:prstGeom prst="rect">
            <a:avLst/>
          </a:prstGeom>
          <a:noFill/>
          <a:ln/>
        </p:spPr>
        <p:txBody>
          <a:bodyPr wrap="square" lIns="0" tIns="0" rIns="0" bIns="0" rtlCol="0" anchor="ctr"/>
          <a:lstStyle/>
          <a:p>
            <a:pPr algn="ctr" indent="0" marL="0">
              <a:buNone/>
            </a:pPr>
            <a:r>
              <a:rPr lang="en-US" sz="1100" b="1" dirty="0">
                <a:solidFill>
                  <a:srgbClr val="F7E478"/>
                </a:solidFill>
                <a:latin typeface="Arial" pitchFamily="34" charset="0"/>
                <a:ea typeface="Arial" pitchFamily="34" charset="-122"/>
                <a:cs typeface="Arial" pitchFamily="34" charset="-120"/>
              </a:rPr>
              <a:t>Θ</a:t>
            </a:r>
            <a:endParaRPr lang="en-US" sz="1100" dirty="0"/>
          </a:p>
        </p:txBody>
      </p:sp>
      <p:sp>
        <p:nvSpPr>
          <p:cNvPr id="31" name="Text 28"/>
          <p:cNvSpPr/>
          <p:nvPr/>
        </p:nvSpPr>
        <p:spPr>
          <a:xfrm>
            <a:off x="9893808" y="2651760"/>
            <a:ext cx="1548079" cy="1005840"/>
          </a:xfrm>
          <a:prstGeom prst="rect">
            <a:avLst/>
          </a:prstGeom>
          <a:noFill/>
          <a:ln/>
        </p:spPr>
        <p:txBody>
          <a:bodyPr wrap="square" lIns="0" tIns="0" rIns="0" bIns="0" rtlCol="0" anchor="t"/>
          <a:lstStyle/>
          <a:p>
            <a:pPr indent="0" marL="0">
              <a:lnSpc>
                <a:spcPct val="100000"/>
              </a:lnSpc>
              <a:buNone/>
            </a:pPr>
            <a:r>
              <a:rPr lang="en-US" sz="1000" dirty="0">
                <a:solidFill>
                  <a:srgbClr val="8C8C8C"/>
                </a:solidFill>
                <a:latin typeface="Arial" pitchFamily="34" charset="0"/>
                <a:ea typeface="Arial" pitchFamily="34" charset="-122"/>
                <a:cs typeface="Arial" pitchFamily="34" charset="-120"/>
              </a:rPr>
              <a:t>scientists</a:t>
            </a:r>
            <a:endParaRPr lang="en-US" sz="1000" dirty="0"/>
          </a:p>
          <a:p>
            <a:pPr indent="0" marL="0">
              <a:lnSpc>
                <a:spcPct val="100000"/>
              </a:lnSpc>
              <a:buNone/>
            </a:pPr>
            <a:endParaRPr lang="en-US" sz="1000" dirty="0"/>
          </a:p>
          <a:p>
            <a:pPr indent="0" marL="0">
              <a:lnSpc>
                <a:spcPct val="100000"/>
              </a:lnSpc>
              <a:buNone/>
            </a:pPr>
            <a:r>
              <a:rPr lang="en-US" sz="1000" dirty="0">
                <a:solidFill>
                  <a:srgbClr val="8C8C8C"/>
                </a:solidFill>
                <a:latin typeface="Arial" pitchFamily="34" charset="0"/>
                <a:ea typeface="Arial" pitchFamily="34" charset="-122"/>
                <a:cs typeface="Arial" pitchFamily="34" charset="-120"/>
              </a:rPr>
              <a:t>token stacks</a:t>
            </a:r>
            <a:endParaRPr lang="en-US" sz="1000" dirty="0"/>
          </a:p>
        </p:txBody>
      </p:sp>
      <p:sp>
        <p:nvSpPr>
          <p:cNvPr id="32" name="Shape 29"/>
          <p:cNvSpPr/>
          <p:nvPr/>
        </p:nvSpPr>
        <p:spPr>
          <a:xfrm>
            <a:off x="1664208" y="4032504"/>
            <a:ext cx="9052560" cy="0"/>
          </a:xfrm>
          <a:prstGeom prst="line">
            <a:avLst/>
          </a:prstGeom>
          <a:noFill/>
          <a:ln w="15875">
            <a:solidFill>
              <a:srgbClr val="00729C"/>
            </a:solidFill>
            <a:prstDash val="dash"/>
            <a:headEnd type="triangle"/>
          </a:ln>
        </p:spPr>
      </p:sp>
      <p:sp>
        <p:nvSpPr>
          <p:cNvPr id="33" name="Text 30"/>
          <p:cNvSpPr/>
          <p:nvPr/>
        </p:nvSpPr>
        <p:spPr>
          <a:xfrm>
            <a:off x="1664208" y="4105656"/>
            <a:ext cx="4572000" cy="256032"/>
          </a:xfrm>
          <a:prstGeom prst="rect">
            <a:avLst/>
          </a:prstGeom>
          <a:noFill/>
          <a:ln/>
        </p:spPr>
        <p:txBody>
          <a:bodyPr wrap="square" lIns="0" tIns="0" rIns="0" bIns="0" rtlCol="0" anchor="t"/>
          <a:lstStyle/>
          <a:p>
            <a:pPr indent="0" marL="0">
              <a:buNone/>
            </a:pPr>
            <a:r>
              <a:rPr lang="en-US" sz="1000" i="1" dirty="0">
                <a:solidFill>
                  <a:srgbClr val="8C8C8C"/>
                </a:solidFill>
                <a:latin typeface="Arial" pitchFamily="34" charset="0"/>
                <a:ea typeface="Arial" pitchFamily="34" charset="-122"/>
                <a:cs typeface="Arial" pitchFamily="34" charset="-120"/>
              </a:rPr>
              <a:t>action — every observation is an intervention</a:t>
            </a:r>
            <a:endParaRPr lang="en-US" sz="1000" dirty="0"/>
          </a:p>
        </p:txBody>
      </p:sp>
      <p:sp>
        <p:nvSpPr>
          <p:cNvPr id="34" name="Shape 31"/>
          <p:cNvSpPr/>
          <p:nvPr/>
        </p:nvSpPr>
        <p:spPr>
          <a:xfrm>
            <a:off x="566928" y="4389120"/>
            <a:ext cx="11057839" cy="841248"/>
          </a:xfrm>
          <a:prstGeom prst="rect">
            <a:avLst/>
          </a:prstGeom>
          <a:solidFill>
            <a:srgbClr val="0B0B0B"/>
          </a:solidFill>
          <a:ln w="9525">
            <a:solidFill>
              <a:srgbClr val="00729C"/>
            </a:solidFill>
            <a:prstDash val="solid"/>
          </a:ln>
        </p:spPr>
      </p:sp>
      <p:sp>
        <p:nvSpPr>
          <p:cNvPr id="35" name="Text 32"/>
          <p:cNvSpPr/>
          <p:nvPr/>
        </p:nvSpPr>
        <p:spPr>
          <a:xfrm>
            <a:off x="822960" y="4498848"/>
            <a:ext cx="10545775" cy="256032"/>
          </a:xfrm>
          <a:prstGeom prst="rect">
            <a:avLst/>
          </a:prstGeom>
          <a:noFill/>
          <a:ln/>
        </p:spPr>
        <p:txBody>
          <a:bodyPr wrap="square" lIns="0" tIns="0" rIns="0" bIns="0" rtlCol="0" anchor="t"/>
          <a:lstStyle/>
          <a:p>
            <a:pPr indent="0" marL="0">
              <a:buNone/>
            </a:pPr>
            <a:r>
              <a:rPr lang="en-US" sz="1150" b="1" spc="80" kern="0" dirty="0">
                <a:solidFill>
                  <a:srgbClr val="F7E478"/>
                </a:solidFill>
                <a:latin typeface="Arial" pitchFamily="34" charset="0"/>
                <a:ea typeface="Arial" pitchFamily="34" charset="-122"/>
                <a:cs typeface="Arial" pitchFamily="34" charset="-120"/>
              </a:rPr>
              <a:t>THE NETWORK IS THE TRANSDUCER.  THE ECOLOGY IS THE EPISTEMOLOGY.</a:t>
            </a:r>
            <a:endParaRPr lang="en-US" sz="1150" dirty="0"/>
          </a:p>
        </p:txBody>
      </p:sp>
      <p:sp>
        <p:nvSpPr>
          <p:cNvPr id="36" name="Text 33"/>
          <p:cNvSpPr/>
          <p:nvPr/>
        </p:nvSpPr>
        <p:spPr>
          <a:xfrm>
            <a:off x="822960" y="4773168"/>
            <a:ext cx="10545775" cy="402336"/>
          </a:xfrm>
          <a:prstGeom prst="rect">
            <a:avLst/>
          </a:prstGeom>
          <a:noFill/>
          <a:ln/>
        </p:spPr>
        <p:txBody>
          <a:bodyPr wrap="square" lIns="0" tIns="0" rIns="0" bIns="0" rtlCol="0" anchor="t"/>
          <a:lstStyle/>
          <a:p>
            <a:pPr indent="0" marL="0">
              <a:lnSpc>
                <a:spcPct val="112000"/>
              </a:lnSpc>
              <a:buNone/>
            </a:pPr>
            <a:r>
              <a:rPr lang="en-US" sz="1050" dirty="0">
                <a:solidFill>
                  <a:srgbClr val="BFBFBF"/>
                </a:solidFill>
                <a:latin typeface="Arial" pitchFamily="34" charset="0"/>
                <a:ea typeface="Arial" pitchFamily="34" charset="-122"/>
                <a:cs typeface="Arial" pitchFamily="34" charset="-120"/>
              </a:rPr>
              <a:t>Revision is local to a locus, so new learning has no mechanism by which to overwrite old. Exploration and exploitation are a budget, not a hyperparameter. And a population is required rather than preferred — a single learner is provably confined.</a:t>
            </a:r>
            <a:endParaRPr lang="en-US" sz="1050" dirty="0"/>
          </a:p>
        </p:txBody>
      </p:sp>
      <p:sp>
        <p:nvSpPr>
          <p:cNvPr id="37" name="Text 34"/>
          <p:cNvSpPr/>
          <p:nvPr/>
        </p:nvSpPr>
        <p:spPr>
          <a:xfrm>
            <a:off x="566928" y="5358384"/>
            <a:ext cx="11057839" cy="566928"/>
          </a:xfrm>
          <a:prstGeom prst="rect">
            <a:avLst/>
          </a:prstGeom>
          <a:noFill/>
          <a:ln/>
        </p:spPr>
        <p:txBody>
          <a:bodyPr wrap="square" lIns="0" tIns="0" rIns="0" bIns="0" rtlCol="0" anchor="t"/>
          <a:lstStyle/>
          <a:p>
            <a:pPr indent="0" marL="0">
              <a:lnSpc>
                <a:spcPct val="110000"/>
              </a:lnSpc>
              <a:buNone/>
            </a:pPr>
            <a:r>
              <a:rPr lang="en-US" sz="1100" i="1" dirty="0">
                <a:solidFill>
                  <a:srgbClr val="F7E478"/>
                </a:solidFill>
                <a:latin typeface="Arial" pitchFamily="34" charset="0"/>
                <a:ea typeface="Arial" pitchFamily="34" charset="-122"/>
                <a:cs typeface="Arial" pitchFamily="34" charset="-120"/>
              </a:rPr>
              <a:t>Wigner's question assumes a gap: mathematics a free creation, the world a brute given. There is no such separation here — the hypothesis language is generated by the same relation that fixes what can be observed at all. Mathematics is effective on exactly the domain interaction reaches, because it is the shadow the access relation casts.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Ecology as Cognitive Architecture</dc:title>
  <dc:subject>PptxGenJS Presentation</dc:subject>
  <dc:creator>L. G. Meredith</dc:creator>
  <cp:lastModifiedBy>L. G. Meredith</cp:lastModifiedBy>
  <cp:revision>1</cp:revision>
  <dcterms:created xsi:type="dcterms:W3CDTF">2026-08-03T04:09:41Z</dcterms:created>
  <dcterms:modified xsi:type="dcterms:W3CDTF">2026-08-03T04:09:41Z</dcterms:modified>
</cp:coreProperties>
</file>